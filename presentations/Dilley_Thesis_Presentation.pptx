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6" r:id="rId2"/>
    <p:sldId id="295" r:id="rId3"/>
    <p:sldId id="296" r:id="rId4"/>
    <p:sldId id="297" r:id="rId5"/>
    <p:sldId id="300" r:id="rId6"/>
    <p:sldId id="312" r:id="rId7"/>
    <p:sldId id="302" r:id="rId8"/>
    <p:sldId id="301" r:id="rId9"/>
    <p:sldId id="303" r:id="rId10"/>
    <p:sldId id="304" r:id="rId11"/>
    <p:sldId id="305" r:id="rId12"/>
    <p:sldId id="306" r:id="rId13"/>
    <p:sldId id="307" r:id="rId14"/>
    <p:sldId id="309" r:id="rId15"/>
    <p:sldId id="308" r:id="rId16"/>
    <p:sldId id="310" r:id="rId17"/>
    <p:sldId id="311" r:id="rId18"/>
    <p:sldId id="315" r:id="rId19"/>
    <p:sldId id="283" r:id="rId20"/>
    <p:sldId id="299" r:id="rId21"/>
    <p:sldId id="277" r:id="rId22"/>
    <p:sldId id="29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4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8B8B"/>
    <a:srgbClr val="4D488A"/>
    <a:srgbClr val="777777"/>
    <a:srgbClr val="646464"/>
    <a:srgbClr val="939393"/>
    <a:srgbClr val="4A90C4"/>
    <a:srgbClr val="3B1F6B"/>
    <a:srgbClr val="4A8C3F"/>
    <a:srgbClr val="686868"/>
    <a:srgbClr val="6A6A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96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612" y="64"/>
      </p:cViewPr>
      <p:guideLst>
        <p:guide orient="horz" pos="2160"/>
        <p:guide pos="24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E1A27E-DAB1-48AC-ABED-4FB94FCE20D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A2465-B767-4E95-97D2-9B3F6AAE4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33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A2465-B767-4E95-97D2-9B3F6AAE4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070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A2465-B767-4E95-97D2-9B3F6AAE4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6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 the connection more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A2465-B767-4E95-97D2-9B3F6AAE4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393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Single figure of cave map </a:t>
            </a:r>
            <a:r>
              <a:rPr lang="en-US" dirty="0" err="1"/>
              <a:t>labeld</a:t>
            </a:r>
            <a:r>
              <a:rPr lang="en-US" dirty="0"/>
              <a:t> with entrance, mark meter marks, define distance and depth with arrows. Quickly define consistent drip water and surface stuff.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 For this one pivot to source tracking showing paths on maps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A2465-B767-4E95-97D2-9B3F6AAE4B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78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Single figure of cave map </a:t>
            </a:r>
            <a:r>
              <a:rPr lang="en-US" dirty="0" err="1"/>
              <a:t>labeld</a:t>
            </a:r>
            <a:r>
              <a:rPr lang="en-US" dirty="0"/>
              <a:t> with entrance, mark meter marks, define distance and depth with arrows. Quickly define consistent drip water and surface stuff.  </a:t>
            </a:r>
          </a:p>
          <a:p>
            <a:r>
              <a:rPr lang="en-US" dirty="0"/>
              <a:t>- For this one include pictures of sites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A2465-B767-4E95-97D2-9B3F6AAE4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354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4FF4F-42EC-4EAE-A10F-B5AA93B31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46B68-57BD-F560-B430-6CA14112E4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CDE9B-67B2-9FB6-83F0-D41F18EE3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030E-76DA-4E0F-8396-42ED713E560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0FEBA-64EF-E620-6663-EA51E365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F8BA9-54C7-77D6-0EBA-978E62944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E5EB-6443-471A-BF61-834A443BE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642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60663-CC31-3695-13DB-03F679F02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FEA57-3FA4-0ABD-C7C2-EF0BAC51A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E22EE-767D-F596-C02D-050B1A67E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030E-76DA-4E0F-8396-42ED713E560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915F1-EE66-3E7A-C5E4-4160097F4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125A4-226C-31F1-7DA0-28A20531E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E5EB-6443-471A-BF61-834A443BE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38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4CCAD-C17F-87B7-522D-EC5C4E760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DDE34B-4EB6-AF6C-FEEB-BD6CE34E2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086FC-0987-FC6F-934E-C42B3E1CB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030E-76DA-4E0F-8396-42ED713E560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510B2-8AF1-75A7-3243-AB13E3A8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87B82-8404-C37F-0C3C-8C6C47E0E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E5EB-6443-471A-BF61-834A443BE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443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AF71D-A96C-1C6E-AC2C-2BD3419C8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6AC5F-41DC-E1F5-FBA2-0099F6619A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959AC1-8232-DE39-4B58-9D63D08A50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E27AF-637E-BA14-B1EA-4B1783559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030E-76DA-4E0F-8396-42ED713E560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79C9E-7D79-9212-6BFC-3D57B344F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E7D48-931C-96F4-0077-88068CB0B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E5EB-6443-471A-BF61-834A443BE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847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C685E-8CDE-14B5-B1E0-0B8C38A03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500AB-8781-7550-B27A-B8B53E6D9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5D3F8-7D09-75E9-58E9-C5103E88C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3490CD-DFC0-181B-3EC9-2CBE111D2B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C30A02-5B6F-B5A6-EDAA-F2D485005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A71ADB-3AEA-C420-FB90-24723BF94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030E-76DA-4E0F-8396-42ED713E560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9DA459-F4FB-1F04-37A2-9005DC864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6DA5B0-61E6-4878-F658-803019E31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E5EB-6443-471A-BF61-834A443BE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446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9E056-4166-74A1-98BD-B19CD0347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78F420-0BEE-59D1-5711-1392C2747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030E-76DA-4E0F-8396-42ED713E560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7358E-AD2A-FBCF-34BF-69DE15F2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A2428-689C-6F2C-5302-241352683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E5EB-6443-471A-BF61-834A443BE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886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05D9E4-127B-995E-002B-C53222225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030E-76DA-4E0F-8396-42ED713E560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32E343-C9B1-1B19-B15A-02198B724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D311D-EE6D-6E4D-7E35-42F69948D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E5EB-6443-471A-BF61-834A443BE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924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DD9C6-A4CD-DB32-7644-808FA4C64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72BD6-6604-E091-B5C1-1BE1B002D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D649B-76E9-B289-5358-A953583B3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8E060-47A0-1420-23FC-2D88887E3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030E-76DA-4E0F-8396-42ED713E560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5A9C5-BD8D-F43B-25C5-F84BFA0F4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3F775-2E77-14F9-2D78-446747632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E5EB-6443-471A-BF61-834A443BE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62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24F10-65E6-C5C0-37CC-53862870A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CE715B-FBFE-3550-A0E4-DC78D786AB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9D051E-5F74-0713-D44B-341D5739E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F3A35-0DF3-F482-F542-64BD170EF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030E-76DA-4E0F-8396-42ED713E560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888A3-D3ED-FCA2-69B7-C69D8403A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90088-93E5-9FA9-1222-57ABFF5D5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E5EB-6443-471A-BF61-834A443BE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43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A78EA-AEAA-ED1D-CF32-1900B7984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30DC5-2909-54D6-F43E-5274D5A36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D1147-EA10-F8EC-91E4-D83C289C1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030E-76DA-4E0F-8396-42ED713E560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AF237-831D-DD5A-1710-51636FBCB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16667-045A-4E76-1768-0B8E36BD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E5EB-6443-471A-BF61-834A443BE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38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BA3FA7-504E-51ED-D178-3C14C03528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49EAA4-7B77-780A-E47C-8FF33233F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8B3DE-2777-5163-9A12-85E93AF1F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030E-76DA-4E0F-8396-42ED713E560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6E97A-BC44-DE99-9FEE-8106112E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A853A-66D6-18E3-14B7-D1629E8E6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E5EB-6443-471A-BF61-834A443BE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67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FD33C8-8516-C0F5-9831-7FD48DB67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12F6B-0F66-CBC5-E8CB-88546AEBC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C4DD0-19DB-1C41-2393-AD3427626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1A030E-76DA-4E0F-8396-42ED713E560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59AAE-0D9E-CC10-6691-5A17A48E5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7EECD-67DC-6E1D-4185-5A8B80AD2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B4E5EB-6443-471A-BF61-834A443BE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88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8A3BDA3-968E-0745-8539-2FB26E27A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126"/>
          <a:stretch>
            <a:fillRect/>
          </a:stretch>
        </p:blipFill>
        <p:spPr>
          <a:xfrm rot="5400000">
            <a:off x="2666856" y="-2667146"/>
            <a:ext cx="6858290" cy="1219200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CDB0584-5813-3982-191D-FCB549BEB4A2}"/>
              </a:ext>
            </a:extLst>
          </p:cNvPr>
          <p:cNvSpPr/>
          <p:nvPr/>
        </p:nvSpPr>
        <p:spPr>
          <a:xfrm>
            <a:off x="3179728" y="4765047"/>
            <a:ext cx="5832544" cy="6105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BFDD96-B7C0-5BF0-6720-59CF1AACD019}"/>
              </a:ext>
            </a:extLst>
          </p:cNvPr>
          <p:cNvSpPr/>
          <p:nvPr/>
        </p:nvSpPr>
        <p:spPr>
          <a:xfrm>
            <a:off x="1196196" y="1366274"/>
            <a:ext cx="9799608" cy="257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F65267-ADDA-213A-0FF9-708C963886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998" y="1462123"/>
            <a:ext cx="9315610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Cave Microbial Ecology: A Study of Moonshiner Cave, Kentucky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5E9456-0FB1-B511-9AFF-C90C38A16E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58604"/>
            <a:ext cx="9144000" cy="1655762"/>
          </a:xfrm>
        </p:spPr>
        <p:txBody>
          <a:bodyPr/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Undergraduate Thesis - Diego Dilley </a:t>
            </a:r>
          </a:p>
        </p:txBody>
      </p:sp>
    </p:spTree>
    <p:extLst>
      <p:ext uri="{BB962C8B-B14F-4D97-AF65-F5344CB8AC3E}">
        <p14:creationId xmlns:p14="http://schemas.microsoft.com/office/powerpoint/2010/main" val="3476985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D8104E-1E11-DBB6-5EF4-6D8B406B2463}"/>
              </a:ext>
            </a:extLst>
          </p:cNvPr>
          <p:cNvSpPr/>
          <p:nvPr/>
        </p:nvSpPr>
        <p:spPr>
          <a:xfrm>
            <a:off x="0" y="0"/>
            <a:ext cx="12192000" cy="13495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107A96-8023-0C56-DFB1-5F0BF851E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36"/>
            <a:ext cx="10515600" cy="1320537"/>
          </a:xfrm>
        </p:spPr>
        <p:txBody>
          <a:bodyPr/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Caves and Karst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46947-9467-4EF8-6604-7FB3B8F83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68087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Widely distributed landscapes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Defined by high bedrock porosity 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Hydrologically interconnected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Karst leads to cave formation</a:t>
            </a:r>
          </a:p>
          <a:p>
            <a:endParaRPr lang="en-US" dirty="0"/>
          </a:p>
        </p:txBody>
      </p:sp>
      <p:pic>
        <p:nvPicPr>
          <p:cNvPr id="6" name="Picture 2" descr="Karst and Sinkholes – WGNHS – UW–Madison">
            <a:extLst>
              <a:ext uri="{FF2B5EF4-FFF2-40B4-BE49-F238E27FC236}">
                <a16:creationId xmlns:a16="http://schemas.microsoft.com/office/drawing/2014/main" id="{EFA47448-DA98-84BB-0412-DD3E57BC2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039" y="3282514"/>
            <a:ext cx="6296802" cy="335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6237320E-D188-EBE5-E46F-17A878859D2F}"/>
              </a:ext>
            </a:extLst>
          </p:cNvPr>
          <p:cNvSpPr/>
          <p:nvPr/>
        </p:nvSpPr>
        <p:spPr>
          <a:xfrm rot="19189675">
            <a:off x="7908016" y="2799649"/>
            <a:ext cx="373907" cy="28937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12D03DB8-367E-B4AA-B2DB-A236072DEA35}"/>
              </a:ext>
            </a:extLst>
          </p:cNvPr>
          <p:cNvSpPr/>
          <p:nvPr/>
        </p:nvSpPr>
        <p:spPr>
          <a:xfrm>
            <a:off x="10510263" y="3347826"/>
            <a:ext cx="373907" cy="21248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ave with a light shining on the ground&#10;&#10;AI-generated content may be incorrect.">
            <a:extLst>
              <a:ext uri="{FF2B5EF4-FFF2-40B4-BE49-F238E27FC236}">
                <a16:creationId xmlns:a16="http://schemas.microsoft.com/office/drawing/2014/main" id="{2ACA899B-387F-6EBA-2615-8CA1B10EBB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155" r="-8" b="-496"/>
          <a:stretch>
            <a:fillRect/>
          </a:stretch>
        </p:blipFill>
        <p:spPr>
          <a:xfrm>
            <a:off x="6544502" y="1573161"/>
            <a:ext cx="1432591" cy="1709354"/>
          </a:xfrm>
          <a:prstGeom prst="rect">
            <a:avLst/>
          </a:prstGeom>
        </p:spPr>
      </p:pic>
      <p:pic>
        <p:nvPicPr>
          <p:cNvPr id="9" name="Picture 8" descr="A river flowing through a forest&#10;&#10;AI-generated content may be incorrect.">
            <a:extLst>
              <a:ext uri="{FF2B5EF4-FFF2-40B4-BE49-F238E27FC236}">
                <a16:creationId xmlns:a16="http://schemas.microsoft.com/office/drawing/2014/main" id="{71F4E59C-8044-6080-F01D-0DD577BE2A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559" b="-8"/>
          <a:stretch>
            <a:fillRect/>
          </a:stretch>
        </p:blipFill>
        <p:spPr>
          <a:xfrm rot="5400000">
            <a:off x="9928063" y="1935348"/>
            <a:ext cx="1709354" cy="143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621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C1DD3-C221-7590-1CB1-C65EE800F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83DF7D-1CE5-E45B-3DFB-E941C879335C}"/>
              </a:ext>
            </a:extLst>
          </p:cNvPr>
          <p:cNvSpPr/>
          <p:nvPr/>
        </p:nvSpPr>
        <p:spPr>
          <a:xfrm>
            <a:off x="0" y="0"/>
            <a:ext cx="12192000" cy="13495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8046B6-9559-7FC8-4A39-27C69FAA9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36"/>
            <a:ext cx="10515600" cy="1320537"/>
          </a:xfrm>
        </p:spPr>
        <p:txBody>
          <a:bodyPr/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Caves vs. Surface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AE3AA-CE91-89D8-E8EE-2EAA69455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68329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Caves are dark and lack nutrients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Surfaces provide    C and N inputs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Caves host a wide array of life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Widest diversity is  in microbes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C3A5C3-98FB-5724-E49A-64C6DF7CA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68" r="40961"/>
          <a:stretch>
            <a:fillRect/>
          </a:stretch>
        </p:blipFill>
        <p:spPr>
          <a:xfrm>
            <a:off x="4621161" y="1598706"/>
            <a:ext cx="3069076" cy="51560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5A29783-9F0B-A5E9-748D-D0B7E7D60C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23" r="37885"/>
          <a:stretch>
            <a:fillRect/>
          </a:stretch>
        </p:blipFill>
        <p:spPr>
          <a:xfrm>
            <a:off x="9033261" y="1598706"/>
            <a:ext cx="3069075" cy="5156056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3F75A9B6-9D58-3642-091A-0744B7E89406}"/>
              </a:ext>
            </a:extLst>
          </p:cNvPr>
          <p:cNvSpPr/>
          <p:nvPr/>
        </p:nvSpPr>
        <p:spPr>
          <a:xfrm>
            <a:off x="7797297" y="3082284"/>
            <a:ext cx="1179727" cy="5742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Carbon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3B707DF3-8DEC-3F96-A6AA-04959EABD01B}"/>
              </a:ext>
            </a:extLst>
          </p:cNvPr>
          <p:cNvSpPr/>
          <p:nvPr/>
        </p:nvSpPr>
        <p:spPr>
          <a:xfrm>
            <a:off x="7788938" y="1967611"/>
            <a:ext cx="1179727" cy="5742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Nitrogen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81AF306-4028-AB8B-0972-7EC4942749AA}"/>
              </a:ext>
            </a:extLst>
          </p:cNvPr>
          <p:cNvSpPr/>
          <p:nvPr/>
        </p:nvSpPr>
        <p:spPr>
          <a:xfrm>
            <a:off x="7765720" y="4331723"/>
            <a:ext cx="1179727" cy="5742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Water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92E1D976-2F55-32E2-BBB9-3DF5536CE2D1}"/>
              </a:ext>
            </a:extLst>
          </p:cNvPr>
          <p:cNvSpPr/>
          <p:nvPr/>
        </p:nvSpPr>
        <p:spPr>
          <a:xfrm>
            <a:off x="7778051" y="5670188"/>
            <a:ext cx="1179727" cy="5742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Life ?</a:t>
            </a:r>
          </a:p>
        </p:txBody>
      </p:sp>
    </p:spTree>
    <p:extLst>
      <p:ext uri="{BB962C8B-B14F-4D97-AF65-F5344CB8AC3E}">
        <p14:creationId xmlns:p14="http://schemas.microsoft.com/office/powerpoint/2010/main" val="811797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87F44-97A1-4434-DC6E-9BF4625E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1A741B-C617-0F8D-527C-39D093738A39}"/>
              </a:ext>
            </a:extLst>
          </p:cNvPr>
          <p:cNvSpPr/>
          <p:nvPr/>
        </p:nvSpPr>
        <p:spPr>
          <a:xfrm>
            <a:off x="0" y="0"/>
            <a:ext cx="12192000" cy="13495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6D922F-BD87-0B79-A4D7-AE0FACA69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36"/>
            <a:ext cx="10515600" cy="1320537"/>
          </a:xfrm>
        </p:spPr>
        <p:txBody>
          <a:bodyPr/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Ecology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383CF-CF2F-31FE-032B-A891B9F2B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40" y="1825625"/>
            <a:ext cx="5167342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Distance Decay</a:t>
            </a:r>
          </a:p>
          <a:p>
            <a:pPr lvl="1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Biological similarity decreases with increasing spatial distance</a:t>
            </a:r>
          </a:p>
          <a:p>
            <a:pPr lvl="1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Driven by dispersal limitation and environmental gradients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5795241-FB93-F711-51E9-10ACC868A704}"/>
              </a:ext>
            </a:extLst>
          </p:cNvPr>
          <p:cNvSpPr/>
          <p:nvPr/>
        </p:nvSpPr>
        <p:spPr>
          <a:xfrm>
            <a:off x="6292645" y="1663800"/>
            <a:ext cx="1164342" cy="14039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6A9DB73-22EB-89DA-8724-283E9BA09522}"/>
              </a:ext>
            </a:extLst>
          </p:cNvPr>
          <p:cNvSpPr/>
          <p:nvPr/>
        </p:nvSpPr>
        <p:spPr>
          <a:xfrm>
            <a:off x="8241052" y="1663800"/>
            <a:ext cx="1164342" cy="14039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ADCFA6-2E1F-C1B6-3704-7F154809FBE6}"/>
              </a:ext>
            </a:extLst>
          </p:cNvPr>
          <p:cNvSpPr/>
          <p:nvPr/>
        </p:nvSpPr>
        <p:spPr>
          <a:xfrm>
            <a:off x="10189458" y="1663800"/>
            <a:ext cx="1164342" cy="14039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FBF4710-D678-097F-A984-7D5BC7A6F060}"/>
              </a:ext>
            </a:extLst>
          </p:cNvPr>
          <p:cNvSpPr/>
          <p:nvPr/>
        </p:nvSpPr>
        <p:spPr>
          <a:xfrm>
            <a:off x="8331437" y="1786264"/>
            <a:ext cx="427874" cy="52673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7038AFF-8A12-9E3F-1F8D-E0CF36B0EEC7}"/>
              </a:ext>
            </a:extLst>
          </p:cNvPr>
          <p:cNvSpPr/>
          <p:nvPr/>
        </p:nvSpPr>
        <p:spPr>
          <a:xfrm>
            <a:off x="8892456" y="1786264"/>
            <a:ext cx="427874" cy="526734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1FC96AA-5624-6E99-3774-72D7A17751E2}"/>
              </a:ext>
            </a:extLst>
          </p:cNvPr>
          <p:cNvSpPr/>
          <p:nvPr/>
        </p:nvSpPr>
        <p:spPr>
          <a:xfrm>
            <a:off x="8326557" y="2460330"/>
            <a:ext cx="427874" cy="526734"/>
          </a:xfrm>
          <a:prstGeom prst="ellipse">
            <a:avLst/>
          </a:prstGeom>
          <a:solidFill>
            <a:srgbClr val="3B1F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03F1826-1984-58F2-4ACF-823C39C22D52}"/>
              </a:ext>
            </a:extLst>
          </p:cNvPr>
          <p:cNvSpPr/>
          <p:nvPr/>
        </p:nvSpPr>
        <p:spPr>
          <a:xfrm>
            <a:off x="8887576" y="2460330"/>
            <a:ext cx="427874" cy="5267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C0F1064-C1AB-C07C-62D7-ABA2E7E1890D}"/>
              </a:ext>
            </a:extLst>
          </p:cNvPr>
          <p:cNvSpPr/>
          <p:nvPr/>
        </p:nvSpPr>
        <p:spPr>
          <a:xfrm>
            <a:off x="10296496" y="1786264"/>
            <a:ext cx="427874" cy="526734"/>
          </a:xfrm>
          <a:prstGeom prst="ellipse">
            <a:avLst/>
          </a:prstGeom>
          <a:solidFill>
            <a:srgbClr val="3B1F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6C98C07-1A0A-2D53-0EDF-B594843BC469}"/>
              </a:ext>
            </a:extLst>
          </p:cNvPr>
          <p:cNvSpPr/>
          <p:nvPr/>
        </p:nvSpPr>
        <p:spPr>
          <a:xfrm>
            <a:off x="10857516" y="1786264"/>
            <a:ext cx="427874" cy="526734"/>
          </a:xfrm>
          <a:prstGeom prst="ellipse">
            <a:avLst/>
          </a:prstGeom>
          <a:solidFill>
            <a:srgbClr val="3B1F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9116F21-30E3-3155-6FFB-AB84C6A79B94}"/>
              </a:ext>
            </a:extLst>
          </p:cNvPr>
          <p:cNvSpPr/>
          <p:nvPr/>
        </p:nvSpPr>
        <p:spPr>
          <a:xfrm>
            <a:off x="10291617" y="2460330"/>
            <a:ext cx="427874" cy="526734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CAC27E2-DC68-3F92-22EA-03E87332BEB2}"/>
              </a:ext>
            </a:extLst>
          </p:cNvPr>
          <p:cNvSpPr/>
          <p:nvPr/>
        </p:nvSpPr>
        <p:spPr>
          <a:xfrm>
            <a:off x="10852636" y="2460330"/>
            <a:ext cx="427874" cy="5267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D6DF22C-D6F8-36E2-4A6A-F18A426B636F}"/>
              </a:ext>
            </a:extLst>
          </p:cNvPr>
          <p:cNvSpPr/>
          <p:nvPr/>
        </p:nvSpPr>
        <p:spPr>
          <a:xfrm>
            <a:off x="6395809" y="1786264"/>
            <a:ext cx="427874" cy="52673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5079B43-373C-9E4F-B6AF-0405AE100EB8}"/>
              </a:ext>
            </a:extLst>
          </p:cNvPr>
          <p:cNvSpPr/>
          <p:nvPr/>
        </p:nvSpPr>
        <p:spPr>
          <a:xfrm>
            <a:off x="6956828" y="1786264"/>
            <a:ext cx="427874" cy="52673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8787A106-7AA5-8402-248F-6376AF4C8A2E}"/>
              </a:ext>
            </a:extLst>
          </p:cNvPr>
          <p:cNvSpPr/>
          <p:nvPr/>
        </p:nvSpPr>
        <p:spPr>
          <a:xfrm>
            <a:off x="6390929" y="2460330"/>
            <a:ext cx="427874" cy="526734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31D5DBD-5DDC-9869-84BC-23206A58456C}"/>
              </a:ext>
            </a:extLst>
          </p:cNvPr>
          <p:cNvSpPr/>
          <p:nvPr/>
        </p:nvSpPr>
        <p:spPr>
          <a:xfrm>
            <a:off x="6951948" y="2460330"/>
            <a:ext cx="427874" cy="5267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Arrow: Left-Right 65">
            <a:extLst>
              <a:ext uri="{FF2B5EF4-FFF2-40B4-BE49-F238E27FC236}">
                <a16:creationId xmlns:a16="http://schemas.microsoft.com/office/drawing/2014/main" id="{7752FE26-0552-743F-072B-A4AA939A891F}"/>
              </a:ext>
            </a:extLst>
          </p:cNvPr>
          <p:cNvSpPr/>
          <p:nvPr/>
        </p:nvSpPr>
        <p:spPr>
          <a:xfrm>
            <a:off x="7492191" y="2323981"/>
            <a:ext cx="713657" cy="205159"/>
          </a:xfrm>
          <a:prstGeom prst="leftRightArrow">
            <a:avLst/>
          </a:prstGeom>
          <a:solidFill>
            <a:srgbClr val="FFC0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row: Left-Right 66">
            <a:extLst>
              <a:ext uri="{FF2B5EF4-FFF2-40B4-BE49-F238E27FC236}">
                <a16:creationId xmlns:a16="http://schemas.microsoft.com/office/drawing/2014/main" id="{3D72D58C-DF06-01F1-97C7-D7B3C93121F0}"/>
              </a:ext>
            </a:extLst>
          </p:cNvPr>
          <p:cNvSpPr/>
          <p:nvPr/>
        </p:nvSpPr>
        <p:spPr>
          <a:xfrm>
            <a:off x="9427819" y="2323981"/>
            <a:ext cx="713657" cy="205159"/>
          </a:xfrm>
          <a:prstGeom prst="leftRightArrow">
            <a:avLst/>
          </a:prstGeom>
          <a:solidFill>
            <a:srgbClr val="6F31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Arrow: Left-Right 67">
            <a:extLst>
              <a:ext uri="{FF2B5EF4-FFF2-40B4-BE49-F238E27FC236}">
                <a16:creationId xmlns:a16="http://schemas.microsoft.com/office/drawing/2014/main" id="{A1DFAA6B-9AB3-3874-8F5E-DF15706A2753}"/>
              </a:ext>
            </a:extLst>
          </p:cNvPr>
          <p:cNvSpPr/>
          <p:nvPr/>
        </p:nvSpPr>
        <p:spPr>
          <a:xfrm>
            <a:off x="6390929" y="3235276"/>
            <a:ext cx="4889581" cy="39466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Spatial Gradient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A2BC737E-2013-A995-1393-3555EC873EC4}"/>
              </a:ext>
            </a:extLst>
          </p:cNvPr>
          <p:cNvGrpSpPr/>
          <p:nvPr/>
        </p:nvGrpSpPr>
        <p:grpSpPr>
          <a:xfrm>
            <a:off x="785735" y="3429000"/>
            <a:ext cx="10620529" cy="4351338"/>
            <a:chOff x="733271" y="3629945"/>
            <a:chExt cx="10620529" cy="4351338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0B343189-6985-E723-132C-F4EE49B952D7}"/>
                </a:ext>
              </a:extLst>
            </p:cNvPr>
            <p:cNvGrpSpPr/>
            <p:nvPr/>
          </p:nvGrpSpPr>
          <p:grpSpPr>
            <a:xfrm>
              <a:off x="6292645" y="4603193"/>
              <a:ext cx="5061155" cy="1966145"/>
              <a:chOff x="6292645" y="4603193"/>
              <a:chExt cx="5061155" cy="1966145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42F316B6-8B1C-B3F6-172F-0E00D3B9BA70}"/>
                  </a:ext>
                </a:extLst>
              </p:cNvPr>
              <p:cNvSpPr/>
              <p:nvPr/>
            </p:nvSpPr>
            <p:spPr>
              <a:xfrm>
                <a:off x="6292645" y="4603193"/>
                <a:ext cx="1164342" cy="140394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06496A5A-35ED-4E2C-5943-DA43AD3D5F83}"/>
                  </a:ext>
                </a:extLst>
              </p:cNvPr>
              <p:cNvSpPr/>
              <p:nvPr/>
            </p:nvSpPr>
            <p:spPr>
              <a:xfrm>
                <a:off x="8241052" y="4603193"/>
                <a:ext cx="1164342" cy="140394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CDDBB2BA-83A2-84C9-E8C0-9749FCE64381}"/>
                  </a:ext>
                </a:extLst>
              </p:cNvPr>
              <p:cNvSpPr/>
              <p:nvPr/>
            </p:nvSpPr>
            <p:spPr>
              <a:xfrm>
                <a:off x="10189458" y="4603193"/>
                <a:ext cx="1164342" cy="140394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7E38F24D-213B-9C12-A859-9A86AC99400B}"/>
                  </a:ext>
                </a:extLst>
              </p:cNvPr>
              <p:cNvSpPr/>
              <p:nvPr/>
            </p:nvSpPr>
            <p:spPr>
              <a:xfrm>
                <a:off x="8331437" y="4725656"/>
                <a:ext cx="427874" cy="52673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77CFB3D4-7458-C794-9108-59E8F10CDE57}"/>
                  </a:ext>
                </a:extLst>
              </p:cNvPr>
              <p:cNvSpPr/>
              <p:nvPr/>
            </p:nvSpPr>
            <p:spPr>
              <a:xfrm>
                <a:off x="8892456" y="4725656"/>
                <a:ext cx="427874" cy="52673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338AE320-BCD6-EC7D-9A17-7DCBF9C67468}"/>
                  </a:ext>
                </a:extLst>
              </p:cNvPr>
              <p:cNvSpPr/>
              <p:nvPr/>
            </p:nvSpPr>
            <p:spPr>
              <a:xfrm>
                <a:off x="8326557" y="5399723"/>
                <a:ext cx="427874" cy="526734"/>
              </a:xfrm>
              <a:prstGeom prst="ellipse">
                <a:avLst/>
              </a:prstGeom>
              <a:solidFill>
                <a:srgbClr val="3B1F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ACEF2439-D414-E106-9469-76A3F5644724}"/>
                  </a:ext>
                </a:extLst>
              </p:cNvPr>
              <p:cNvSpPr/>
              <p:nvPr/>
            </p:nvSpPr>
            <p:spPr>
              <a:xfrm>
                <a:off x="8887576" y="5399723"/>
                <a:ext cx="427874" cy="52673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DE151A92-97E8-4605-A5EB-E0FC9F83E78F}"/>
                  </a:ext>
                </a:extLst>
              </p:cNvPr>
              <p:cNvSpPr/>
              <p:nvPr/>
            </p:nvSpPr>
            <p:spPr>
              <a:xfrm>
                <a:off x="10296496" y="4725656"/>
                <a:ext cx="427874" cy="526734"/>
              </a:xfrm>
              <a:prstGeom prst="ellipse">
                <a:avLst/>
              </a:prstGeom>
              <a:solidFill>
                <a:srgbClr val="3B1F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B0C7061B-F9FF-0FCB-3201-AB5FE4C02CAC}"/>
                  </a:ext>
                </a:extLst>
              </p:cNvPr>
              <p:cNvSpPr/>
              <p:nvPr/>
            </p:nvSpPr>
            <p:spPr>
              <a:xfrm>
                <a:off x="10857516" y="4725656"/>
                <a:ext cx="427874" cy="526734"/>
              </a:xfrm>
              <a:prstGeom prst="ellipse">
                <a:avLst/>
              </a:prstGeom>
              <a:solidFill>
                <a:srgbClr val="3B1F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48D710BD-6973-3854-4894-DBA09D43617F}"/>
                  </a:ext>
                </a:extLst>
              </p:cNvPr>
              <p:cNvSpPr/>
              <p:nvPr/>
            </p:nvSpPr>
            <p:spPr>
              <a:xfrm>
                <a:off x="10291617" y="5399723"/>
                <a:ext cx="427874" cy="52673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B1602CC9-6D20-8403-389B-42F3736394FC}"/>
                  </a:ext>
                </a:extLst>
              </p:cNvPr>
              <p:cNvSpPr/>
              <p:nvPr/>
            </p:nvSpPr>
            <p:spPr>
              <a:xfrm>
                <a:off x="10852636" y="5399723"/>
                <a:ext cx="427874" cy="526734"/>
              </a:xfrm>
              <a:prstGeom prst="ellipse">
                <a:avLst/>
              </a:prstGeom>
              <a:solidFill>
                <a:srgbClr val="3B1F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EA393B19-A508-5432-0139-1C1C9DED00DA}"/>
                  </a:ext>
                </a:extLst>
              </p:cNvPr>
              <p:cNvSpPr/>
              <p:nvPr/>
            </p:nvSpPr>
            <p:spPr>
              <a:xfrm>
                <a:off x="6395809" y="4725656"/>
                <a:ext cx="427874" cy="52673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A3338DA9-7D72-E08A-4972-7C26AEA50FE3}"/>
                  </a:ext>
                </a:extLst>
              </p:cNvPr>
              <p:cNvSpPr/>
              <p:nvPr/>
            </p:nvSpPr>
            <p:spPr>
              <a:xfrm>
                <a:off x="6956828" y="4725656"/>
                <a:ext cx="427874" cy="52673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BA90F8AC-B23B-6B1D-0AB3-57F420D6CAB4}"/>
                  </a:ext>
                </a:extLst>
              </p:cNvPr>
              <p:cNvSpPr/>
              <p:nvPr/>
            </p:nvSpPr>
            <p:spPr>
              <a:xfrm>
                <a:off x="6390929" y="5399723"/>
                <a:ext cx="427874" cy="52673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920BC2D9-5B08-5F59-8DB8-3CE43304BD43}"/>
                  </a:ext>
                </a:extLst>
              </p:cNvPr>
              <p:cNvSpPr/>
              <p:nvPr/>
            </p:nvSpPr>
            <p:spPr>
              <a:xfrm>
                <a:off x="6951948" y="5399723"/>
                <a:ext cx="427874" cy="52673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Arrow: Left-Right 83">
                <a:extLst>
                  <a:ext uri="{FF2B5EF4-FFF2-40B4-BE49-F238E27FC236}">
                    <a16:creationId xmlns:a16="http://schemas.microsoft.com/office/drawing/2014/main" id="{856C1424-FFD7-474E-271D-4BC7D3DC5BE1}"/>
                  </a:ext>
                </a:extLst>
              </p:cNvPr>
              <p:cNvSpPr/>
              <p:nvPr/>
            </p:nvSpPr>
            <p:spPr>
              <a:xfrm>
                <a:off x="7492191" y="5263373"/>
                <a:ext cx="713657" cy="205159"/>
              </a:xfrm>
              <a:prstGeom prst="leftRightArrow">
                <a:avLst/>
              </a:prstGeom>
              <a:solidFill>
                <a:srgbClr val="FFC00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Arrow: Left-Right 84">
                <a:extLst>
                  <a:ext uri="{FF2B5EF4-FFF2-40B4-BE49-F238E27FC236}">
                    <a16:creationId xmlns:a16="http://schemas.microsoft.com/office/drawing/2014/main" id="{E6EEEAC8-CB5F-8CFD-812C-68FAE46950D4}"/>
                  </a:ext>
                </a:extLst>
              </p:cNvPr>
              <p:cNvSpPr/>
              <p:nvPr/>
            </p:nvSpPr>
            <p:spPr>
              <a:xfrm>
                <a:off x="9427819" y="5263373"/>
                <a:ext cx="713657" cy="205159"/>
              </a:xfrm>
              <a:prstGeom prst="leftRightArrow">
                <a:avLst/>
              </a:prstGeom>
              <a:solidFill>
                <a:srgbClr val="6F31A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Arrow: Left-Right 85">
                <a:extLst>
                  <a:ext uri="{FF2B5EF4-FFF2-40B4-BE49-F238E27FC236}">
                    <a16:creationId xmlns:a16="http://schemas.microsoft.com/office/drawing/2014/main" id="{B42873B6-8409-BEC2-AF47-B70CCA80EA0B}"/>
                  </a:ext>
                </a:extLst>
              </p:cNvPr>
              <p:cNvSpPr/>
              <p:nvPr/>
            </p:nvSpPr>
            <p:spPr>
              <a:xfrm>
                <a:off x="6390929" y="6174669"/>
                <a:ext cx="4889581" cy="394669"/>
              </a:xfrm>
              <a:prstGeom prst="left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Environmental Gradient </a:t>
                </a:r>
              </a:p>
            </p:txBody>
          </p:sp>
        </p:grpSp>
        <p:sp>
          <p:nvSpPr>
            <p:cNvPr id="87" name="Content Placeholder 2">
              <a:extLst>
                <a:ext uri="{FF2B5EF4-FFF2-40B4-BE49-F238E27FC236}">
                  <a16:creationId xmlns:a16="http://schemas.microsoft.com/office/drawing/2014/main" id="{CEC2C757-8AB1-418F-19A0-B18BA52B86A0}"/>
                </a:ext>
              </a:extLst>
            </p:cNvPr>
            <p:cNvSpPr txBox="1">
              <a:spLocks/>
            </p:cNvSpPr>
            <p:nvPr/>
          </p:nvSpPr>
          <p:spPr>
            <a:xfrm>
              <a:off x="733271" y="3629945"/>
              <a:ext cx="5167342" cy="435133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000" dirty="0"/>
            </a:p>
            <a:p>
              <a:pPr lvl="1"/>
              <a:endParaRPr lang="en-US" sz="2000" dirty="0"/>
            </a:p>
            <a:p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</a:rPr>
                <a:t>Environmental Filtering</a:t>
              </a:r>
            </a:p>
            <a:p>
              <a:pPr lvl="1"/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</a:rPr>
                <a:t>Selection based on function, not taxonomy</a:t>
              </a:r>
            </a:p>
            <a:p>
              <a:pPr lvl="1"/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</a:rPr>
                <a:t>Caves filter out surface-adapted taxa, select for oligotrophic specialists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6072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CFB13-A74A-4681-27F8-C39D4C20C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8D5C00F4-B207-F797-EFBA-13813D5C7AE4}"/>
              </a:ext>
            </a:extLst>
          </p:cNvPr>
          <p:cNvSpPr/>
          <p:nvPr/>
        </p:nvSpPr>
        <p:spPr>
          <a:xfrm>
            <a:off x="-215068" y="3917189"/>
            <a:ext cx="7770599" cy="2903322"/>
          </a:xfrm>
          <a:custGeom>
            <a:avLst/>
            <a:gdLst>
              <a:gd name="csX0" fmla="*/ 7897826 w 8658478"/>
              <a:gd name="csY0" fmla="*/ 48552 h 3382471"/>
              <a:gd name="csX1" fmla="*/ 7833090 w 8658478"/>
              <a:gd name="csY1" fmla="*/ 48552 h 3382471"/>
              <a:gd name="csX2" fmla="*/ 8658478 w 8658478"/>
              <a:gd name="csY2" fmla="*/ 347958 h 3382471"/>
              <a:gd name="csX3" fmla="*/ 8512821 w 8658478"/>
              <a:gd name="csY3" fmla="*/ 1529395 h 3382471"/>
              <a:gd name="csX4" fmla="*/ 6222775 w 8658478"/>
              <a:gd name="csY4" fmla="*/ 3123526 h 3382471"/>
              <a:gd name="csX5" fmla="*/ 728283 w 8658478"/>
              <a:gd name="csY5" fmla="*/ 3382471 h 3382471"/>
              <a:gd name="csX6" fmla="*/ 0 w 8658478"/>
              <a:gd name="csY6" fmla="*/ 2921225 h 3382471"/>
              <a:gd name="csX7" fmla="*/ 582626 w 8658478"/>
              <a:gd name="csY7" fmla="*/ 0 h 3382471"/>
              <a:gd name="csX8" fmla="*/ 7897826 w 8658478"/>
              <a:gd name="csY8" fmla="*/ 48552 h 33824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658478" h="3382471">
                <a:moveTo>
                  <a:pt x="7897826" y="48552"/>
                </a:moveTo>
                <a:lnTo>
                  <a:pt x="7833090" y="48552"/>
                </a:lnTo>
                <a:lnTo>
                  <a:pt x="8658478" y="347958"/>
                </a:lnTo>
                <a:lnTo>
                  <a:pt x="8512821" y="1529395"/>
                </a:lnTo>
                <a:lnTo>
                  <a:pt x="6222775" y="3123526"/>
                </a:lnTo>
                <a:lnTo>
                  <a:pt x="728283" y="3382471"/>
                </a:lnTo>
                <a:lnTo>
                  <a:pt x="0" y="2921225"/>
                </a:lnTo>
                <a:lnTo>
                  <a:pt x="582626" y="0"/>
                </a:lnTo>
                <a:lnTo>
                  <a:pt x="7897826" y="48552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9EDAA08E-7CAF-98E7-2764-0D19431DEF77}"/>
              </a:ext>
            </a:extLst>
          </p:cNvPr>
          <p:cNvSpPr/>
          <p:nvPr/>
        </p:nvSpPr>
        <p:spPr>
          <a:xfrm>
            <a:off x="-71120" y="1082774"/>
            <a:ext cx="10283170" cy="5775226"/>
          </a:xfrm>
          <a:custGeom>
            <a:avLst/>
            <a:gdLst>
              <a:gd name="csX0" fmla="*/ 5400 w 6322475"/>
              <a:gd name="csY0" fmla="*/ 0 h 3558627"/>
              <a:gd name="csX1" fmla="*/ 804485 w 6322475"/>
              <a:gd name="csY1" fmla="*/ 25986 h 3558627"/>
              <a:gd name="csX2" fmla="*/ 934418 w 6322475"/>
              <a:gd name="csY2" fmla="*/ 38980 h 3558627"/>
              <a:gd name="csX3" fmla="*/ 1028619 w 6322475"/>
              <a:gd name="csY3" fmla="*/ 131557 h 3558627"/>
              <a:gd name="csX4" fmla="*/ 1059478 w 6322475"/>
              <a:gd name="csY4" fmla="*/ 240375 h 3558627"/>
              <a:gd name="csX5" fmla="*/ 1124444 w 6322475"/>
              <a:gd name="csY5" fmla="*/ 282603 h 3558627"/>
              <a:gd name="csX6" fmla="*/ 1359946 w 6322475"/>
              <a:gd name="csY6" fmla="*/ 352442 h 3558627"/>
              <a:gd name="csX7" fmla="*/ 1528859 w 6322475"/>
              <a:gd name="csY7" fmla="*/ 389798 h 3558627"/>
              <a:gd name="csX8" fmla="*/ 1666912 w 6322475"/>
              <a:gd name="csY8" fmla="*/ 440146 h 3558627"/>
              <a:gd name="csX9" fmla="*/ 1723758 w 6322475"/>
              <a:gd name="csY9" fmla="*/ 503488 h 3558627"/>
              <a:gd name="csX10" fmla="*/ 1739999 w 6322475"/>
              <a:gd name="csY10" fmla="*/ 542468 h 3558627"/>
              <a:gd name="csX11" fmla="*/ 1925153 w 6322475"/>
              <a:gd name="csY11" fmla="*/ 641542 h 3558627"/>
              <a:gd name="csX12" fmla="*/ 2072951 w 6322475"/>
              <a:gd name="csY12" fmla="*/ 651287 h 3558627"/>
              <a:gd name="csX13" fmla="*/ 2225622 w 6322475"/>
              <a:gd name="csY13" fmla="*/ 693515 h 3558627"/>
              <a:gd name="csX14" fmla="*/ 2292212 w 6322475"/>
              <a:gd name="csY14" fmla="*/ 711380 h 3558627"/>
              <a:gd name="csX15" fmla="*/ 2379917 w 6322475"/>
              <a:gd name="csY15" fmla="*/ 745488 h 3558627"/>
              <a:gd name="csX16" fmla="*/ 2563446 w 6322475"/>
              <a:gd name="csY16" fmla="*/ 833192 h 3558627"/>
              <a:gd name="csX17" fmla="*/ 3065311 w 6322475"/>
              <a:gd name="csY17" fmla="*/ 1192131 h 3558627"/>
              <a:gd name="csX18" fmla="*/ 3408008 w 6322475"/>
              <a:gd name="csY18" fmla="*/ 1369164 h 3558627"/>
              <a:gd name="csX19" fmla="*/ 3687362 w 6322475"/>
              <a:gd name="csY19" fmla="*/ 1500720 h 3558627"/>
              <a:gd name="csX20" fmla="*/ 3966717 w 6322475"/>
              <a:gd name="csY20" fmla="*/ 1614411 h 3558627"/>
              <a:gd name="csX21" fmla="*/ 4039804 w 6322475"/>
              <a:gd name="csY21" fmla="*/ 1668009 h 3558627"/>
              <a:gd name="csX22" fmla="*/ 4104771 w 6322475"/>
              <a:gd name="csY22" fmla="*/ 1690747 h 3558627"/>
              <a:gd name="csX23" fmla="*/ 4198972 w 6322475"/>
              <a:gd name="csY23" fmla="*/ 1719982 h 3558627"/>
              <a:gd name="csX24" fmla="*/ 4257441 w 6322475"/>
              <a:gd name="csY24" fmla="*/ 1775203 h 3558627"/>
              <a:gd name="csX25" fmla="*/ 4259065 w 6322475"/>
              <a:gd name="csY25" fmla="*/ 1838545 h 3558627"/>
              <a:gd name="csX26" fmla="*/ 4257441 w 6322475"/>
              <a:gd name="csY26" fmla="*/ 1901887 h 3558627"/>
              <a:gd name="csX27" fmla="*/ 4155119 w 6322475"/>
              <a:gd name="csY27" fmla="*/ 1926249 h 3558627"/>
              <a:gd name="csX28" fmla="*/ 4023563 w 6322475"/>
              <a:gd name="csY28" fmla="*/ 1974974 h 3558627"/>
              <a:gd name="csX29" fmla="*/ 3883885 w 6322475"/>
              <a:gd name="csY29" fmla="*/ 2147135 h 3558627"/>
              <a:gd name="csX30" fmla="*/ 3770194 w 6322475"/>
              <a:gd name="csY30" fmla="*/ 2200732 h 3558627"/>
              <a:gd name="csX31" fmla="*/ 3666248 w 6322475"/>
              <a:gd name="csY31" fmla="*/ 2238087 h 3558627"/>
              <a:gd name="csX32" fmla="*/ 3563927 w 6322475"/>
              <a:gd name="csY32" fmla="*/ 2278691 h 3558627"/>
              <a:gd name="csX33" fmla="*/ 3446987 w 6322475"/>
              <a:gd name="csY33" fmla="*/ 2288436 h 3558627"/>
              <a:gd name="csX34" fmla="*/ 3430746 w 6322475"/>
              <a:gd name="csY34" fmla="*/ 2288436 h 3558627"/>
              <a:gd name="csX35" fmla="*/ 3195243 w 6322475"/>
              <a:gd name="csY35" fmla="*/ 2288436 h 3558627"/>
              <a:gd name="csX36" fmla="*/ 3167632 w 6322475"/>
              <a:gd name="csY36" fmla="*/ 2288436 h 3558627"/>
              <a:gd name="csX37" fmla="*/ 2922385 w 6322475"/>
              <a:gd name="csY37" fmla="*/ 2291685 h 3558627"/>
              <a:gd name="csX38" fmla="*/ 2680386 w 6322475"/>
              <a:gd name="csY38" fmla="*/ 2290060 h 3558627"/>
              <a:gd name="csX39" fmla="*/ 2660896 w 6322475"/>
              <a:gd name="csY39" fmla="*/ 2290060 h 3558627"/>
              <a:gd name="csX40" fmla="*/ 2534212 w 6322475"/>
              <a:gd name="csY40" fmla="*/ 2314423 h 3558627"/>
              <a:gd name="csX41" fmla="*/ 2388037 w 6322475"/>
              <a:gd name="csY41" fmla="*/ 2320919 h 3558627"/>
              <a:gd name="csX42" fmla="*/ 2261353 w 6322475"/>
              <a:gd name="csY42" fmla="*/ 2364772 h 3558627"/>
              <a:gd name="csX43" fmla="*/ 2152535 w 6322475"/>
              <a:gd name="csY43" fmla="*/ 2426490 h 3558627"/>
              <a:gd name="csX44" fmla="*/ 2074575 w 6322475"/>
              <a:gd name="csY44" fmla="*/ 2465469 h 3558627"/>
              <a:gd name="csX45" fmla="*/ 1967381 w 6322475"/>
              <a:gd name="csY45" fmla="*/ 2507697 h 3558627"/>
              <a:gd name="csX46" fmla="*/ 1804965 w 6322475"/>
              <a:gd name="csY46" fmla="*/ 2548301 h 3558627"/>
              <a:gd name="csX47" fmla="*/ 1705892 w 6322475"/>
              <a:gd name="csY47" fmla="*/ 2585657 h 3558627"/>
              <a:gd name="csX48" fmla="*/ 1634429 w 6322475"/>
              <a:gd name="csY48" fmla="*/ 2585657 h 3558627"/>
              <a:gd name="csX49" fmla="*/ 1575959 w 6322475"/>
              <a:gd name="csY49" fmla="*/ 2580784 h 3558627"/>
              <a:gd name="csX50" fmla="*/ 1498000 w 6322475"/>
              <a:gd name="csY50" fmla="*/ 2562919 h 3558627"/>
              <a:gd name="csX51" fmla="*/ 1421664 w 6322475"/>
              <a:gd name="csY51" fmla="*/ 2549925 h 3558627"/>
              <a:gd name="csX52" fmla="*/ 1376188 w 6322475"/>
              <a:gd name="csY52" fmla="*/ 2541805 h 3558627"/>
              <a:gd name="csX53" fmla="*/ 1168296 w 6322475"/>
              <a:gd name="csY53" fmla="*/ 2545053 h 3558627"/>
              <a:gd name="csX54" fmla="*/ 1080592 w 6322475"/>
              <a:gd name="csY54" fmla="*/ 2585657 h 3558627"/>
              <a:gd name="csX55" fmla="*/ 953907 w 6322475"/>
              <a:gd name="csY55" fmla="*/ 2579160 h 3558627"/>
              <a:gd name="csX56" fmla="*/ 828847 w 6322475"/>
              <a:gd name="csY56" fmla="*/ 2584033 h 3558627"/>
              <a:gd name="csX57" fmla="*/ 742767 w 6322475"/>
              <a:gd name="csY57" fmla="*/ 2593778 h 3558627"/>
              <a:gd name="csX58" fmla="*/ 620955 w 6322475"/>
              <a:gd name="csY58" fmla="*/ 2619764 h 3558627"/>
              <a:gd name="csX59" fmla="*/ 612835 w 6322475"/>
              <a:gd name="csY59" fmla="*/ 3011186 h 3558627"/>
              <a:gd name="csX60" fmla="*/ 590096 w 6322475"/>
              <a:gd name="csY60" fmla="*/ 3056662 h 3558627"/>
              <a:gd name="csX61" fmla="*/ 547868 w 6322475"/>
              <a:gd name="csY61" fmla="*/ 3050166 h 3558627"/>
              <a:gd name="csX62" fmla="*/ 499144 w 6322475"/>
              <a:gd name="csY62" fmla="*/ 3024179 h 3558627"/>
              <a:gd name="csX63" fmla="*/ 473157 w 6322475"/>
              <a:gd name="csY63" fmla="*/ 3017682 h 3558627"/>
              <a:gd name="csX64" fmla="*/ 429305 w 6322475"/>
              <a:gd name="csY64" fmla="*/ 3038796 h 3558627"/>
              <a:gd name="csX65" fmla="*/ 408191 w 6322475"/>
              <a:gd name="csY65" fmla="*/ 3055038 h 3558627"/>
              <a:gd name="csX66" fmla="*/ 369211 w 6322475"/>
              <a:gd name="csY66" fmla="*/ 3048541 h 3558627"/>
              <a:gd name="csX67" fmla="*/ 331856 w 6322475"/>
              <a:gd name="csY67" fmla="*/ 3032300 h 3558627"/>
              <a:gd name="csX68" fmla="*/ 292876 w 6322475"/>
              <a:gd name="csY68" fmla="*/ 3032300 h 3558627"/>
              <a:gd name="csX69" fmla="*/ 271762 w 6322475"/>
              <a:gd name="csY69" fmla="*/ 3077776 h 3558627"/>
              <a:gd name="csX70" fmla="*/ 294500 w 6322475"/>
              <a:gd name="csY70" fmla="*/ 3124877 h 3558627"/>
              <a:gd name="csX71" fmla="*/ 318862 w 6322475"/>
              <a:gd name="csY71" fmla="*/ 3139494 h 3558627"/>
              <a:gd name="csX72" fmla="*/ 448795 w 6322475"/>
              <a:gd name="csY72" fmla="*/ 3121628 h 3558627"/>
              <a:gd name="csX73" fmla="*/ 705412 w 6322475"/>
              <a:gd name="csY73" fmla="*/ 3162232 h 3558627"/>
              <a:gd name="csX74" fmla="*/ 978270 w 6322475"/>
              <a:gd name="csY74" fmla="*/ 3072904 h 3558627"/>
              <a:gd name="csX75" fmla="*/ 1230014 w 6322475"/>
              <a:gd name="csY75" fmla="*/ 3048541 h 3558627"/>
              <a:gd name="csX76" fmla="*/ 1450899 w 6322475"/>
              <a:gd name="csY76" fmla="*/ 3071280 h 3558627"/>
              <a:gd name="csX77" fmla="*/ 1483382 w 6322475"/>
              <a:gd name="csY77" fmla="*/ 3115132 h 3558627"/>
              <a:gd name="csX78" fmla="*/ 1629556 w 6322475"/>
              <a:gd name="csY78" fmla="*/ 3116756 h 3558627"/>
              <a:gd name="csX79" fmla="*/ 1694523 w 6322475"/>
              <a:gd name="csY79" fmla="*/ 3085897 h 3558627"/>
              <a:gd name="csX80" fmla="*/ 1769234 w 6322475"/>
              <a:gd name="csY80" fmla="*/ 3081025 h 3558627"/>
              <a:gd name="csX81" fmla="*/ 1860187 w 6322475"/>
              <a:gd name="csY81" fmla="*/ 3085897 h 3558627"/>
              <a:gd name="csX82" fmla="*/ 2016106 w 6322475"/>
              <a:gd name="csY82" fmla="*/ 2946220 h 3558627"/>
              <a:gd name="csX83" fmla="*/ 2173649 w 6322475"/>
              <a:gd name="csY83" fmla="*/ 2921857 h 3558627"/>
              <a:gd name="csX84" fmla="*/ 2353930 w 6322475"/>
              <a:gd name="csY84" fmla="*/ 2788676 h 3558627"/>
              <a:gd name="csX85" fmla="*/ 2469245 w 6322475"/>
              <a:gd name="csY85" fmla="*/ 2715589 h 3558627"/>
              <a:gd name="csX86" fmla="*/ 2617043 w 6322475"/>
              <a:gd name="csY86" fmla="*/ 2681482 h 3558627"/>
              <a:gd name="csX87" fmla="*/ 3572047 w 6322475"/>
              <a:gd name="csY87" fmla="*/ 2653871 h 3558627"/>
              <a:gd name="csX88" fmla="*/ 3654879 w 6322475"/>
              <a:gd name="csY88" fmla="*/ 2631133 h 3558627"/>
              <a:gd name="csX89" fmla="*/ 3807550 w 6322475"/>
              <a:gd name="csY89" fmla="*/ 2527187 h 3558627"/>
              <a:gd name="csX90" fmla="*/ 3948852 w 6322475"/>
              <a:gd name="csY90" fmla="*/ 2351778 h 3558627"/>
              <a:gd name="csX91" fmla="*/ 4135630 w 6322475"/>
              <a:gd name="csY91" fmla="*/ 2238087 h 3558627"/>
              <a:gd name="csX92" fmla="*/ 4223334 w 6322475"/>
              <a:gd name="csY92" fmla="*/ 2150383 h 3558627"/>
              <a:gd name="csX93" fmla="*/ 4263938 w 6322475"/>
              <a:gd name="csY93" fmla="*/ 2077296 h 3558627"/>
              <a:gd name="csX94" fmla="*/ 4387374 w 6322475"/>
              <a:gd name="csY94" fmla="*/ 2036692 h 3558627"/>
              <a:gd name="csX95" fmla="*/ 4452340 w 6322475"/>
              <a:gd name="csY95" fmla="*/ 2030195 h 3558627"/>
              <a:gd name="csX96" fmla="*/ 4520555 w 6322475"/>
              <a:gd name="csY96" fmla="*/ 1910008 h 3558627"/>
              <a:gd name="csX97" fmla="*/ 4510810 w 6322475"/>
              <a:gd name="csY97" fmla="*/ 1854786 h 3558627"/>
              <a:gd name="csX98" fmla="*/ 4548165 w 6322475"/>
              <a:gd name="csY98" fmla="*/ 1843417 h 3558627"/>
              <a:gd name="csX99" fmla="*/ 4580648 w 6322475"/>
              <a:gd name="csY99" fmla="*/ 1888894 h 3558627"/>
              <a:gd name="csX100" fmla="*/ 4689467 w 6322475"/>
              <a:gd name="csY100" fmla="*/ 1953860 h 3558627"/>
              <a:gd name="csX101" fmla="*/ 4827520 w 6322475"/>
              <a:gd name="csY101" fmla="*/ 2002585 h 3558627"/>
              <a:gd name="csX102" fmla="*/ 4968822 w 6322475"/>
              <a:gd name="csY102" fmla="*/ 2059430 h 3558627"/>
              <a:gd name="csX103" fmla="*/ 5045157 w 6322475"/>
              <a:gd name="csY103" fmla="*/ 2111403 h 3558627"/>
              <a:gd name="csX104" fmla="*/ 5077640 w 6322475"/>
              <a:gd name="csY104" fmla="*/ 2173121 h 3558627"/>
              <a:gd name="csX105" fmla="*/ 5183210 w 6322475"/>
              <a:gd name="csY105" fmla="*/ 2252705 h 3558627"/>
              <a:gd name="csX106" fmla="*/ 5223814 w 6322475"/>
              <a:gd name="csY106" fmla="*/ 2350154 h 3558627"/>
              <a:gd name="csX107" fmla="*/ 5313143 w 6322475"/>
              <a:gd name="csY107" fmla="*/ 2389134 h 3558627"/>
              <a:gd name="csX108" fmla="*/ 5616860 w 6322475"/>
              <a:gd name="csY108" fmla="*/ 2447604 h 3558627"/>
              <a:gd name="csX109" fmla="*/ 5745169 w 6322475"/>
              <a:gd name="csY109" fmla="*/ 2546677 h 3558627"/>
              <a:gd name="csX110" fmla="*/ 5925450 w 6322475"/>
              <a:gd name="csY110" fmla="*/ 2733455 h 3558627"/>
              <a:gd name="csX111" fmla="*/ 6128469 w 6322475"/>
              <a:gd name="csY111" fmla="*/ 2788676 h 3558627"/>
              <a:gd name="csX112" fmla="*/ 6307903 w 6322475"/>
              <a:gd name="csY112" fmla="*/ 2848236 h 3558627"/>
              <a:gd name="csX113" fmla="*/ 6322475 w 6322475"/>
              <a:gd name="csY113" fmla="*/ 2846415 h 3558627"/>
              <a:gd name="csX114" fmla="*/ 6311546 w 6322475"/>
              <a:gd name="csY114" fmla="*/ 3558627 h 3558627"/>
              <a:gd name="csX115" fmla="*/ 0 w 6322475"/>
              <a:gd name="csY115" fmla="*/ 3551341 h 3558627"/>
              <a:gd name="csX116" fmla="*/ 5400 w 6322475"/>
              <a:gd name="csY116" fmla="*/ 0 h 35586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</a:cxnLst>
            <a:rect l="l" t="t" r="r" b="b"/>
            <a:pathLst>
              <a:path w="6322475" h="3558627">
                <a:moveTo>
                  <a:pt x="5400" y="0"/>
                </a:moveTo>
                <a:lnTo>
                  <a:pt x="804485" y="25986"/>
                </a:lnTo>
                <a:lnTo>
                  <a:pt x="934418" y="38980"/>
                </a:lnTo>
                <a:lnTo>
                  <a:pt x="1028619" y="131557"/>
                </a:lnTo>
                <a:lnTo>
                  <a:pt x="1059478" y="240375"/>
                </a:lnTo>
                <a:lnTo>
                  <a:pt x="1124444" y="282603"/>
                </a:lnTo>
                <a:lnTo>
                  <a:pt x="1359946" y="352442"/>
                </a:lnTo>
                <a:lnTo>
                  <a:pt x="1528859" y="389798"/>
                </a:lnTo>
                <a:lnTo>
                  <a:pt x="1666912" y="440146"/>
                </a:lnTo>
                <a:lnTo>
                  <a:pt x="1723758" y="503488"/>
                </a:lnTo>
                <a:lnTo>
                  <a:pt x="1739999" y="542468"/>
                </a:lnTo>
                <a:lnTo>
                  <a:pt x="1925153" y="641542"/>
                </a:lnTo>
                <a:lnTo>
                  <a:pt x="2072951" y="651287"/>
                </a:lnTo>
                <a:lnTo>
                  <a:pt x="2225622" y="693515"/>
                </a:lnTo>
                <a:lnTo>
                  <a:pt x="2292212" y="711380"/>
                </a:lnTo>
                <a:lnTo>
                  <a:pt x="2379917" y="745488"/>
                </a:lnTo>
                <a:lnTo>
                  <a:pt x="2563446" y="833192"/>
                </a:lnTo>
                <a:lnTo>
                  <a:pt x="3065311" y="1192131"/>
                </a:lnTo>
                <a:lnTo>
                  <a:pt x="3408008" y="1369164"/>
                </a:lnTo>
                <a:lnTo>
                  <a:pt x="3687362" y="1500720"/>
                </a:lnTo>
                <a:lnTo>
                  <a:pt x="3966717" y="1614411"/>
                </a:lnTo>
                <a:lnTo>
                  <a:pt x="4039804" y="1668009"/>
                </a:lnTo>
                <a:lnTo>
                  <a:pt x="4104771" y="1690747"/>
                </a:lnTo>
                <a:lnTo>
                  <a:pt x="4198972" y="1719982"/>
                </a:lnTo>
                <a:lnTo>
                  <a:pt x="4257441" y="1775203"/>
                </a:lnTo>
                <a:cubicBezTo>
                  <a:pt x="4257982" y="1796317"/>
                  <a:pt x="4258524" y="1817431"/>
                  <a:pt x="4259065" y="1838545"/>
                </a:cubicBezTo>
                <a:cubicBezTo>
                  <a:pt x="4258524" y="1859659"/>
                  <a:pt x="4257982" y="1880773"/>
                  <a:pt x="4257441" y="1901887"/>
                </a:cubicBezTo>
                <a:lnTo>
                  <a:pt x="4155119" y="1926249"/>
                </a:lnTo>
                <a:lnTo>
                  <a:pt x="4023563" y="1974974"/>
                </a:lnTo>
                <a:lnTo>
                  <a:pt x="3883885" y="2147135"/>
                </a:lnTo>
                <a:lnTo>
                  <a:pt x="3770194" y="2200732"/>
                </a:lnTo>
                <a:lnTo>
                  <a:pt x="3666248" y="2238087"/>
                </a:lnTo>
                <a:lnTo>
                  <a:pt x="3563927" y="2278691"/>
                </a:lnTo>
                <a:lnTo>
                  <a:pt x="3446987" y="2288436"/>
                </a:lnTo>
                <a:lnTo>
                  <a:pt x="3430746" y="2288436"/>
                </a:lnTo>
                <a:lnTo>
                  <a:pt x="3195243" y="2288436"/>
                </a:lnTo>
                <a:lnTo>
                  <a:pt x="3167632" y="2288436"/>
                </a:lnTo>
                <a:lnTo>
                  <a:pt x="2922385" y="2291685"/>
                </a:lnTo>
                <a:lnTo>
                  <a:pt x="2680386" y="2290060"/>
                </a:lnTo>
                <a:lnTo>
                  <a:pt x="2660896" y="2290060"/>
                </a:lnTo>
                <a:lnTo>
                  <a:pt x="2534212" y="2314423"/>
                </a:lnTo>
                <a:lnTo>
                  <a:pt x="2388037" y="2320919"/>
                </a:lnTo>
                <a:lnTo>
                  <a:pt x="2261353" y="2364772"/>
                </a:lnTo>
                <a:lnTo>
                  <a:pt x="2152535" y="2426490"/>
                </a:lnTo>
                <a:lnTo>
                  <a:pt x="2074575" y="2465469"/>
                </a:lnTo>
                <a:lnTo>
                  <a:pt x="1967381" y="2507697"/>
                </a:lnTo>
                <a:lnTo>
                  <a:pt x="1804965" y="2548301"/>
                </a:lnTo>
                <a:lnTo>
                  <a:pt x="1705892" y="2585657"/>
                </a:lnTo>
                <a:lnTo>
                  <a:pt x="1634429" y="2585657"/>
                </a:lnTo>
                <a:lnTo>
                  <a:pt x="1575959" y="2580784"/>
                </a:lnTo>
                <a:lnTo>
                  <a:pt x="1498000" y="2562919"/>
                </a:lnTo>
                <a:lnTo>
                  <a:pt x="1421664" y="2549925"/>
                </a:lnTo>
                <a:lnTo>
                  <a:pt x="1376188" y="2541805"/>
                </a:lnTo>
                <a:lnTo>
                  <a:pt x="1168296" y="2545053"/>
                </a:lnTo>
                <a:lnTo>
                  <a:pt x="1080592" y="2585657"/>
                </a:lnTo>
                <a:lnTo>
                  <a:pt x="953907" y="2579160"/>
                </a:lnTo>
                <a:lnTo>
                  <a:pt x="828847" y="2584033"/>
                </a:lnTo>
                <a:lnTo>
                  <a:pt x="742767" y="2593778"/>
                </a:lnTo>
                <a:lnTo>
                  <a:pt x="620955" y="2619764"/>
                </a:lnTo>
                <a:lnTo>
                  <a:pt x="612835" y="3011186"/>
                </a:lnTo>
                <a:lnTo>
                  <a:pt x="590096" y="3056662"/>
                </a:lnTo>
                <a:lnTo>
                  <a:pt x="547868" y="3050166"/>
                </a:lnTo>
                <a:lnTo>
                  <a:pt x="499144" y="3024179"/>
                </a:lnTo>
                <a:lnTo>
                  <a:pt x="473157" y="3017682"/>
                </a:lnTo>
                <a:lnTo>
                  <a:pt x="429305" y="3038796"/>
                </a:lnTo>
                <a:lnTo>
                  <a:pt x="408191" y="3055038"/>
                </a:lnTo>
                <a:lnTo>
                  <a:pt x="369211" y="3048541"/>
                </a:lnTo>
                <a:lnTo>
                  <a:pt x="331856" y="3032300"/>
                </a:lnTo>
                <a:lnTo>
                  <a:pt x="292876" y="3032300"/>
                </a:lnTo>
                <a:lnTo>
                  <a:pt x="271762" y="3077776"/>
                </a:lnTo>
                <a:lnTo>
                  <a:pt x="294500" y="3124877"/>
                </a:lnTo>
                <a:lnTo>
                  <a:pt x="318862" y="3139494"/>
                </a:lnTo>
                <a:lnTo>
                  <a:pt x="448795" y="3121628"/>
                </a:lnTo>
                <a:lnTo>
                  <a:pt x="705412" y="3162232"/>
                </a:lnTo>
                <a:lnTo>
                  <a:pt x="978270" y="3072904"/>
                </a:lnTo>
                <a:lnTo>
                  <a:pt x="1230014" y="3048541"/>
                </a:lnTo>
                <a:lnTo>
                  <a:pt x="1450899" y="3071280"/>
                </a:lnTo>
                <a:lnTo>
                  <a:pt x="1483382" y="3115132"/>
                </a:lnTo>
                <a:lnTo>
                  <a:pt x="1629556" y="3116756"/>
                </a:lnTo>
                <a:lnTo>
                  <a:pt x="1694523" y="3085897"/>
                </a:lnTo>
                <a:lnTo>
                  <a:pt x="1769234" y="3081025"/>
                </a:lnTo>
                <a:lnTo>
                  <a:pt x="1860187" y="3085897"/>
                </a:lnTo>
                <a:lnTo>
                  <a:pt x="2016106" y="2946220"/>
                </a:lnTo>
                <a:lnTo>
                  <a:pt x="2173649" y="2921857"/>
                </a:lnTo>
                <a:lnTo>
                  <a:pt x="2353930" y="2788676"/>
                </a:lnTo>
                <a:lnTo>
                  <a:pt x="2469245" y="2715589"/>
                </a:lnTo>
                <a:lnTo>
                  <a:pt x="2617043" y="2681482"/>
                </a:lnTo>
                <a:lnTo>
                  <a:pt x="3572047" y="2653871"/>
                </a:lnTo>
                <a:lnTo>
                  <a:pt x="3654879" y="2631133"/>
                </a:lnTo>
                <a:lnTo>
                  <a:pt x="3807550" y="2527187"/>
                </a:lnTo>
                <a:lnTo>
                  <a:pt x="3948852" y="2351778"/>
                </a:lnTo>
                <a:lnTo>
                  <a:pt x="4135630" y="2238087"/>
                </a:lnTo>
                <a:lnTo>
                  <a:pt x="4223334" y="2150383"/>
                </a:lnTo>
                <a:lnTo>
                  <a:pt x="4263938" y="2077296"/>
                </a:lnTo>
                <a:lnTo>
                  <a:pt x="4387374" y="2036692"/>
                </a:lnTo>
                <a:lnTo>
                  <a:pt x="4452340" y="2030195"/>
                </a:lnTo>
                <a:lnTo>
                  <a:pt x="4520555" y="1910008"/>
                </a:lnTo>
                <a:lnTo>
                  <a:pt x="4510810" y="1854786"/>
                </a:lnTo>
                <a:lnTo>
                  <a:pt x="4548165" y="1843417"/>
                </a:lnTo>
                <a:lnTo>
                  <a:pt x="4580648" y="1888894"/>
                </a:lnTo>
                <a:lnTo>
                  <a:pt x="4689467" y="1953860"/>
                </a:lnTo>
                <a:lnTo>
                  <a:pt x="4827520" y="2002585"/>
                </a:lnTo>
                <a:lnTo>
                  <a:pt x="4968822" y="2059430"/>
                </a:lnTo>
                <a:lnTo>
                  <a:pt x="5045157" y="2111403"/>
                </a:lnTo>
                <a:lnTo>
                  <a:pt x="5077640" y="2173121"/>
                </a:lnTo>
                <a:lnTo>
                  <a:pt x="5183210" y="2252705"/>
                </a:lnTo>
                <a:lnTo>
                  <a:pt x="5223814" y="2350154"/>
                </a:lnTo>
                <a:lnTo>
                  <a:pt x="5313143" y="2389134"/>
                </a:lnTo>
                <a:lnTo>
                  <a:pt x="5616860" y="2447604"/>
                </a:lnTo>
                <a:lnTo>
                  <a:pt x="5745169" y="2546677"/>
                </a:lnTo>
                <a:lnTo>
                  <a:pt x="5925450" y="2733455"/>
                </a:lnTo>
                <a:lnTo>
                  <a:pt x="6128469" y="2788676"/>
                </a:lnTo>
                <a:lnTo>
                  <a:pt x="6307903" y="2848236"/>
                </a:lnTo>
                <a:lnTo>
                  <a:pt x="6322475" y="2846415"/>
                </a:lnTo>
                <a:lnTo>
                  <a:pt x="6311546" y="3558627"/>
                </a:lnTo>
                <a:lnTo>
                  <a:pt x="0" y="3551341"/>
                </a:lnTo>
                <a:cubicBezTo>
                  <a:pt x="2429" y="2369178"/>
                  <a:pt x="4857" y="1187016"/>
                  <a:pt x="540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75000"/>
                  <a:shade val="30000"/>
                  <a:satMod val="115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96C63887-5F0A-21E7-FCC8-FA18595F2CDD}"/>
              </a:ext>
            </a:extLst>
          </p:cNvPr>
          <p:cNvSpPr/>
          <p:nvPr/>
        </p:nvSpPr>
        <p:spPr>
          <a:xfrm>
            <a:off x="5812424" y="4313961"/>
            <a:ext cx="120493" cy="126835"/>
          </a:xfrm>
          <a:prstGeom prst="ellipse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6C1BFF87-7429-2BE7-2BE1-EAB41E665F62}"/>
              </a:ext>
            </a:extLst>
          </p:cNvPr>
          <p:cNvSpPr/>
          <p:nvPr/>
        </p:nvSpPr>
        <p:spPr>
          <a:xfrm>
            <a:off x="4604320" y="4640561"/>
            <a:ext cx="120493" cy="126835"/>
          </a:xfrm>
          <a:prstGeom prst="ellipse">
            <a:avLst/>
          </a:prstGeom>
          <a:solidFill>
            <a:srgbClr val="8686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7CA8C482-2993-868F-F278-009F07D6532B}"/>
              </a:ext>
            </a:extLst>
          </p:cNvPr>
          <p:cNvSpPr/>
          <p:nvPr/>
        </p:nvSpPr>
        <p:spPr>
          <a:xfrm>
            <a:off x="3312631" y="4913256"/>
            <a:ext cx="150173" cy="154963"/>
          </a:xfrm>
          <a:prstGeom prst="ellipse">
            <a:avLst/>
          </a:prstGeom>
          <a:solidFill>
            <a:srgbClr val="8282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2CC976D-DE9B-FAE4-B9AF-03D85B45CE36}"/>
              </a:ext>
            </a:extLst>
          </p:cNvPr>
          <p:cNvSpPr/>
          <p:nvPr/>
        </p:nvSpPr>
        <p:spPr>
          <a:xfrm>
            <a:off x="1776161" y="5160612"/>
            <a:ext cx="924839" cy="131083"/>
          </a:xfrm>
          <a:prstGeom prst="rect">
            <a:avLst/>
          </a:prstGeom>
          <a:solidFill>
            <a:srgbClr val="7E7E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602AE3F8-6BF6-FA0E-DCF8-C85877832D1F}"/>
              </a:ext>
            </a:extLst>
          </p:cNvPr>
          <p:cNvGrpSpPr/>
          <p:nvPr/>
        </p:nvGrpSpPr>
        <p:grpSpPr>
          <a:xfrm>
            <a:off x="4285075" y="2193384"/>
            <a:ext cx="371919" cy="512164"/>
            <a:chOff x="7507052" y="1870275"/>
            <a:chExt cx="894756" cy="816912"/>
          </a:xfrm>
        </p:grpSpPr>
        <p:sp>
          <p:nvSpPr>
            <p:cNvPr id="201" name="Isosceles Triangle 200">
              <a:extLst>
                <a:ext uri="{FF2B5EF4-FFF2-40B4-BE49-F238E27FC236}">
                  <a16:creationId xmlns:a16="http://schemas.microsoft.com/office/drawing/2014/main" id="{ECBE9F58-B39A-3DF5-5564-22D78B707300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Isosceles Triangle 201">
              <a:extLst>
                <a:ext uri="{FF2B5EF4-FFF2-40B4-BE49-F238E27FC236}">
                  <a16:creationId xmlns:a16="http://schemas.microsoft.com/office/drawing/2014/main" id="{DB397D13-94D9-85E9-49B0-AEC7667D727C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Isosceles Triangle 202">
              <a:extLst>
                <a:ext uri="{FF2B5EF4-FFF2-40B4-BE49-F238E27FC236}">
                  <a16:creationId xmlns:a16="http://schemas.microsoft.com/office/drawing/2014/main" id="{EC9B49FC-7975-97CC-EF32-F8F825B53FB9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391289ED-3AAE-549F-62E9-39E20BBAB916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F03DF9B4-C2D5-E0E8-7915-F91BD9C125CF}"/>
              </a:ext>
            </a:extLst>
          </p:cNvPr>
          <p:cNvGrpSpPr/>
          <p:nvPr/>
        </p:nvGrpSpPr>
        <p:grpSpPr>
          <a:xfrm>
            <a:off x="5130686" y="2700143"/>
            <a:ext cx="371919" cy="512164"/>
            <a:chOff x="7507052" y="1870275"/>
            <a:chExt cx="894756" cy="816912"/>
          </a:xfrm>
        </p:grpSpPr>
        <p:sp>
          <p:nvSpPr>
            <p:cNvPr id="197" name="Isosceles Triangle 196">
              <a:extLst>
                <a:ext uri="{FF2B5EF4-FFF2-40B4-BE49-F238E27FC236}">
                  <a16:creationId xmlns:a16="http://schemas.microsoft.com/office/drawing/2014/main" id="{4E52F491-CADB-5EF9-B7B2-723061BC6DDA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Isosceles Triangle 197">
              <a:extLst>
                <a:ext uri="{FF2B5EF4-FFF2-40B4-BE49-F238E27FC236}">
                  <a16:creationId xmlns:a16="http://schemas.microsoft.com/office/drawing/2014/main" id="{C3072896-B7A7-901B-F833-F8CCA9402862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Isosceles Triangle 198">
              <a:extLst>
                <a:ext uri="{FF2B5EF4-FFF2-40B4-BE49-F238E27FC236}">
                  <a16:creationId xmlns:a16="http://schemas.microsoft.com/office/drawing/2014/main" id="{721A9085-5AD9-6F19-DFE8-28D14BEC9F92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7F81EC3C-D92F-3B5D-F639-052801346DBE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96BAA877-ACCB-E083-857E-43A8CF78D345}"/>
              </a:ext>
            </a:extLst>
          </p:cNvPr>
          <p:cNvGrpSpPr/>
          <p:nvPr/>
        </p:nvGrpSpPr>
        <p:grpSpPr>
          <a:xfrm>
            <a:off x="2662140" y="1554899"/>
            <a:ext cx="371919" cy="512164"/>
            <a:chOff x="7507052" y="1870275"/>
            <a:chExt cx="894756" cy="816912"/>
          </a:xfrm>
        </p:grpSpPr>
        <p:sp>
          <p:nvSpPr>
            <p:cNvPr id="193" name="Isosceles Triangle 192">
              <a:extLst>
                <a:ext uri="{FF2B5EF4-FFF2-40B4-BE49-F238E27FC236}">
                  <a16:creationId xmlns:a16="http://schemas.microsoft.com/office/drawing/2014/main" id="{6D12F1C6-579E-4538-135E-80C3B1A0C9B1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Isosceles Triangle 193">
              <a:extLst>
                <a:ext uri="{FF2B5EF4-FFF2-40B4-BE49-F238E27FC236}">
                  <a16:creationId xmlns:a16="http://schemas.microsoft.com/office/drawing/2014/main" id="{4367E95E-A454-975B-C214-5113AF593F53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Isosceles Triangle 194">
              <a:extLst>
                <a:ext uri="{FF2B5EF4-FFF2-40B4-BE49-F238E27FC236}">
                  <a16:creationId xmlns:a16="http://schemas.microsoft.com/office/drawing/2014/main" id="{EBE9B911-57E2-D217-D9A1-6FB74C3EF67F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61F8A5DE-A5DD-59B7-3EF9-FE1EAD032836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BB2685BD-FA31-6CDB-B834-3F3C00E7E371}"/>
              </a:ext>
            </a:extLst>
          </p:cNvPr>
          <p:cNvGrpSpPr/>
          <p:nvPr/>
        </p:nvGrpSpPr>
        <p:grpSpPr>
          <a:xfrm>
            <a:off x="1075837" y="758340"/>
            <a:ext cx="371919" cy="512164"/>
            <a:chOff x="7507052" y="1870275"/>
            <a:chExt cx="894756" cy="816912"/>
          </a:xfrm>
        </p:grpSpPr>
        <p:sp>
          <p:nvSpPr>
            <p:cNvPr id="189" name="Isosceles Triangle 188">
              <a:extLst>
                <a:ext uri="{FF2B5EF4-FFF2-40B4-BE49-F238E27FC236}">
                  <a16:creationId xmlns:a16="http://schemas.microsoft.com/office/drawing/2014/main" id="{6C3A5366-0BEF-C16C-AB42-43E2405EA5E9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Isosceles Triangle 189">
              <a:extLst>
                <a:ext uri="{FF2B5EF4-FFF2-40B4-BE49-F238E27FC236}">
                  <a16:creationId xmlns:a16="http://schemas.microsoft.com/office/drawing/2014/main" id="{39C20F49-847E-DC1D-4493-61CDE0E53932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Isosceles Triangle 190">
              <a:extLst>
                <a:ext uri="{FF2B5EF4-FFF2-40B4-BE49-F238E27FC236}">
                  <a16:creationId xmlns:a16="http://schemas.microsoft.com/office/drawing/2014/main" id="{67C05DE2-95E0-5D39-9494-902832F7E7BB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61A76FB6-699A-A2F9-0F9C-69ED7841B95D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C95227D4-5255-7F6F-9935-DF8416BFBA5F}"/>
              </a:ext>
            </a:extLst>
          </p:cNvPr>
          <p:cNvGrpSpPr/>
          <p:nvPr/>
        </p:nvGrpSpPr>
        <p:grpSpPr>
          <a:xfrm>
            <a:off x="7916385" y="4018251"/>
            <a:ext cx="371919" cy="512164"/>
            <a:chOff x="7507052" y="1870275"/>
            <a:chExt cx="894756" cy="816912"/>
          </a:xfrm>
        </p:grpSpPr>
        <p:sp>
          <p:nvSpPr>
            <p:cNvPr id="185" name="Isosceles Triangle 184">
              <a:extLst>
                <a:ext uri="{FF2B5EF4-FFF2-40B4-BE49-F238E27FC236}">
                  <a16:creationId xmlns:a16="http://schemas.microsoft.com/office/drawing/2014/main" id="{6D766791-51AB-A981-48D6-2D6316934B72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Isosceles Triangle 185">
              <a:extLst>
                <a:ext uri="{FF2B5EF4-FFF2-40B4-BE49-F238E27FC236}">
                  <a16:creationId xmlns:a16="http://schemas.microsoft.com/office/drawing/2014/main" id="{9A782B6E-A4CB-F361-824B-8333C8FEBF8A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Isosceles Triangle 186">
              <a:extLst>
                <a:ext uri="{FF2B5EF4-FFF2-40B4-BE49-F238E27FC236}">
                  <a16:creationId xmlns:a16="http://schemas.microsoft.com/office/drawing/2014/main" id="{5E24D49A-9B33-1D8E-4FA5-C4997399F819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67B49B4B-242B-C4D9-7CA0-9A6C8CC0015F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E77BFEED-154D-4ADF-621F-3D13EB17942C}"/>
              </a:ext>
            </a:extLst>
          </p:cNvPr>
          <p:cNvGrpSpPr/>
          <p:nvPr/>
        </p:nvGrpSpPr>
        <p:grpSpPr>
          <a:xfrm>
            <a:off x="9588122" y="5110074"/>
            <a:ext cx="371919" cy="512164"/>
            <a:chOff x="7507052" y="1870275"/>
            <a:chExt cx="894756" cy="816912"/>
          </a:xfrm>
        </p:grpSpPr>
        <p:sp>
          <p:nvSpPr>
            <p:cNvPr id="181" name="Isosceles Triangle 180">
              <a:extLst>
                <a:ext uri="{FF2B5EF4-FFF2-40B4-BE49-F238E27FC236}">
                  <a16:creationId xmlns:a16="http://schemas.microsoft.com/office/drawing/2014/main" id="{D1B40C67-2D16-85CE-FE1D-8A6858F22AE9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Isosceles Triangle 181">
              <a:extLst>
                <a:ext uri="{FF2B5EF4-FFF2-40B4-BE49-F238E27FC236}">
                  <a16:creationId xmlns:a16="http://schemas.microsoft.com/office/drawing/2014/main" id="{51DC1C30-7CDC-1FB9-81CE-BE9F8497B926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Isosceles Triangle 182">
              <a:extLst>
                <a:ext uri="{FF2B5EF4-FFF2-40B4-BE49-F238E27FC236}">
                  <a16:creationId xmlns:a16="http://schemas.microsoft.com/office/drawing/2014/main" id="{F8F27528-8C44-21BC-DE81-CD20B7F7A24B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BF0E95A7-AD73-7A3A-CD0C-E796913156ED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CD4DD166-FF1F-6EB1-495B-1F332274A5B0}"/>
              </a:ext>
            </a:extLst>
          </p:cNvPr>
          <p:cNvSpPr/>
          <p:nvPr/>
        </p:nvSpPr>
        <p:spPr>
          <a:xfrm>
            <a:off x="0" y="0"/>
            <a:ext cx="12192000" cy="13495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19A255-547A-260D-4EFD-45812831F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36"/>
            <a:ext cx="10515600" cy="1320537"/>
          </a:xfrm>
        </p:spPr>
        <p:txBody>
          <a:bodyPr/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Cave as Microbial Sinks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35EF7EE0-E243-1D44-CCC1-B37CD2578202}"/>
              </a:ext>
            </a:extLst>
          </p:cNvPr>
          <p:cNvSpPr/>
          <p:nvPr/>
        </p:nvSpPr>
        <p:spPr>
          <a:xfrm>
            <a:off x="10103556" y="5699198"/>
            <a:ext cx="2128154" cy="1158802"/>
          </a:xfrm>
          <a:prstGeom prst="rect">
            <a:avLst/>
          </a:prstGeom>
          <a:gradFill flip="none" rotWithShape="1">
            <a:gsLst>
              <a:gs pos="0">
                <a:srgbClr val="646464"/>
              </a:gs>
              <a:gs pos="100000">
                <a:srgbClr val="777777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4D3780C-E67C-C4F3-F064-B109D199C9BB}"/>
              </a:ext>
            </a:extLst>
          </p:cNvPr>
          <p:cNvSpPr/>
          <p:nvPr/>
        </p:nvSpPr>
        <p:spPr>
          <a:xfrm>
            <a:off x="55924" y="1470108"/>
            <a:ext cx="4288067" cy="1311651"/>
          </a:xfrm>
          <a:prstGeom prst="ellipse">
            <a:avLst/>
          </a:prstGeom>
          <a:solidFill>
            <a:srgbClr val="4A8C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Surface Soil Microbial Community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AB5BA2E-5373-D98A-CAB8-8BB400C90DD7}"/>
              </a:ext>
            </a:extLst>
          </p:cNvPr>
          <p:cNvSpPr/>
          <p:nvPr/>
        </p:nvSpPr>
        <p:spPr>
          <a:xfrm>
            <a:off x="6773773" y="5349819"/>
            <a:ext cx="2927285" cy="1293788"/>
          </a:xfrm>
          <a:prstGeom prst="ellipse">
            <a:avLst/>
          </a:prstGeom>
          <a:solidFill>
            <a:srgbClr val="4A90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Cave Ground Water Microbial Community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C26DAFE-9B31-0D4D-CE0D-9DAA2C59EC12}"/>
              </a:ext>
            </a:extLst>
          </p:cNvPr>
          <p:cNvSpPr/>
          <p:nvPr/>
        </p:nvSpPr>
        <p:spPr>
          <a:xfrm>
            <a:off x="68164" y="4395259"/>
            <a:ext cx="4812539" cy="2380470"/>
          </a:xfrm>
          <a:prstGeom prst="ellipse">
            <a:avLst/>
          </a:prstGeom>
          <a:solidFill>
            <a:srgbClr val="3B1F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Cave Microbial Community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14BE1BE3-9ABC-D19F-165C-F77A3B16D6AC}"/>
              </a:ext>
            </a:extLst>
          </p:cNvPr>
          <p:cNvSpPr/>
          <p:nvPr/>
        </p:nvSpPr>
        <p:spPr>
          <a:xfrm rot="5400000">
            <a:off x="1615039" y="3413624"/>
            <a:ext cx="1490440" cy="4349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Microbes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8BC9461-7CBF-261E-6390-5B087A52F46F}"/>
              </a:ext>
            </a:extLst>
          </p:cNvPr>
          <p:cNvSpPr/>
          <p:nvPr/>
        </p:nvSpPr>
        <p:spPr>
          <a:xfrm flipH="1">
            <a:off x="4888593" y="5732528"/>
            <a:ext cx="1797961" cy="4159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Microbes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34439CA-BB42-31D0-87E4-2196DAA078FE}"/>
              </a:ext>
            </a:extLst>
          </p:cNvPr>
          <p:cNvSpPr/>
          <p:nvPr/>
        </p:nvSpPr>
        <p:spPr>
          <a:xfrm>
            <a:off x="6617740" y="2998595"/>
            <a:ext cx="2380010" cy="1032247"/>
          </a:xfrm>
          <a:prstGeom prst="ellipse">
            <a:avLst/>
          </a:prstGeom>
          <a:solidFill>
            <a:srgbClr val="4A8C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Cave Entrance Soil Microbial Community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DA01C41-1438-DDFA-840E-6CF74CE58D83}"/>
              </a:ext>
            </a:extLst>
          </p:cNvPr>
          <p:cNvSpPr/>
          <p:nvPr/>
        </p:nvSpPr>
        <p:spPr>
          <a:xfrm rot="19669349" flipH="1">
            <a:off x="4840787" y="4528916"/>
            <a:ext cx="2495239" cy="4159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Microbes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D4681BD-9C4A-499B-46E7-0102EDACD5B0}"/>
              </a:ext>
            </a:extLst>
          </p:cNvPr>
          <p:cNvGrpSpPr/>
          <p:nvPr/>
        </p:nvGrpSpPr>
        <p:grpSpPr>
          <a:xfrm>
            <a:off x="5812424" y="2965637"/>
            <a:ext cx="371919" cy="512164"/>
            <a:chOff x="7507052" y="1870275"/>
            <a:chExt cx="894756" cy="816912"/>
          </a:xfrm>
        </p:grpSpPr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C47FF6FD-58DE-9D97-C442-02B4AD2BF812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ADCF050A-DAD2-9402-DED4-A6AFE445318E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352493D6-6C98-87F7-DC15-14ABBBB097DB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3B4C523-2A14-63CF-C43B-462C80D3EF6E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E620BAB-BBD4-CC4E-7546-A890B0F9231B}"/>
              </a:ext>
            </a:extLst>
          </p:cNvPr>
          <p:cNvGrpSpPr/>
          <p:nvPr/>
        </p:nvGrpSpPr>
        <p:grpSpPr>
          <a:xfrm>
            <a:off x="10664001" y="5212720"/>
            <a:ext cx="371919" cy="512164"/>
            <a:chOff x="7507052" y="1870275"/>
            <a:chExt cx="894756" cy="816912"/>
          </a:xfrm>
        </p:grpSpPr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42BFEF6E-69CB-5F84-541D-818BB1290845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785F25CA-CC2B-FFB6-A55E-718365137244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B53D5598-CE45-629A-0A89-3719F2F7130F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BEC2E4B-D9D7-D211-FFC6-07FFD1C5418C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397399C-9C34-66E1-F6AE-B312A331EF9D}"/>
              </a:ext>
            </a:extLst>
          </p:cNvPr>
          <p:cNvGrpSpPr/>
          <p:nvPr/>
        </p:nvGrpSpPr>
        <p:grpSpPr>
          <a:xfrm>
            <a:off x="11600488" y="5197223"/>
            <a:ext cx="371919" cy="512164"/>
            <a:chOff x="7507052" y="1870275"/>
            <a:chExt cx="894756" cy="816912"/>
          </a:xfrm>
        </p:grpSpPr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DFF2B44F-B1D1-826C-D4B3-0A4C735D1968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CB541B38-74B1-A8B1-9B34-5FE5EC04B2F4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D5597333-182E-E1F5-7D88-F44F265D9134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5063D82-D04F-738A-7298-9D7C3DDA94F5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551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294E7-3E0D-4290-A70A-E47CB98CB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F1E39066-0A03-0C51-CAA4-C9FBD85CAB5A}"/>
              </a:ext>
            </a:extLst>
          </p:cNvPr>
          <p:cNvSpPr/>
          <p:nvPr/>
        </p:nvSpPr>
        <p:spPr>
          <a:xfrm>
            <a:off x="-71120" y="1082774"/>
            <a:ext cx="10283170" cy="5775226"/>
          </a:xfrm>
          <a:custGeom>
            <a:avLst/>
            <a:gdLst>
              <a:gd name="csX0" fmla="*/ 5400 w 6322475"/>
              <a:gd name="csY0" fmla="*/ 0 h 3558627"/>
              <a:gd name="csX1" fmla="*/ 804485 w 6322475"/>
              <a:gd name="csY1" fmla="*/ 25986 h 3558627"/>
              <a:gd name="csX2" fmla="*/ 934418 w 6322475"/>
              <a:gd name="csY2" fmla="*/ 38980 h 3558627"/>
              <a:gd name="csX3" fmla="*/ 1028619 w 6322475"/>
              <a:gd name="csY3" fmla="*/ 131557 h 3558627"/>
              <a:gd name="csX4" fmla="*/ 1059478 w 6322475"/>
              <a:gd name="csY4" fmla="*/ 240375 h 3558627"/>
              <a:gd name="csX5" fmla="*/ 1124444 w 6322475"/>
              <a:gd name="csY5" fmla="*/ 282603 h 3558627"/>
              <a:gd name="csX6" fmla="*/ 1359946 w 6322475"/>
              <a:gd name="csY6" fmla="*/ 352442 h 3558627"/>
              <a:gd name="csX7" fmla="*/ 1528859 w 6322475"/>
              <a:gd name="csY7" fmla="*/ 389798 h 3558627"/>
              <a:gd name="csX8" fmla="*/ 1666912 w 6322475"/>
              <a:gd name="csY8" fmla="*/ 440146 h 3558627"/>
              <a:gd name="csX9" fmla="*/ 1723758 w 6322475"/>
              <a:gd name="csY9" fmla="*/ 503488 h 3558627"/>
              <a:gd name="csX10" fmla="*/ 1739999 w 6322475"/>
              <a:gd name="csY10" fmla="*/ 542468 h 3558627"/>
              <a:gd name="csX11" fmla="*/ 1925153 w 6322475"/>
              <a:gd name="csY11" fmla="*/ 641542 h 3558627"/>
              <a:gd name="csX12" fmla="*/ 2072951 w 6322475"/>
              <a:gd name="csY12" fmla="*/ 651287 h 3558627"/>
              <a:gd name="csX13" fmla="*/ 2225622 w 6322475"/>
              <a:gd name="csY13" fmla="*/ 693515 h 3558627"/>
              <a:gd name="csX14" fmla="*/ 2292212 w 6322475"/>
              <a:gd name="csY14" fmla="*/ 711380 h 3558627"/>
              <a:gd name="csX15" fmla="*/ 2379917 w 6322475"/>
              <a:gd name="csY15" fmla="*/ 745488 h 3558627"/>
              <a:gd name="csX16" fmla="*/ 2563446 w 6322475"/>
              <a:gd name="csY16" fmla="*/ 833192 h 3558627"/>
              <a:gd name="csX17" fmla="*/ 3065311 w 6322475"/>
              <a:gd name="csY17" fmla="*/ 1192131 h 3558627"/>
              <a:gd name="csX18" fmla="*/ 3408008 w 6322475"/>
              <a:gd name="csY18" fmla="*/ 1369164 h 3558627"/>
              <a:gd name="csX19" fmla="*/ 3687362 w 6322475"/>
              <a:gd name="csY19" fmla="*/ 1500720 h 3558627"/>
              <a:gd name="csX20" fmla="*/ 3966717 w 6322475"/>
              <a:gd name="csY20" fmla="*/ 1614411 h 3558627"/>
              <a:gd name="csX21" fmla="*/ 4039804 w 6322475"/>
              <a:gd name="csY21" fmla="*/ 1668009 h 3558627"/>
              <a:gd name="csX22" fmla="*/ 4104771 w 6322475"/>
              <a:gd name="csY22" fmla="*/ 1690747 h 3558627"/>
              <a:gd name="csX23" fmla="*/ 4198972 w 6322475"/>
              <a:gd name="csY23" fmla="*/ 1719982 h 3558627"/>
              <a:gd name="csX24" fmla="*/ 4257441 w 6322475"/>
              <a:gd name="csY24" fmla="*/ 1775203 h 3558627"/>
              <a:gd name="csX25" fmla="*/ 4259065 w 6322475"/>
              <a:gd name="csY25" fmla="*/ 1838545 h 3558627"/>
              <a:gd name="csX26" fmla="*/ 4257441 w 6322475"/>
              <a:gd name="csY26" fmla="*/ 1901887 h 3558627"/>
              <a:gd name="csX27" fmla="*/ 4155119 w 6322475"/>
              <a:gd name="csY27" fmla="*/ 1926249 h 3558627"/>
              <a:gd name="csX28" fmla="*/ 4023563 w 6322475"/>
              <a:gd name="csY28" fmla="*/ 1974974 h 3558627"/>
              <a:gd name="csX29" fmla="*/ 3883885 w 6322475"/>
              <a:gd name="csY29" fmla="*/ 2147135 h 3558627"/>
              <a:gd name="csX30" fmla="*/ 3770194 w 6322475"/>
              <a:gd name="csY30" fmla="*/ 2200732 h 3558627"/>
              <a:gd name="csX31" fmla="*/ 3666248 w 6322475"/>
              <a:gd name="csY31" fmla="*/ 2238087 h 3558627"/>
              <a:gd name="csX32" fmla="*/ 3563927 w 6322475"/>
              <a:gd name="csY32" fmla="*/ 2278691 h 3558627"/>
              <a:gd name="csX33" fmla="*/ 3446987 w 6322475"/>
              <a:gd name="csY33" fmla="*/ 2288436 h 3558627"/>
              <a:gd name="csX34" fmla="*/ 3430746 w 6322475"/>
              <a:gd name="csY34" fmla="*/ 2288436 h 3558627"/>
              <a:gd name="csX35" fmla="*/ 3195243 w 6322475"/>
              <a:gd name="csY35" fmla="*/ 2288436 h 3558627"/>
              <a:gd name="csX36" fmla="*/ 3167632 w 6322475"/>
              <a:gd name="csY36" fmla="*/ 2288436 h 3558627"/>
              <a:gd name="csX37" fmla="*/ 2922385 w 6322475"/>
              <a:gd name="csY37" fmla="*/ 2291685 h 3558627"/>
              <a:gd name="csX38" fmla="*/ 2680386 w 6322475"/>
              <a:gd name="csY38" fmla="*/ 2290060 h 3558627"/>
              <a:gd name="csX39" fmla="*/ 2660896 w 6322475"/>
              <a:gd name="csY39" fmla="*/ 2290060 h 3558627"/>
              <a:gd name="csX40" fmla="*/ 2534212 w 6322475"/>
              <a:gd name="csY40" fmla="*/ 2314423 h 3558627"/>
              <a:gd name="csX41" fmla="*/ 2388037 w 6322475"/>
              <a:gd name="csY41" fmla="*/ 2320919 h 3558627"/>
              <a:gd name="csX42" fmla="*/ 2261353 w 6322475"/>
              <a:gd name="csY42" fmla="*/ 2364772 h 3558627"/>
              <a:gd name="csX43" fmla="*/ 2152535 w 6322475"/>
              <a:gd name="csY43" fmla="*/ 2426490 h 3558627"/>
              <a:gd name="csX44" fmla="*/ 2074575 w 6322475"/>
              <a:gd name="csY44" fmla="*/ 2465469 h 3558627"/>
              <a:gd name="csX45" fmla="*/ 1967381 w 6322475"/>
              <a:gd name="csY45" fmla="*/ 2507697 h 3558627"/>
              <a:gd name="csX46" fmla="*/ 1804965 w 6322475"/>
              <a:gd name="csY46" fmla="*/ 2548301 h 3558627"/>
              <a:gd name="csX47" fmla="*/ 1705892 w 6322475"/>
              <a:gd name="csY47" fmla="*/ 2585657 h 3558627"/>
              <a:gd name="csX48" fmla="*/ 1634429 w 6322475"/>
              <a:gd name="csY48" fmla="*/ 2585657 h 3558627"/>
              <a:gd name="csX49" fmla="*/ 1575959 w 6322475"/>
              <a:gd name="csY49" fmla="*/ 2580784 h 3558627"/>
              <a:gd name="csX50" fmla="*/ 1498000 w 6322475"/>
              <a:gd name="csY50" fmla="*/ 2562919 h 3558627"/>
              <a:gd name="csX51" fmla="*/ 1421664 w 6322475"/>
              <a:gd name="csY51" fmla="*/ 2549925 h 3558627"/>
              <a:gd name="csX52" fmla="*/ 1376188 w 6322475"/>
              <a:gd name="csY52" fmla="*/ 2541805 h 3558627"/>
              <a:gd name="csX53" fmla="*/ 1168296 w 6322475"/>
              <a:gd name="csY53" fmla="*/ 2545053 h 3558627"/>
              <a:gd name="csX54" fmla="*/ 1080592 w 6322475"/>
              <a:gd name="csY54" fmla="*/ 2585657 h 3558627"/>
              <a:gd name="csX55" fmla="*/ 953907 w 6322475"/>
              <a:gd name="csY55" fmla="*/ 2579160 h 3558627"/>
              <a:gd name="csX56" fmla="*/ 828847 w 6322475"/>
              <a:gd name="csY56" fmla="*/ 2584033 h 3558627"/>
              <a:gd name="csX57" fmla="*/ 742767 w 6322475"/>
              <a:gd name="csY57" fmla="*/ 2593778 h 3558627"/>
              <a:gd name="csX58" fmla="*/ 620955 w 6322475"/>
              <a:gd name="csY58" fmla="*/ 2619764 h 3558627"/>
              <a:gd name="csX59" fmla="*/ 612835 w 6322475"/>
              <a:gd name="csY59" fmla="*/ 3011186 h 3558627"/>
              <a:gd name="csX60" fmla="*/ 590096 w 6322475"/>
              <a:gd name="csY60" fmla="*/ 3056662 h 3558627"/>
              <a:gd name="csX61" fmla="*/ 547868 w 6322475"/>
              <a:gd name="csY61" fmla="*/ 3050166 h 3558627"/>
              <a:gd name="csX62" fmla="*/ 499144 w 6322475"/>
              <a:gd name="csY62" fmla="*/ 3024179 h 3558627"/>
              <a:gd name="csX63" fmla="*/ 473157 w 6322475"/>
              <a:gd name="csY63" fmla="*/ 3017682 h 3558627"/>
              <a:gd name="csX64" fmla="*/ 429305 w 6322475"/>
              <a:gd name="csY64" fmla="*/ 3038796 h 3558627"/>
              <a:gd name="csX65" fmla="*/ 408191 w 6322475"/>
              <a:gd name="csY65" fmla="*/ 3055038 h 3558627"/>
              <a:gd name="csX66" fmla="*/ 369211 w 6322475"/>
              <a:gd name="csY66" fmla="*/ 3048541 h 3558627"/>
              <a:gd name="csX67" fmla="*/ 331856 w 6322475"/>
              <a:gd name="csY67" fmla="*/ 3032300 h 3558627"/>
              <a:gd name="csX68" fmla="*/ 292876 w 6322475"/>
              <a:gd name="csY68" fmla="*/ 3032300 h 3558627"/>
              <a:gd name="csX69" fmla="*/ 271762 w 6322475"/>
              <a:gd name="csY69" fmla="*/ 3077776 h 3558627"/>
              <a:gd name="csX70" fmla="*/ 294500 w 6322475"/>
              <a:gd name="csY70" fmla="*/ 3124877 h 3558627"/>
              <a:gd name="csX71" fmla="*/ 318862 w 6322475"/>
              <a:gd name="csY71" fmla="*/ 3139494 h 3558627"/>
              <a:gd name="csX72" fmla="*/ 448795 w 6322475"/>
              <a:gd name="csY72" fmla="*/ 3121628 h 3558627"/>
              <a:gd name="csX73" fmla="*/ 705412 w 6322475"/>
              <a:gd name="csY73" fmla="*/ 3162232 h 3558627"/>
              <a:gd name="csX74" fmla="*/ 978270 w 6322475"/>
              <a:gd name="csY74" fmla="*/ 3072904 h 3558627"/>
              <a:gd name="csX75" fmla="*/ 1230014 w 6322475"/>
              <a:gd name="csY75" fmla="*/ 3048541 h 3558627"/>
              <a:gd name="csX76" fmla="*/ 1450899 w 6322475"/>
              <a:gd name="csY76" fmla="*/ 3071280 h 3558627"/>
              <a:gd name="csX77" fmla="*/ 1483382 w 6322475"/>
              <a:gd name="csY77" fmla="*/ 3115132 h 3558627"/>
              <a:gd name="csX78" fmla="*/ 1629556 w 6322475"/>
              <a:gd name="csY78" fmla="*/ 3116756 h 3558627"/>
              <a:gd name="csX79" fmla="*/ 1694523 w 6322475"/>
              <a:gd name="csY79" fmla="*/ 3085897 h 3558627"/>
              <a:gd name="csX80" fmla="*/ 1769234 w 6322475"/>
              <a:gd name="csY80" fmla="*/ 3081025 h 3558627"/>
              <a:gd name="csX81" fmla="*/ 1860187 w 6322475"/>
              <a:gd name="csY81" fmla="*/ 3085897 h 3558627"/>
              <a:gd name="csX82" fmla="*/ 2016106 w 6322475"/>
              <a:gd name="csY82" fmla="*/ 2946220 h 3558627"/>
              <a:gd name="csX83" fmla="*/ 2173649 w 6322475"/>
              <a:gd name="csY83" fmla="*/ 2921857 h 3558627"/>
              <a:gd name="csX84" fmla="*/ 2353930 w 6322475"/>
              <a:gd name="csY84" fmla="*/ 2788676 h 3558627"/>
              <a:gd name="csX85" fmla="*/ 2469245 w 6322475"/>
              <a:gd name="csY85" fmla="*/ 2715589 h 3558627"/>
              <a:gd name="csX86" fmla="*/ 2617043 w 6322475"/>
              <a:gd name="csY86" fmla="*/ 2681482 h 3558627"/>
              <a:gd name="csX87" fmla="*/ 3572047 w 6322475"/>
              <a:gd name="csY87" fmla="*/ 2653871 h 3558627"/>
              <a:gd name="csX88" fmla="*/ 3654879 w 6322475"/>
              <a:gd name="csY88" fmla="*/ 2631133 h 3558627"/>
              <a:gd name="csX89" fmla="*/ 3807550 w 6322475"/>
              <a:gd name="csY89" fmla="*/ 2527187 h 3558627"/>
              <a:gd name="csX90" fmla="*/ 3948852 w 6322475"/>
              <a:gd name="csY90" fmla="*/ 2351778 h 3558627"/>
              <a:gd name="csX91" fmla="*/ 4135630 w 6322475"/>
              <a:gd name="csY91" fmla="*/ 2238087 h 3558627"/>
              <a:gd name="csX92" fmla="*/ 4223334 w 6322475"/>
              <a:gd name="csY92" fmla="*/ 2150383 h 3558627"/>
              <a:gd name="csX93" fmla="*/ 4263938 w 6322475"/>
              <a:gd name="csY93" fmla="*/ 2077296 h 3558627"/>
              <a:gd name="csX94" fmla="*/ 4387374 w 6322475"/>
              <a:gd name="csY94" fmla="*/ 2036692 h 3558627"/>
              <a:gd name="csX95" fmla="*/ 4452340 w 6322475"/>
              <a:gd name="csY95" fmla="*/ 2030195 h 3558627"/>
              <a:gd name="csX96" fmla="*/ 4520555 w 6322475"/>
              <a:gd name="csY96" fmla="*/ 1910008 h 3558627"/>
              <a:gd name="csX97" fmla="*/ 4510810 w 6322475"/>
              <a:gd name="csY97" fmla="*/ 1854786 h 3558627"/>
              <a:gd name="csX98" fmla="*/ 4548165 w 6322475"/>
              <a:gd name="csY98" fmla="*/ 1843417 h 3558627"/>
              <a:gd name="csX99" fmla="*/ 4580648 w 6322475"/>
              <a:gd name="csY99" fmla="*/ 1888894 h 3558627"/>
              <a:gd name="csX100" fmla="*/ 4689467 w 6322475"/>
              <a:gd name="csY100" fmla="*/ 1953860 h 3558627"/>
              <a:gd name="csX101" fmla="*/ 4827520 w 6322475"/>
              <a:gd name="csY101" fmla="*/ 2002585 h 3558627"/>
              <a:gd name="csX102" fmla="*/ 4968822 w 6322475"/>
              <a:gd name="csY102" fmla="*/ 2059430 h 3558627"/>
              <a:gd name="csX103" fmla="*/ 5045157 w 6322475"/>
              <a:gd name="csY103" fmla="*/ 2111403 h 3558627"/>
              <a:gd name="csX104" fmla="*/ 5077640 w 6322475"/>
              <a:gd name="csY104" fmla="*/ 2173121 h 3558627"/>
              <a:gd name="csX105" fmla="*/ 5183210 w 6322475"/>
              <a:gd name="csY105" fmla="*/ 2252705 h 3558627"/>
              <a:gd name="csX106" fmla="*/ 5223814 w 6322475"/>
              <a:gd name="csY106" fmla="*/ 2350154 h 3558627"/>
              <a:gd name="csX107" fmla="*/ 5313143 w 6322475"/>
              <a:gd name="csY107" fmla="*/ 2389134 h 3558627"/>
              <a:gd name="csX108" fmla="*/ 5616860 w 6322475"/>
              <a:gd name="csY108" fmla="*/ 2447604 h 3558627"/>
              <a:gd name="csX109" fmla="*/ 5745169 w 6322475"/>
              <a:gd name="csY109" fmla="*/ 2546677 h 3558627"/>
              <a:gd name="csX110" fmla="*/ 5925450 w 6322475"/>
              <a:gd name="csY110" fmla="*/ 2733455 h 3558627"/>
              <a:gd name="csX111" fmla="*/ 6128469 w 6322475"/>
              <a:gd name="csY111" fmla="*/ 2788676 h 3558627"/>
              <a:gd name="csX112" fmla="*/ 6307903 w 6322475"/>
              <a:gd name="csY112" fmla="*/ 2848236 h 3558627"/>
              <a:gd name="csX113" fmla="*/ 6322475 w 6322475"/>
              <a:gd name="csY113" fmla="*/ 2846415 h 3558627"/>
              <a:gd name="csX114" fmla="*/ 6311546 w 6322475"/>
              <a:gd name="csY114" fmla="*/ 3558627 h 3558627"/>
              <a:gd name="csX115" fmla="*/ 0 w 6322475"/>
              <a:gd name="csY115" fmla="*/ 3551341 h 3558627"/>
              <a:gd name="csX116" fmla="*/ 5400 w 6322475"/>
              <a:gd name="csY116" fmla="*/ 0 h 35586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</a:cxnLst>
            <a:rect l="l" t="t" r="r" b="b"/>
            <a:pathLst>
              <a:path w="6322475" h="3558627">
                <a:moveTo>
                  <a:pt x="5400" y="0"/>
                </a:moveTo>
                <a:lnTo>
                  <a:pt x="804485" y="25986"/>
                </a:lnTo>
                <a:lnTo>
                  <a:pt x="934418" y="38980"/>
                </a:lnTo>
                <a:lnTo>
                  <a:pt x="1028619" y="131557"/>
                </a:lnTo>
                <a:lnTo>
                  <a:pt x="1059478" y="240375"/>
                </a:lnTo>
                <a:lnTo>
                  <a:pt x="1124444" y="282603"/>
                </a:lnTo>
                <a:lnTo>
                  <a:pt x="1359946" y="352442"/>
                </a:lnTo>
                <a:lnTo>
                  <a:pt x="1528859" y="389798"/>
                </a:lnTo>
                <a:lnTo>
                  <a:pt x="1666912" y="440146"/>
                </a:lnTo>
                <a:lnTo>
                  <a:pt x="1723758" y="503488"/>
                </a:lnTo>
                <a:lnTo>
                  <a:pt x="1739999" y="542468"/>
                </a:lnTo>
                <a:lnTo>
                  <a:pt x="1925153" y="641542"/>
                </a:lnTo>
                <a:lnTo>
                  <a:pt x="2072951" y="651287"/>
                </a:lnTo>
                <a:lnTo>
                  <a:pt x="2225622" y="693515"/>
                </a:lnTo>
                <a:lnTo>
                  <a:pt x="2292212" y="711380"/>
                </a:lnTo>
                <a:lnTo>
                  <a:pt x="2379917" y="745488"/>
                </a:lnTo>
                <a:lnTo>
                  <a:pt x="2563446" y="833192"/>
                </a:lnTo>
                <a:lnTo>
                  <a:pt x="3065311" y="1192131"/>
                </a:lnTo>
                <a:lnTo>
                  <a:pt x="3408008" y="1369164"/>
                </a:lnTo>
                <a:lnTo>
                  <a:pt x="3687362" y="1500720"/>
                </a:lnTo>
                <a:lnTo>
                  <a:pt x="3966717" y="1614411"/>
                </a:lnTo>
                <a:lnTo>
                  <a:pt x="4039804" y="1668009"/>
                </a:lnTo>
                <a:lnTo>
                  <a:pt x="4104771" y="1690747"/>
                </a:lnTo>
                <a:lnTo>
                  <a:pt x="4198972" y="1719982"/>
                </a:lnTo>
                <a:lnTo>
                  <a:pt x="4257441" y="1775203"/>
                </a:lnTo>
                <a:cubicBezTo>
                  <a:pt x="4257982" y="1796317"/>
                  <a:pt x="4258524" y="1817431"/>
                  <a:pt x="4259065" y="1838545"/>
                </a:cubicBezTo>
                <a:cubicBezTo>
                  <a:pt x="4258524" y="1859659"/>
                  <a:pt x="4257982" y="1880773"/>
                  <a:pt x="4257441" y="1901887"/>
                </a:cubicBezTo>
                <a:lnTo>
                  <a:pt x="4155119" y="1926249"/>
                </a:lnTo>
                <a:lnTo>
                  <a:pt x="4023563" y="1974974"/>
                </a:lnTo>
                <a:lnTo>
                  <a:pt x="3883885" y="2147135"/>
                </a:lnTo>
                <a:lnTo>
                  <a:pt x="3770194" y="2200732"/>
                </a:lnTo>
                <a:lnTo>
                  <a:pt x="3666248" y="2238087"/>
                </a:lnTo>
                <a:lnTo>
                  <a:pt x="3563927" y="2278691"/>
                </a:lnTo>
                <a:lnTo>
                  <a:pt x="3446987" y="2288436"/>
                </a:lnTo>
                <a:lnTo>
                  <a:pt x="3430746" y="2288436"/>
                </a:lnTo>
                <a:lnTo>
                  <a:pt x="3195243" y="2288436"/>
                </a:lnTo>
                <a:lnTo>
                  <a:pt x="3167632" y="2288436"/>
                </a:lnTo>
                <a:lnTo>
                  <a:pt x="2922385" y="2291685"/>
                </a:lnTo>
                <a:lnTo>
                  <a:pt x="2680386" y="2290060"/>
                </a:lnTo>
                <a:lnTo>
                  <a:pt x="2660896" y="2290060"/>
                </a:lnTo>
                <a:lnTo>
                  <a:pt x="2534212" y="2314423"/>
                </a:lnTo>
                <a:lnTo>
                  <a:pt x="2388037" y="2320919"/>
                </a:lnTo>
                <a:lnTo>
                  <a:pt x="2261353" y="2364772"/>
                </a:lnTo>
                <a:lnTo>
                  <a:pt x="2152535" y="2426490"/>
                </a:lnTo>
                <a:lnTo>
                  <a:pt x="2074575" y="2465469"/>
                </a:lnTo>
                <a:lnTo>
                  <a:pt x="1967381" y="2507697"/>
                </a:lnTo>
                <a:lnTo>
                  <a:pt x="1804965" y="2548301"/>
                </a:lnTo>
                <a:lnTo>
                  <a:pt x="1705892" y="2585657"/>
                </a:lnTo>
                <a:lnTo>
                  <a:pt x="1634429" y="2585657"/>
                </a:lnTo>
                <a:lnTo>
                  <a:pt x="1575959" y="2580784"/>
                </a:lnTo>
                <a:lnTo>
                  <a:pt x="1498000" y="2562919"/>
                </a:lnTo>
                <a:lnTo>
                  <a:pt x="1421664" y="2549925"/>
                </a:lnTo>
                <a:lnTo>
                  <a:pt x="1376188" y="2541805"/>
                </a:lnTo>
                <a:lnTo>
                  <a:pt x="1168296" y="2545053"/>
                </a:lnTo>
                <a:lnTo>
                  <a:pt x="1080592" y="2585657"/>
                </a:lnTo>
                <a:lnTo>
                  <a:pt x="953907" y="2579160"/>
                </a:lnTo>
                <a:lnTo>
                  <a:pt x="828847" y="2584033"/>
                </a:lnTo>
                <a:lnTo>
                  <a:pt x="742767" y="2593778"/>
                </a:lnTo>
                <a:lnTo>
                  <a:pt x="620955" y="2619764"/>
                </a:lnTo>
                <a:lnTo>
                  <a:pt x="612835" y="3011186"/>
                </a:lnTo>
                <a:lnTo>
                  <a:pt x="590096" y="3056662"/>
                </a:lnTo>
                <a:lnTo>
                  <a:pt x="547868" y="3050166"/>
                </a:lnTo>
                <a:lnTo>
                  <a:pt x="499144" y="3024179"/>
                </a:lnTo>
                <a:lnTo>
                  <a:pt x="473157" y="3017682"/>
                </a:lnTo>
                <a:lnTo>
                  <a:pt x="429305" y="3038796"/>
                </a:lnTo>
                <a:lnTo>
                  <a:pt x="408191" y="3055038"/>
                </a:lnTo>
                <a:lnTo>
                  <a:pt x="369211" y="3048541"/>
                </a:lnTo>
                <a:lnTo>
                  <a:pt x="331856" y="3032300"/>
                </a:lnTo>
                <a:lnTo>
                  <a:pt x="292876" y="3032300"/>
                </a:lnTo>
                <a:lnTo>
                  <a:pt x="271762" y="3077776"/>
                </a:lnTo>
                <a:lnTo>
                  <a:pt x="294500" y="3124877"/>
                </a:lnTo>
                <a:lnTo>
                  <a:pt x="318862" y="3139494"/>
                </a:lnTo>
                <a:lnTo>
                  <a:pt x="448795" y="3121628"/>
                </a:lnTo>
                <a:lnTo>
                  <a:pt x="705412" y="3162232"/>
                </a:lnTo>
                <a:lnTo>
                  <a:pt x="978270" y="3072904"/>
                </a:lnTo>
                <a:lnTo>
                  <a:pt x="1230014" y="3048541"/>
                </a:lnTo>
                <a:lnTo>
                  <a:pt x="1450899" y="3071280"/>
                </a:lnTo>
                <a:lnTo>
                  <a:pt x="1483382" y="3115132"/>
                </a:lnTo>
                <a:lnTo>
                  <a:pt x="1629556" y="3116756"/>
                </a:lnTo>
                <a:lnTo>
                  <a:pt x="1694523" y="3085897"/>
                </a:lnTo>
                <a:lnTo>
                  <a:pt x="1769234" y="3081025"/>
                </a:lnTo>
                <a:lnTo>
                  <a:pt x="1860187" y="3085897"/>
                </a:lnTo>
                <a:lnTo>
                  <a:pt x="2016106" y="2946220"/>
                </a:lnTo>
                <a:lnTo>
                  <a:pt x="2173649" y="2921857"/>
                </a:lnTo>
                <a:lnTo>
                  <a:pt x="2353930" y="2788676"/>
                </a:lnTo>
                <a:lnTo>
                  <a:pt x="2469245" y="2715589"/>
                </a:lnTo>
                <a:lnTo>
                  <a:pt x="2617043" y="2681482"/>
                </a:lnTo>
                <a:lnTo>
                  <a:pt x="3572047" y="2653871"/>
                </a:lnTo>
                <a:lnTo>
                  <a:pt x="3654879" y="2631133"/>
                </a:lnTo>
                <a:lnTo>
                  <a:pt x="3807550" y="2527187"/>
                </a:lnTo>
                <a:lnTo>
                  <a:pt x="3948852" y="2351778"/>
                </a:lnTo>
                <a:lnTo>
                  <a:pt x="4135630" y="2238087"/>
                </a:lnTo>
                <a:lnTo>
                  <a:pt x="4223334" y="2150383"/>
                </a:lnTo>
                <a:lnTo>
                  <a:pt x="4263938" y="2077296"/>
                </a:lnTo>
                <a:lnTo>
                  <a:pt x="4387374" y="2036692"/>
                </a:lnTo>
                <a:lnTo>
                  <a:pt x="4452340" y="2030195"/>
                </a:lnTo>
                <a:lnTo>
                  <a:pt x="4520555" y="1910008"/>
                </a:lnTo>
                <a:lnTo>
                  <a:pt x="4510810" y="1854786"/>
                </a:lnTo>
                <a:lnTo>
                  <a:pt x="4548165" y="1843417"/>
                </a:lnTo>
                <a:lnTo>
                  <a:pt x="4580648" y="1888894"/>
                </a:lnTo>
                <a:lnTo>
                  <a:pt x="4689467" y="1953860"/>
                </a:lnTo>
                <a:lnTo>
                  <a:pt x="4827520" y="2002585"/>
                </a:lnTo>
                <a:lnTo>
                  <a:pt x="4968822" y="2059430"/>
                </a:lnTo>
                <a:lnTo>
                  <a:pt x="5045157" y="2111403"/>
                </a:lnTo>
                <a:lnTo>
                  <a:pt x="5077640" y="2173121"/>
                </a:lnTo>
                <a:lnTo>
                  <a:pt x="5183210" y="2252705"/>
                </a:lnTo>
                <a:lnTo>
                  <a:pt x="5223814" y="2350154"/>
                </a:lnTo>
                <a:lnTo>
                  <a:pt x="5313143" y="2389134"/>
                </a:lnTo>
                <a:lnTo>
                  <a:pt x="5616860" y="2447604"/>
                </a:lnTo>
                <a:lnTo>
                  <a:pt x="5745169" y="2546677"/>
                </a:lnTo>
                <a:lnTo>
                  <a:pt x="5925450" y="2733455"/>
                </a:lnTo>
                <a:lnTo>
                  <a:pt x="6128469" y="2788676"/>
                </a:lnTo>
                <a:lnTo>
                  <a:pt x="6307903" y="2848236"/>
                </a:lnTo>
                <a:lnTo>
                  <a:pt x="6322475" y="2846415"/>
                </a:lnTo>
                <a:lnTo>
                  <a:pt x="6311546" y="3558627"/>
                </a:lnTo>
                <a:lnTo>
                  <a:pt x="0" y="3551341"/>
                </a:lnTo>
                <a:cubicBezTo>
                  <a:pt x="2429" y="2369178"/>
                  <a:pt x="4857" y="1187016"/>
                  <a:pt x="540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75000"/>
                  <a:shade val="30000"/>
                  <a:satMod val="115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A70C31F9-96B0-B634-08D8-A170CEA91F15}"/>
              </a:ext>
            </a:extLst>
          </p:cNvPr>
          <p:cNvSpPr/>
          <p:nvPr/>
        </p:nvSpPr>
        <p:spPr>
          <a:xfrm>
            <a:off x="532536" y="5274725"/>
            <a:ext cx="773043" cy="854257"/>
          </a:xfrm>
          <a:custGeom>
            <a:avLst/>
            <a:gdLst>
              <a:gd name="csX0" fmla="*/ 498764 w 928857"/>
              <a:gd name="csY0" fmla="*/ 126498 h 1026441"/>
              <a:gd name="csX1" fmla="*/ 357809 w 928857"/>
              <a:gd name="csY1" fmla="*/ 524063 h 1026441"/>
              <a:gd name="csX2" fmla="*/ 231311 w 928857"/>
              <a:gd name="csY2" fmla="*/ 701160 h 1026441"/>
              <a:gd name="csX3" fmla="*/ 0 w 928857"/>
              <a:gd name="csY3" fmla="*/ 885486 h 1026441"/>
              <a:gd name="csX4" fmla="*/ 137341 w 928857"/>
              <a:gd name="csY4" fmla="*/ 1026441 h 1026441"/>
              <a:gd name="csX5" fmla="*/ 928857 w 928857"/>
              <a:gd name="csY5" fmla="*/ 997527 h 1026441"/>
              <a:gd name="csX6" fmla="*/ 885486 w 928857"/>
              <a:gd name="csY6" fmla="*/ 0 h 1026441"/>
              <a:gd name="csX7" fmla="*/ 498764 w 928857"/>
              <a:gd name="csY7" fmla="*/ 126498 h 10264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28857" h="1026441">
                <a:moveTo>
                  <a:pt x="498764" y="126498"/>
                </a:moveTo>
                <a:lnTo>
                  <a:pt x="357809" y="524063"/>
                </a:lnTo>
                <a:lnTo>
                  <a:pt x="231311" y="701160"/>
                </a:lnTo>
                <a:lnTo>
                  <a:pt x="0" y="885486"/>
                </a:lnTo>
                <a:lnTo>
                  <a:pt x="137341" y="1026441"/>
                </a:lnTo>
                <a:lnTo>
                  <a:pt x="928857" y="997527"/>
                </a:lnTo>
                <a:lnTo>
                  <a:pt x="885486" y="0"/>
                </a:lnTo>
                <a:lnTo>
                  <a:pt x="498764" y="1264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4" name="Picture 133">
            <a:extLst>
              <a:ext uri="{FF2B5EF4-FFF2-40B4-BE49-F238E27FC236}">
                <a16:creationId xmlns:a16="http://schemas.microsoft.com/office/drawing/2014/main" id="{F70CC8C7-086B-CECD-43B9-E26FCB0B4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15" t="42664" r="24368" b="35097"/>
          <a:stretch>
            <a:fillRect/>
          </a:stretch>
        </p:blipFill>
        <p:spPr>
          <a:xfrm rot="20195378" flipV="1">
            <a:off x="237967" y="4002408"/>
            <a:ext cx="7536701" cy="2430958"/>
          </a:xfrm>
          <a:prstGeom prst="rect">
            <a:avLst/>
          </a:prstGeom>
        </p:spPr>
      </p:pic>
      <p:sp>
        <p:nvSpPr>
          <p:cNvPr id="135" name="Oval 134">
            <a:extLst>
              <a:ext uri="{FF2B5EF4-FFF2-40B4-BE49-F238E27FC236}">
                <a16:creationId xmlns:a16="http://schemas.microsoft.com/office/drawing/2014/main" id="{46AC40A1-57DC-EF95-D3DB-9FFF5077EC77}"/>
              </a:ext>
            </a:extLst>
          </p:cNvPr>
          <p:cNvSpPr/>
          <p:nvPr/>
        </p:nvSpPr>
        <p:spPr>
          <a:xfrm>
            <a:off x="5812424" y="4313961"/>
            <a:ext cx="120493" cy="126835"/>
          </a:xfrm>
          <a:prstGeom prst="ellipse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22CE1B13-3A14-6D25-8791-59A0061ABCF4}"/>
              </a:ext>
            </a:extLst>
          </p:cNvPr>
          <p:cNvSpPr/>
          <p:nvPr/>
        </p:nvSpPr>
        <p:spPr>
          <a:xfrm>
            <a:off x="4604320" y="4640561"/>
            <a:ext cx="120493" cy="126835"/>
          </a:xfrm>
          <a:prstGeom prst="ellipse">
            <a:avLst/>
          </a:prstGeom>
          <a:solidFill>
            <a:srgbClr val="8686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928ECA6B-5F82-382A-01AF-D98784D493EB}"/>
              </a:ext>
            </a:extLst>
          </p:cNvPr>
          <p:cNvSpPr/>
          <p:nvPr/>
        </p:nvSpPr>
        <p:spPr>
          <a:xfrm>
            <a:off x="3312631" y="4913256"/>
            <a:ext cx="150173" cy="154963"/>
          </a:xfrm>
          <a:prstGeom prst="ellipse">
            <a:avLst/>
          </a:prstGeom>
          <a:solidFill>
            <a:srgbClr val="8282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D633F9EB-039E-F98B-4BCC-741F7A8C1A64}"/>
              </a:ext>
            </a:extLst>
          </p:cNvPr>
          <p:cNvSpPr/>
          <p:nvPr/>
        </p:nvSpPr>
        <p:spPr>
          <a:xfrm flipH="1">
            <a:off x="6974021" y="3937152"/>
            <a:ext cx="107813" cy="107813"/>
          </a:xfrm>
          <a:prstGeom prst="ellipse">
            <a:avLst/>
          </a:prstGeom>
          <a:solidFill>
            <a:srgbClr val="4A8C3F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570D2FB4-03A5-103E-12B5-D38636B49CE1}"/>
              </a:ext>
            </a:extLst>
          </p:cNvPr>
          <p:cNvSpPr/>
          <p:nvPr/>
        </p:nvSpPr>
        <p:spPr>
          <a:xfrm flipH="1">
            <a:off x="7115390" y="4025672"/>
            <a:ext cx="107813" cy="107813"/>
          </a:xfrm>
          <a:prstGeom prst="ellipse">
            <a:avLst/>
          </a:prstGeom>
          <a:solidFill>
            <a:srgbClr val="4A8C3F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DBF6D323-0C0C-FC6A-AFD5-A82502C326AD}"/>
              </a:ext>
            </a:extLst>
          </p:cNvPr>
          <p:cNvSpPr/>
          <p:nvPr/>
        </p:nvSpPr>
        <p:spPr>
          <a:xfrm flipH="1">
            <a:off x="7081834" y="4221210"/>
            <a:ext cx="107813" cy="107813"/>
          </a:xfrm>
          <a:prstGeom prst="ellipse">
            <a:avLst/>
          </a:prstGeom>
          <a:solidFill>
            <a:srgbClr val="4A8C3F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6620B90E-8578-1732-CB6E-87F562135CE9}"/>
              </a:ext>
            </a:extLst>
          </p:cNvPr>
          <p:cNvSpPr/>
          <p:nvPr/>
        </p:nvSpPr>
        <p:spPr>
          <a:xfrm flipH="1">
            <a:off x="6291447" y="4667459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354268F6-07AC-73F9-3E1B-675D20FBCD0A}"/>
              </a:ext>
            </a:extLst>
          </p:cNvPr>
          <p:cNvSpPr/>
          <p:nvPr/>
        </p:nvSpPr>
        <p:spPr>
          <a:xfrm flipH="1">
            <a:off x="6387664" y="4734578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08B8A59A-4896-1F01-13E6-CFD4DFC3946D}"/>
              </a:ext>
            </a:extLst>
          </p:cNvPr>
          <p:cNvSpPr/>
          <p:nvPr/>
        </p:nvSpPr>
        <p:spPr>
          <a:xfrm flipH="1">
            <a:off x="6399260" y="4909509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D2569D67-11B6-B9B2-B499-49B82355A66B}"/>
              </a:ext>
            </a:extLst>
          </p:cNvPr>
          <p:cNvSpPr/>
          <p:nvPr/>
        </p:nvSpPr>
        <p:spPr>
          <a:xfrm flipH="1">
            <a:off x="5130686" y="5017323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4264339-1707-60F9-37E7-F8E2CC2547EF}"/>
              </a:ext>
            </a:extLst>
          </p:cNvPr>
          <p:cNvSpPr/>
          <p:nvPr/>
        </p:nvSpPr>
        <p:spPr>
          <a:xfrm flipH="1">
            <a:off x="5301851" y="5110074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04E0F15A-1D17-555B-ADBF-30787D17E09F}"/>
              </a:ext>
            </a:extLst>
          </p:cNvPr>
          <p:cNvSpPr/>
          <p:nvPr/>
        </p:nvSpPr>
        <p:spPr>
          <a:xfrm flipH="1">
            <a:off x="4995231" y="5160612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5C3996ED-7E08-A0F4-2813-588FCF204187}"/>
              </a:ext>
            </a:extLst>
          </p:cNvPr>
          <p:cNvSpPr/>
          <p:nvPr/>
        </p:nvSpPr>
        <p:spPr>
          <a:xfrm flipH="1">
            <a:off x="4238079" y="5239586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6F4D7ACB-5B9B-A916-B13B-9B46B8183AE9}"/>
              </a:ext>
            </a:extLst>
          </p:cNvPr>
          <p:cNvSpPr/>
          <p:nvPr/>
        </p:nvSpPr>
        <p:spPr>
          <a:xfrm flipH="1">
            <a:off x="4246039" y="5344349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50430F25-8569-0B67-DEFD-9A27B2929400}"/>
              </a:ext>
            </a:extLst>
          </p:cNvPr>
          <p:cNvSpPr/>
          <p:nvPr/>
        </p:nvSpPr>
        <p:spPr>
          <a:xfrm flipH="1">
            <a:off x="4441834" y="5293493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E5A88A33-D02C-ABC4-3119-EEE463E78EC3}"/>
              </a:ext>
            </a:extLst>
          </p:cNvPr>
          <p:cNvSpPr/>
          <p:nvPr/>
        </p:nvSpPr>
        <p:spPr>
          <a:xfrm flipH="1">
            <a:off x="3114374" y="5522904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B90767B6-16A4-2D99-3BCC-AAF251738451}"/>
              </a:ext>
            </a:extLst>
          </p:cNvPr>
          <p:cNvSpPr/>
          <p:nvPr/>
        </p:nvSpPr>
        <p:spPr>
          <a:xfrm flipH="1">
            <a:off x="3312631" y="5844963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7EAC1DC1-87A7-5EF8-8E9C-266C4C1489C5}"/>
              </a:ext>
            </a:extLst>
          </p:cNvPr>
          <p:cNvSpPr/>
          <p:nvPr/>
        </p:nvSpPr>
        <p:spPr>
          <a:xfrm flipH="1">
            <a:off x="2490050" y="5541376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13516866-DC39-0BC5-A468-B27301BBF4E1}"/>
              </a:ext>
            </a:extLst>
          </p:cNvPr>
          <p:cNvSpPr/>
          <p:nvPr/>
        </p:nvSpPr>
        <p:spPr>
          <a:xfrm flipH="1">
            <a:off x="2436143" y="5898869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CD43A87A-5F85-2198-4F88-1DAA9FA280CE}"/>
              </a:ext>
            </a:extLst>
          </p:cNvPr>
          <p:cNvSpPr/>
          <p:nvPr/>
        </p:nvSpPr>
        <p:spPr>
          <a:xfrm flipH="1">
            <a:off x="2270444" y="5800046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A3B1572D-C5A7-32C1-C5E3-92E1BC05BC54}"/>
              </a:ext>
            </a:extLst>
          </p:cNvPr>
          <p:cNvSpPr/>
          <p:nvPr/>
        </p:nvSpPr>
        <p:spPr>
          <a:xfrm flipH="1">
            <a:off x="2610109" y="6006682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761AE4FB-7823-119D-10A7-E69999AF38F1}"/>
              </a:ext>
            </a:extLst>
          </p:cNvPr>
          <p:cNvSpPr/>
          <p:nvPr/>
        </p:nvSpPr>
        <p:spPr>
          <a:xfrm flipH="1">
            <a:off x="1315782" y="5313639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7549E7E8-929E-6D00-279E-CC75826D0F3D}"/>
              </a:ext>
            </a:extLst>
          </p:cNvPr>
          <p:cNvSpPr/>
          <p:nvPr/>
        </p:nvSpPr>
        <p:spPr>
          <a:xfrm flipH="1">
            <a:off x="1119076" y="5522904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E027B6D3-05DA-EFC8-36B0-174DDA89D9DC}"/>
              </a:ext>
            </a:extLst>
          </p:cNvPr>
          <p:cNvSpPr/>
          <p:nvPr/>
        </p:nvSpPr>
        <p:spPr>
          <a:xfrm flipH="1">
            <a:off x="838315" y="5907859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AAE3A433-E655-1932-92B2-B57045BE6682}"/>
              </a:ext>
            </a:extLst>
          </p:cNvPr>
          <p:cNvSpPr/>
          <p:nvPr/>
        </p:nvSpPr>
        <p:spPr>
          <a:xfrm flipH="1">
            <a:off x="3258724" y="5980904"/>
            <a:ext cx="107813" cy="107813"/>
          </a:xfrm>
          <a:prstGeom prst="ellipse">
            <a:avLst/>
          </a:prstGeom>
          <a:solidFill>
            <a:srgbClr val="4A90C4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6A3996CA-850C-B4A8-FDCB-3B7EBA1D106E}"/>
              </a:ext>
            </a:extLst>
          </p:cNvPr>
          <p:cNvSpPr/>
          <p:nvPr/>
        </p:nvSpPr>
        <p:spPr>
          <a:xfrm flipH="1">
            <a:off x="968024" y="5508393"/>
            <a:ext cx="107813" cy="107813"/>
          </a:xfrm>
          <a:prstGeom prst="ellipse">
            <a:avLst/>
          </a:prstGeom>
          <a:solidFill>
            <a:srgbClr val="4A90C4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FCA4C38F-1C86-A626-1518-6AD5BBF65972}"/>
              </a:ext>
            </a:extLst>
          </p:cNvPr>
          <p:cNvSpPr/>
          <p:nvPr/>
        </p:nvSpPr>
        <p:spPr>
          <a:xfrm flipH="1">
            <a:off x="2680588" y="6128982"/>
            <a:ext cx="107813" cy="107813"/>
          </a:xfrm>
          <a:prstGeom prst="ellipse">
            <a:avLst/>
          </a:prstGeom>
          <a:solidFill>
            <a:srgbClr val="4A90C4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85DD5830-7DE2-2BD4-0968-4F2D63A82B2A}"/>
              </a:ext>
            </a:extLst>
          </p:cNvPr>
          <p:cNvSpPr/>
          <p:nvPr/>
        </p:nvSpPr>
        <p:spPr>
          <a:xfrm>
            <a:off x="1776161" y="5160612"/>
            <a:ext cx="924839" cy="131083"/>
          </a:xfrm>
          <a:prstGeom prst="rect">
            <a:avLst/>
          </a:prstGeom>
          <a:solidFill>
            <a:srgbClr val="7E7E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B77E989B-87F2-C417-61A9-B2C929F391C7}"/>
              </a:ext>
            </a:extLst>
          </p:cNvPr>
          <p:cNvSpPr/>
          <p:nvPr/>
        </p:nvSpPr>
        <p:spPr>
          <a:xfrm flipH="1">
            <a:off x="5835029" y="3370355"/>
            <a:ext cx="107813" cy="107813"/>
          </a:xfrm>
          <a:prstGeom prst="ellipse">
            <a:avLst/>
          </a:prstGeom>
          <a:solidFill>
            <a:srgbClr val="4A8C3F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CB57C76F-DE71-F991-13BC-B1EEB78FF20D}"/>
              </a:ext>
            </a:extLst>
          </p:cNvPr>
          <p:cNvSpPr/>
          <p:nvPr/>
        </p:nvSpPr>
        <p:spPr>
          <a:xfrm flipH="1">
            <a:off x="4549647" y="2660053"/>
            <a:ext cx="107813" cy="107813"/>
          </a:xfrm>
          <a:prstGeom prst="ellipse">
            <a:avLst/>
          </a:prstGeom>
          <a:solidFill>
            <a:srgbClr val="4A8C3F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DE2DD3D8-C830-823C-9FC5-6C3EEB446ED9}"/>
              </a:ext>
            </a:extLst>
          </p:cNvPr>
          <p:cNvSpPr/>
          <p:nvPr/>
        </p:nvSpPr>
        <p:spPr>
          <a:xfrm flipH="1">
            <a:off x="3366537" y="2111202"/>
            <a:ext cx="107813" cy="107813"/>
          </a:xfrm>
          <a:prstGeom prst="ellipse">
            <a:avLst/>
          </a:prstGeom>
          <a:solidFill>
            <a:srgbClr val="4A8C3F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4024A651-8EE6-CAD8-6E56-173837073C49}"/>
              </a:ext>
            </a:extLst>
          </p:cNvPr>
          <p:cNvSpPr/>
          <p:nvPr/>
        </p:nvSpPr>
        <p:spPr>
          <a:xfrm flipH="1">
            <a:off x="2130768" y="1586268"/>
            <a:ext cx="107813" cy="107813"/>
          </a:xfrm>
          <a:prstGeom prst="ellipse">
            <a:avLst/>
          </a:prstGeom>
          <a:solidFill>
            <a:srgbClr val="4A8C3F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Arrow: Right 166">
            <a:extLst>
              <a:ext uri="{FF2B5EF4-FFF2-40B4-BE49-F238E27FC236}">
                <a16:creationId xmlns:a16="http://schemas.microsoft.com/office/drawing/2014/main" id="{4EA6A32D-5B50-A41E-BC7B-3C55E3BE3D0A}"/>
              </a:ext>
            </a:extLst>
          </p:cNvPr>
          <p:cNvSpPr/>
          <p:nvPr/>
        </p:nvSpPr>
        <p:spPr>
          <a:xfrm rot="5400000">
            <a:off x="-1160508" y="3067235"/>
            <a:ext cx="3636296" cy="5595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Depth from Surface</a:t>
            </a:r>
          </a:p>
        </p:txBody>
      </p:sp>
      <p:sp>
        <p:nvSpPr>
          <p:cNvPr id="168" name="Arrow: Right 167">
            <a:extLst>
              <a:ext uri="{FF2B5EF4-FFF2-40B4-BE49-F238E27FC236}">
                <a16:creationId xmlns:a16="http://schemas.microsoft.com/office/drawing/2014/main" id="{E3AFE2FA-DD52-D951-19BE-B9BF072D974F}"/>
              </a:ext>
            </a:extLst>
          </p:cNvPr>
          <p:cNvSpPr/>
          <p:nvPr/>
        </p:nvSpPr>
        <p:spPr>
          <a:xfrm flipH="1">
            <a:off x="3972872" y="5699198"/>
            <a:ext cx="3636296" cy="5595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Distance from Cave Entrance</a:t>
            </a:r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7190DB32-BFC3-1FD0-6F98-91FDAA3B08D7}"/>
              </a:ext>
            </a:extLst>
          </p:cNvPr>
          <p:cNvGrpSpPr/>
          <p:nvPr/>
        </p:nvGrpSpPr>
        <p:grpSpPr>
          <a:xfrm>
            <a:off x="3981933" y="2040699"/>
            <a:ext cx="371919" cy="512164"/>
            <a:chOff x="7507052" y="1870275"/>
            <a:chExt cx="894756" cy="816912"/>
          </a:xfrm>
        </p:grpSpPr>
        <p:sp>
          <p:nvSpPr>
            <p:cNvPr id="201" name="Isosceles Triangle 200">
              <a:extLst>
                <a:ext uri="{FF2B5EF4-FFF2-40B4-BE49-F238E27FC236}">
                  <a16:creationId xmlns:a16="http://schemas.microsoft.com/office/drawing/2014/main" id="{980118DA-3786-AFDE-F2A0-3A737B61A51E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Isosceles Triangle 201">
              <a:extLst>
                <a:ext uri="{FF2B5EF4-FFF2-40B4-BE49-F238E27FC236}">
                  <a16:creationId xmlns:a16="http://schemas.microsoft.com/office/drawing/2014/main" id="{FA71257E-2B8D-9593-31EC-070C13AE7E2A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Isosceles Triangle 202">
              <a:extLst>
                <a:ext uri="{FF2B5EF4-FFF2-40B4-BE49-F238E27FC236}">
                  <a16:creationId xmlns:a16="http://schemas.microsoft.com/office/drawing/2014/main" id="{3DB93362-4CE4-E749-DEA2-B55DF6B6A57D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A24862A7-4ABC-A3C0-D5DA-957ABE595047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D8363898-1C5F-F273-3CD5-81432CE42BFE}"/>
              </a:ext>
            </a:extLst>
          </p:cNvPr>
          <p:cNvGrpSpPr/>
          <p:nvPr/>
        </p:nvGrpSpPr>
        <p:grpSpPr>
          <a:xfrm>
            <a:off x="5130686" y="2700143"/>
            <a:ext cx="371919" cy="512164"/>
            <a:chOff x="7507052" y="1870275"/>
            <a:chExt cx="894756" cy="816912"/>
          </a:xfrm>
        </p:grpSpPr>
        <p:sp>
          <p:nvSpPr>
            <p:cNvPr id="197" name="Isosceles Triangle 196">
              <a:extLst>
                <a:ext uri="{FF2B5EF4-FFF2-40B4-BE49-F238E27FC236}">
                  <a16:creationId xmlns:a16="http://schemas.microsoft.com/office/drawing/2014/main" id="{F22EAA53-41F0-609A-06A9-495DF14C7393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Isosceles Triangle 197">
              <a:extLst>
                <a:ext uri="{FF2B5EF4-FFF2-40B4-BE49-F238E27FC236}">
                  <a16:creationId xmlns:a16="http://schemas.microsoft.com/office/drawing/2014/main" id="{A9FCD1CB-6666-7184-1156-8A202B210986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Isosceles Triangle 198">
              <a:extLst>
                <a:ext uri="{FF2B5EF4-FFF2-40B4-BE49-F238E27FC236}">
                  <a16:creationId xmlns:a16="http://schemas.microsoft.com/office/drawing/2014/main" id="{CA3C574B-7BF7-D05C-06F4-365CD4CE36B5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D29AACE3-5D88-F280-7834-BE1958B5BCBE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536056F8-6864-41BC-523D-BD0F9AB62C6B}"/>
              </a:ext>
            </a:extLst>
          </p:cNvPr>
          <p:cNvGrpSpPr/>
          <p:nvPr/>
        </p:nvGrpSpPr>
        <p:grpSpPr>
          <a:xfrm>
            <a:off x="2662140" y="1554899"/>
            <a:ext cx="371919" cy="512164"/>
            <a:chOff x="7507052" y="1870275"/>
            <a:chExt cx="894756" cy="816912"/>
          </a:xfrm>
        </p:grpSpPr>
        <p:sp>
          <p:nvSpPr>
            <p:cNvPr id="193" name="Isosceles Triangle 192">
              <a:extLst>
                <a:ext uri="{FF2B5EF4-FFF2-40B4-BE49-F238E27FC236}">
                  <a16:creationId xmlns:a16="http://schemas.microsoft.com/office/drawing/2014/main" id="{01438FDD-1A03-C2C3-A5FF-6492866E42C3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Isosceles Triangle 193">
              <a:extLst>
                <a:ext uri="{FF2B5EF4-FFF2-40B4-BE49-F238E27FC236}">
                  <a16:creationId xmlns:a16="http://schemas.microsoft.com/office/drawing/2014/main" id="{F751E277-AC09-104A-4457-DA1526D3E6D1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Isosceles Triangle 194">
              <a:extLst>
                <a:ext uri="{FF2B5EF4-FFF2-40B4-BE49-F238E27FC236}">
                  <a16:creationId xmlns:a16="http://schemas.microsoft.com/office/drawing/2014/main" id="{B04E6EFE-ADC4-5A3C-38A1-D72FFF1404D8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90EC2910-B2D6-7FCD-D986-71383099D5EE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E9AA196A-5071-240C-B5DF-CF395682A52E}"/>
              </a:ext>
            </a:extLst>
          </p:cNvPr>
          <p:cNvGrpSpPr/>
          <p:nvPr/>
        </p:nvGrpSpPr>
        <p:grpSpPr>
          <a:xfrm>
            <a:off x="1075837" y="758340"/>
            <a:ext cx="371919" cy="512164"/>
            <a:chOff x="7507052" y="1870275"/>
            <a:chExt cx="894756" cy="816912"/>
          </a:xfrm>
        </p:grpSpPr>
        <p:sp>
          <p:nvSpPr>
            <p:cNvPr id="189" name="Isosceles Triangle 188">
              <a:extLst>
                <a:ext uri="{FF2B5EF4-FFF2-40B4-BE49-F238E27FC236}">
                  <a16:creationId xmlns:a16="http://schemas.microsoft.com/office/drawing/2014/main" id="{997CDCED-6EE4-402F-F9AC-9CE8A7428F61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Isosceles Triangle 189">
              <a:extLst>
                <a:ext uri="{FF2B5EF4-FFF2-40B4-BE49-F238E27FC236}">
                  <a16:creationId xmlns:a16="http://schemas.microsoft.com/office/drawing/2014/main" id="{1A5F1940-6779-ADD0-B11B-D63011012A0B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Isosceles Triangle 190">
              <a:extLst>
                <a:ext uri="{FF2B5EF4-FFF2-40B4-BE49-F238E27FC236}">
                  <a16:creationId xmlns:a16="http://schemas.microsoft.com/office/drawing/2014/main" id="{CD0034B1-C13B-D20F-4046-5B2FBAD7738F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4986CEF9-E270-9FBA-1F39-41761574E0EE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1FEF00CB-31E9-CA3D-AD1E-1E4B9ABB1EB7}"/>
              </a:ext>
            </a:extLst>
          </p:cNvPr>
          <p:cNvGrpSpPr/>
          <p:nvPr/>
        </p:nvGrpSpPr>
        <p:grpSpPr>
          <a:xfrm>
            <a:off x="7916385" y="4018251"/>
            <a:ext cx="371919" cy="512164"/>
            <a:chOff x="7507052" y="1870275"/>
            <a:chExt cx="894756" cy="816912"/>
          </a:xfrm>
        </p:grpSpPr>
        <p:sp>
          <p:nvSpPr>
            <p:cNvPr id="185" name="Isosceles Triangle 184">
              <a:extLst>
                <a:ext uri="{FF2B5EF4-FFF2-40B4-BE49-F238E27FC236}">
                  <a16:creationId xmlns:a16="http://schemas.microsoft.com/office/drawing/2014/main" id="{C912F32A-23CD-4E5B-B27F-CAE134F9D378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Isosceles Triangle 185">
              <a:extLst>
                <a:ext uri="{FF2B5EF4-FFF2-40B4-BE49-F238E27FC236}">
                  <a16:creationId xmlns:a16="http://schemas.microsoft.com/office/drawing/2014/main" id="{CC9587AA-88D7-8A47-7C1C-8079088780AD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Isosceles Triangle 186">
              <a:extLst>
                <a:ext uri="{FF2B5EF4-FFF2-40B4-BE49-F238E27FC236}">
                  <a16:creationId xmlns:a16="http://schemas.microsoft.com/office/drawing/2014/main" id="{8A137D08-1665-09A2-F1F8-9E8DC47932F4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1C7900A8-E125-2BBF-D5F7-D2364DF77AA1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36141E74-AC6D-0A05-2993-C6C686F2AAE1}"/>
              </a:ext>
            </a:extLst>
          </p:cNvPr>
          <p:cNvGrpSpPr/>
          <p:nvPr/>
        </p:nvGrpSpPr>
        <p:grpSpPr>
          <a:xfrm>
            <a:off x="9588122" y="5110074"/>
            <a:ext cx="371919" cy="512164"/>
            <a:chOff x="7507052" y="1870275"/>
            <a:chExt cx="894756" cy="816912"/>
          </a:xfrm>
        </p:grpSpPr>
        <p:sp>
          <p:nvSpPr>
            <p:cNvPr id="181" name="Isosceles Triangle 180">
              <a:extLst>
                <a:ext uri="{FF2B5EF4-FFF2-40B4-BE49-F238E27FC236}">
                  <a16:creationId xmlns:a16="http://schemas.microsoft.com/office/drawing/2014/main" id="{77BB32F4-C445-26F3-EA02-D0D5873CE824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Isosceles Triangle 181">
              <a:extLst>
                <a:ext uri="{FF2B5EF4-FFF2-40B4-BE49-F238E27FC236}">
                  <a16:creationId xmlns:a16="http://schemas.microsoft.com/office/drawing/2014/main" id="{10B918F0-49B8-6DF9-C616-C745A032A2D5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Isosceles Triangle 182">
              <a:extLst>
                <a:ext uri="{FF2B5EF4-FFF2-40B4-BE49-F238E27FC236}">
                  <a16:creationId xmlns:a16="http://schemas.microsoft.com/office/drawing/2014/main" id="{1CA29463-5B01-FBE1-C62F-022E3F8FA2F1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F0705C6E-8ECD-18F5-9D24-92A4829A096A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5" name="Picture 174">
            <a:extLst>
              <a:ext uri="{FF2B5EF4-FFF2-40B4-BE49-F238E27FC236}">
                <a16:creationId xmlns:a16="http://schemas.microsoft.com/office/drawing/2014/main" id="{4CDD4509-0979-AACA-6D88-3B76811B13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50" t="60713" r="-1023" b="31581"/>
          <a:stretch>
            <a:fillRect/>
          </a:stretch>
        </p:blipFill>
        <p:spPr>
          <a:xfrm rot="10800000" flipH="1" flipV="1">
            <a:off x="7506502" y="5479710"/>
            <a:ext cx="3631806" cy="842274"/>
          </a:xfrm>
          <a:prstGeom prst="rect">
            <a:avLst/>
          </a:prstGeom>
        </p:spPr>
      </p:pic>
      <p:grpSp>
        <p:nvGrpSpPr>
          <p:cNvPr id="176" name="Group 175">
            <a:extLst>
              <a:ext uri="{FF2B5EF4-FFF2-40B4-BE49-F238E27FC236}">
                <a16:creationId xmlns:a16="http://schemas.microsoft.com/office/drawing/2014/main" id="{F4F2DE4A-1B8A-158D-684A-8C215A3284EC}"/>
              </a:ext>
            </a:extLst>
          </p:cNvPr>
          <p:cNvGrpSpPr/>
          <p:nvPr/>
        </p:nvGrpSpPr>
        <p:grpSpPr>
          <a:xfrm>
            <a:off x="10136103" y="3213130"/>
            <a:ext cx="1835046" cy="1625084"/>
            <a:chOff x="9054437" y="1443497"/>
            <a:chExt cx="2204918" cy="1952635"/>
          </a:xfrm>
        </p:grpSpPr>
        <p:pic>
          <p:nvPicPr>
            <p:cNvPr id="177" name="Picture 176">
              <a:extLst>
                <a:ext uri="{FF2B5EF4-FFF2-40B4-BE49-F238E27FC236}">
                  <a16:creationId xmlns:a16="http://schemas.microsoft.com/office/drawing/2014/main" id="{E3D9F0DD-DCFE-4245-E8B6-61A096614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981" t="42664" r="7189" b="40327"/>
            <a:stretch>
              <a:fillRect/>
            </a:stretch>
          </p:blipFill>
          <p:spPr>
            <a:xfrm rot="10800000" flipH="1" flipV="1">
              <a:off x="9054437" y="1443497"/>
              <a:ext cx="2204918" cy="1952635"/>
            </a:xfrm>
            <a:prstGeom prst="rect">
              <a:avLst/>
            </a:prstGeom>
          </p:spPr>
        </p:pic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CCE1484A-99DB-34CD-49B4-CD3B766A1FC9}"/>
                </a:ext>
              </a:extLst>
            </p:cNvPr>
            <p:cNvSpPr/>
            <p:nvPr/>
          </p:nvSpPr>
          <p:spPr>
            <a:xfrm flipH="1">
              <a:off x="9309956" y="2356876"/>
              <a:ext cx="129544" cy="129544"/>
            </a:xfrm>
            <a:prstGeom prst="ellipse">
              <a:avLst/>
            </a:prstGeom>
            <a:solidFill>
              <a:srgbClr val="3B1F6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DD94FE23-DAE0-B0DC-3EFC-E09E3648F068}"/>
                </a:ext>
              </a:extLst>
            </p:cNvPr>
            <p:cNvSpPr/>
            <p:nvPr/>
          </p:nvSpPr>
          <p:spPr>
            <a:xfrm flipH="1">
              <a:off x="9309956" y="2031715"/>
              <a:ext cx="129544" cy="129544"/>
            </a:xfrm>
            <a:prstGeom prst="ellipse">
              <a:avLst/>
            </a:prstGeom>
            <a:solidFill>
              <a:srgbClr val="4A8C3F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791D88E9-1AF2-31AC-5674-969079100B5B}"/>
                </a:ext>
              </a:extLst>
            </p:cNvPr>
            <p:cNvSpPr/>
            <p:nvPr/>
          </p:nvSpPr>
          <p:spPr>
            <a:xfrm flipH="1">
              <a:off x="9308198" y="2730822"/>
              <a:ext cx="129544" cy="129544"/>
            </a:xfrm>
            <a:prstGeom prst="ellipse">
              <a:avLst/>
            </a:prstGeom>
            <a:solidFill>
              <a:srgbClr val="4A90C4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C6576BE1-4AC6-C17B-A27F-5CFF6321AECB}"/>
              </a:ext>
            </a:extLst>
          </p:cNvPr>
          <p:cNvSpPr/>
          <p:nvPr/>
        </p:nvSpPr>
        <p:spPr>
          <a:xfrm>
            <a:off x="0" y="0"/>
            <a:ext cx="12192000" cy="13495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117EFF-286D-2C72-7A62-00407D6E1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36"/>
            <a:ext cx="10515600" cy="1320537"/>
          </a:xfrm>
        </p:spPr>
        <p:txBody>
          <a:bodyPr/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Moonshiner Cave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667C690E-E66D-0526-16AE-BB0AA6D6A57F}"/>
              </a:ext>
            </a:extLst>
          </p:cNvPr>
          <p:cNvSpPr/>
          <p:nvPr/>
        </p:nvSpPr>
        <p:spPr>
          <a:xfrm>
            <a:off x="10103556" y="5699198"/>
            <a:ext cx="2128154" cy="1158802"/>
          </a:xfrm>
          <a:prstGeom prst="rect">
            <a:avLst/>
          </a:prstGeom>
          <a:gradFill flip="none" rotWithShape="1">
            <a:gsLst>
              <a:gs pos="0">
                <a:srgbClr val="646464"/>
              </a:gs>
              <a:gs pos="100000">
                <a:srgbClr val="777777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13D82971-7D5C-35D4-58F7-A259DE9CDE0D}"/>
              </a:ext>
            </a:extLst>
          </p:cNvPr>
          <p:cNvGrpSpPr/>
          <p:nvPr/>
        </p:nvGrpSpPr>
        <p:grpSpPr>
          <a:xfrm>
            <a:off x="10664001" y="5212720"/>
            <a:ext cx="371919" cy="512164"/>
            <a:chOff x="7507052" y="1870275"/>
            <a:chExt cx="894756" cy="816912"/>
          </a:xfrm>
        </p:grpSpPr>
        <p:sp>
          <p:nvSpPr>
            <p:cNvPr id="207" name="Isosceles Triangle 206">
              <a:extLst>
                <a:ext uri="{FF2B5EF4-FFF2-40B4-BE49-F238E27FC236}">
                  <a16:creationId xmlns:a16="http://schemas.microsoft.com/office/drawing/2014/main" id="{4D2CA913-446D-F930-4A54-7A459AC232C0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Isosceles Triangle 207">
              <a:extLst>
                <a:ext uri="{FF2B5EF4-FFF2-40B4-BE49-F238E27FC236}">
                  <a16:creationId xmlns:a16="http://schemas.microsoft.com/office/drawing/2014/main" id="{8D52936B-2FF8-AE02-3472-B42EA13DD8BB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Isosceles Triangle 208">
              <a:extLst>
                <a:ext uri="{FF2B5EF4-FFF2-40B4-BE49-F238E27FC236}">
                  <a16:creationId xmlns:a16="http://schemas.microsoft.com/office/drawing/2014/main" id="{132B8E4B-17B7-2D2B-63D2-62AEBCEE4119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9B26F270-6230-3F06-7788-016589AD53E2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B83B2F78-1E5F-5149-3C04-DA41976ACF33}"/>
              </a:ext>
            </a:extLst>
          </p:cNvPr>
          <p:cNvGrpSpPr/>
          <p:nvPr/>
        </p:nvGrpSpPr>
        <p:grpSpPr>
          <a:xfrm>
            <a:off x="11600488" y="5197223"/>
            <a:ext cx="371919" cy="512164"/>
            <a:chOff x="7507052" y="1870275"/>
            <a:chExt cx="894756" cy="816912"/>
          </a:xfrm>
        </p:grpSpPr>
        <p:sp>
          <p:nvSpPr>
            <p:cNvPr id="212" name="Isosceles Triangle 211">
              <a:extLst>
                <a:ext uri="{FF2B5EF4-FFF2-40B4-BE49-F238E27FC236}">
                  <a16:creationId xmlns:a16="http://schemas.microsoft.com/office/drawing/2014/main" id="{FD417EAE-F6D0-D610-8432-32522703933E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Isosceles Triangle 212">
              <a:extLst>
                <a:ext uri="{FF2B5EF4-FFF2-40B4-BE49-F238E27FC236}">
                  <a16:creationId xmlns:a16="http://schemas.microsoft.com/office/drawing/2014/main" id="{F21CF96F-A3DE-CACC-922B-70DB8954E033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Isosceles Triangle 213">
              <a:extLst>
                <a:ext uri="{FF2B5EF4-FFF2-40B4-BE49-F238E27FC236}">
                  <a16:creationId xmlns:a16="http://schemas.microsoft.com/office/drawing/2014/main" id="{3FC6D93A-FF5C-C2CD-5A1C-E38CF7E0D1C2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66BCAE90-9000-D2D1-E3F9-495F05F9BDFB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6" name="TextBox 215">
            <a:extLst>
              <a:ext uri="{FF2B5EF4-FFF2-40B4-BE49-F238E27FC236}">
                <a16:creationId xmlns:a16="http://schemas.microsoft.com/office/drawing/2014/main" id="{15E9F11A-7782-BA79-39A1-07BD97355C21}"/>
              </a:ext>
            </a:extLst>
          </p:cNvPr>
          <p:cNvSpPr txBox="1"/>
          <p:nvPr/>
        </p:nvSpPr>
        <p:spPr>
          <a:xfrm>
            <a:off x="6560949" y="4784531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15m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9FD92ED3-137F-F457-9B2F-38010D086A59}"/>
              </a:ext>
            </a:extLst>
          </p:cNvPr>
          <p:cNvSpPr txBox="1"/>
          <p:nvPr/>
        </p:nvSpPr>
        <p:spPr>
          <a:xfrm>
            <a:off x="4821173" y="4677543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30m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A9BD7CC4-CCB8-2962-D9BE-1B3B7B549367}"/>
              </a:ext>
            </a:extLst>
          </p:cNvPr>
          <p:cNvSpPr txBox="1"/>
          <p:nvPr/>
        </p:nvSpPr>
        <p:spPr>
          <a:xfrm>
            <a:off x="2850349" y="5179368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60m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53E9E9C9-300E-2CD5-94C5-85DCAD941F35}"/>
              </a:ext>
            </a:extLst>
          </p:cNvPr>
          <p:cNvSpPr txBox="1"/>
          <p:nvPr/>
        </p:nvSpPr>
        <p:spPr>
          <a:xfrm>
            <a:off x="968024" y="4969197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90m</a:t>
            </a:r>
          </a:p>
        </p:txBody>
      </p:sp>
      <p:pic>
        <p:nvPicPr>
          <p:cNvPr id="229" name="Content Placeholder 44">
            <a:extLst>
              <a:ext uri="{FF2B5EF4-FFF2-40B4-BE49-F238E27FC236}">
                <a16:creationId xmlns:a16="http://schemas.microsoft.com/office/drawing/2014/main" id="{953AE214-C19B-16B5-E82B-EEE7E5A49D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93" t="897" r="6554" b="3321"/>
          <a:stretch>
            <a:fillRect/>
          </a:stretch>
        </p:blipFill>
        <p:spPr>
          <a:xfrm>
            <a:off x="8318658" y="1539100"/>
            <a:ext cx="1873736" cy="2960890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</p:pic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92B99C15-3EFF-204B-5CB0-4020290E2D85}"/>
              </a:ext>
            </a:extLst>
          </p:cNvPr>
          <p:cNvCxnSpPr>
            <a:cxnSpLocks/>
            <a:stCxn id="229" idx="1"/>
          </p:cNvCxnSpPr>
          <p:nvPr/>
        </p:nvCxnSpPr>
        <p:spPr>
          <a:xfrm flipH="1">
            <a:off x="7242175" y="3019545"/>
            <a:ext cx="1076483" cy="105239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7" name="Picture 226">
            <a:extLst>
              <a:ext uri="{FF2B5EF4-FFF2-40B4-BE49-F238E27FC236}">
                <a16:creationId xmlns:a16="http://schemas.microsoft.com/office/drawing/2014/main" id="{C78F53B7-E6DA-C364-7B87-885BEDBFA6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09" t="703" r="3017" b="8676"/>
          <a:stretch>
            <a:fillRect/>
          </a:stretch>
        </p:blipFill>
        <p:spPr>
          <a:xfrm>
            <a:off x="4420399" y="1440192"/>
            <a:ext cx="1924932" cy="3032204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</p:pic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752F8230-3D51-E6B5-F7A1-FF97D22D32CA}"/>
              </a:ext>
            </a:extLst>
          </p:cNvPr>
          <p:cNvCxnSpPr>
            <a:cxnSpLocks/>
            <a:stCxn id="227" idx="2"/>
          </p:cNvCxnSpPr>
          <p:nvPr/>
        </p:nvCxnSpPr>
        <p:spPr>
          <a:xfrm flipH="1">
            <a:off x="3687539" y="4472396"/>
            <a:ext cx="1695326" cy="9490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8" name="Picture 227">
            <a:extLst>
              <a:ext uri="{FF2B5EF4-FFF2-40B4-BE49-F238E27FC236}">
                <a16:creationId xmlns:a16="http://schemas.microsoft.com/office/drawing/2014/main" id="{3C2507D6-880B-10D4-56F2-C06ADFC2D9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3" t="2277" r="9097" b="992"/>
          <a:stretch>
            <a:fillRect/>
          </a:stretch>
        </p:blipFill>
        <p:spPr>
          <a:xfrm>
            <a:off x="479480" y="1447197"/>
            <a:ext cx="1908102" cy="3032440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</p:pic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7F6CC250-9DA0-62A3-6A9C-E18B36DD96DB}"/>
              </a:ext>
            </a:extLst>
          </p:cNvPr>
          <p:cNvCxnSpPr>
            <a:cxnSpLocks/>
            <a:stCxn id="228" idx="2"/>
          </p:cNvCxnSpPr>
          <p:nvPr/>
        </p:nvCxnSpPr>
        <p:spPr>
          <a:xfrm>
            <a:off x="1433531" y="4479637"/>
            <a:ext cx="1191995" cy="164934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451B61FC-2D94-4BD4-9DF3-3978623E76FA}"/>
              </a:ext>
            </a:extLst>
          </p:cNvPr>
          <p:cNvSpPr txBox="1"/>
          <p:nvPr/>
        </p:nvSpPr>
        <p:spPr>
          <a:xfrm>
            <a:off x="4013140" y="4893441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45m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FC6E033A-9B09-CF10-B2F4-98B832F42B7B}"/>
              </a:ext>
            </a:extLst>
          </p:cNvPr>
          <p:cNvSpPr txBox="1"/>
          <p:nvPr/>
        </p:nvSpPr>
        <p:spPr>
          <a:xfrm>
            <a:off x="6563008" y="3632343"/>
            <a:ext cx="1632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Cave Entrance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FB54666C-3355-A593-40D8-BECF052947B6}"/>
              </a:ext>
            </a:extLst>
          </p:cNvPr>
          <p:cNvSpPr txBox="1"/>
          <p:nvPr/>
        </p:nvSpPr>
        <p:spPr>
          <a:xfrm>
            <a:off x="1981411" y="5434615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75m</a:t>
            </a:r>
          </a:p>
        </p:txBody>
      </p:sp>
    </p:spTree>
    <p:extLst>
      <p:ext uri="{BB962C8B-B14F-4D97-AF65-F5344CB8AC3E}">
        <p14:creationId xmlns:p14="http://schemas.microsoft.com/office/powerpoint/2010/main" val="2965817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nimBg="1"/>
      <p:bldP spid="168" grpId="0" animBg="1"/>
      <p:bldP spid="216" grpId="0"/>
      <p:bldP spid="217" grpId="0"/>
      <p:bldP spid="219" grpId="0"/>
      <p:bldP spid="221" grpId="0"/>
      <p:bldP spid="218" grpId="0"/>
      <p:bldP spid="223" grpId="0"/>
      <p:bldP spid="2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D9F4F-0475-2479-8995-76A7C8E88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7F9C4D-9C0F-1F76-1A94-651A5B85BE33}"/>
              </a:ext>
            </a:extLst>
          </p:cNvPr>
          <p:cNvSpPr/>
          <p:nvPr/>
        </p:nvSpPr>
        <p:spPr>
          <a:xfrm>
            <a:off x="0" y="0"/>
            <a:ext cx="12192000" cy="13495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280DDF-AF64-530A-B01F-04CE77B9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36"/>
            <a:ext cx="10515600" cy="1320537"/>
          </a:xfrm>
        </p:spPr>
        <p:txBody>
          <a:bodyPr/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Methods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2AA4A8-E73C-7103-DDF7-287B542DC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" t="24606" r="845"/>
          <a:stretch>
            <a:fillRect/>
          </a:stretch>
        </p:blipFill>
        <p:spPr>
          <a:xfrm>
            <a:off x="7836595" y="1764551"/>
            <a:ext cx="3632549" cy="21608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3B332DF-353C-F596-93CB-8033E22108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33" t="51050" r="543" b="19544"/>
          <a:stretch>
            <a:fillRect/>
          </a:stretch>
        </p:blipFill>
        <p:spPr>
          <a:xfrm>
            <a:off x="7836594" y="4340375"/>
            <a:ext cx="3632549" cy="216084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B13D446-47A7-0487-E327-C6642F84B0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9955" y="98298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661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C9A8F-F4BE-F005-B9C2-BEF87BF4B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8216A0-2E75-5782-4A6D-CAC449AC1D95}"/>
              </a:ext>
            </a:extLst>
          </p:cNvPr>
          <p:cNvSpPr/>
          <p:nvPr/>
        </p:nvSpPr>
        <p:spPr>
          <a:xfrm>
            <a:off x="0" y="0"/>
            <a:ext cx="12192000" cy="13495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9FC6F0-CBEC-8DC0-4241-0192AE7B9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36"/>
            <a:ext cx="10515600" cy="1320537"/>
          </a:xfrm>
        </p:spPr>
        <p:txBody>
          <a:bodyPr/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Cave Communities are Distinct 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CBEECD9B-0733-E81E-BABD-EEBC940DB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40" y="1825625"/>
            <a:ext cx="4397640" cy="4351338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Bacterial communities are comprised of thousands of different species </a:t>
            </a:r>
          </a:p>
          <a:p>
            <a:pPr marL="0" indent="0">
              <a:buNone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We can compare compositional similarity between samples</a:t>
            </a:r>
          </a:p>
          <a:p>
            <a:pPr marL="0" indent="0">
              <a:buNone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Environment type explains 31% of community variation</a:t>
            </a:r>
          </a:p>
          <a:p>
            <a:pPr marL="0" indent="0"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All three environments significantly differ from each other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2C978B7-EE6F-950D-95EC-B5375D7B78A9}"/>
              </a:ext>
            </a:extLst>
          </p:cNvPr>
          <p:cNvGrpSpPr/>
          <p:nvPr/>
        </p:nvGrpSpPr>
        <p:grpSpPr>
          <a:xfrm>
            <a:off x="5496561" y="1610306"/>
            <a:ext cx="6043560" cy="5105454"/>
            <a:chOff x="6096000" y="1181819"/>
            <a:chExt cx="5589917" cy="4822616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18013B43-DF90-826B-7FBC-721B49367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38" t="4055" r="17083" b="2446"/>
            <a:stretch>
              <a:fillRect/>
            </a:stretch>
          </p:blipFill>
          <p:spPr>
            <a:xfrm>
              <a:off x="6096000" y="1181819"/>
              <a:ext cx="5589917" cy="4822616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385D8B6D-4491-7D84-3E4C-6AC0BA747E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627" t="39356" r="3159" b="37288"/>
            <a:stretch>
              <a:fillRect/>
            </a:stretch>
          </p:blipFill>
          <p:spPr>
            <a:xfrm>
              <a:off x="10305690" y="1685163"/>
              <a:ext cx="1046319" cy="1204686"/>
            </a:xfrm>
            <a:prstGeom prst="rect">
              <a:avLst/>
            </a:prstGeom>
          </p:spPr>
        </p:pic>
      </p:grpSp>
      <p:sp>
        <p:nvSpPr>
          <p:cNvPr id="54" name="Oval 53">
            <a:extLst>
              <a:ext uri="{FF2B5EF4-FFF2-40B4-BE49-F238E27FC236}">
                <a16:creationId xmlns:a16="http://schemas.microsoft.com/office/drawing/2014/main" id="{B24ACEDD-56B5-3B16-451B-885EEEED941E}"/>
              </a:ext>
            </a:extLst>
          </p:cNvPr>
          <p:cNvSpPr/>
          <p:nvPr/>
        </p:nvSpPr>
        <p:spPr>
          <a:xfrm rot="19781770">
            <a:off x="7379407" y="3822614"/>
            <a:ext cx="963427" cy="165957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45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BBC92-B3D3-F8B0-F224-56786AF26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E612BD-CF60-F568-CF6D-24F0EF1CDD5B}"/>
              </a:ext>
            </a:extLst>
          </p:cNvPr>
          <p:cNvSpPr/>
          <p:nvPr/>
        </p:nvSpPr>
        <p:spPr>
          <a:xfrm>
            <a:off x="0" y="0"/>
            <a:ext cx="12192000" cy="13495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EE9426-1C51-16D4-E25E-3445D597D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36"/>
            <a:ext cx="10515600" cy="1320537"/>
          </a:xfrm>
        </p:spPr>
        <p:txBody>
          <a:bodyPr/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Distinct Cave Communities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1ED7AF5D-C651-7859-7312-1379AEF77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92" y="1579736"/>
            <a:ext cx="9873158" cy="109605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Cave enriched in Actinobacteriota, Chloroflexi, Nitrospirota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Caves harbor higher ASV richness than surface soils despite energy limitations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DC298A-17E2-B04C-645A-EC3DFBF00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" t="52168"/>
          <a:stretch>
            <a:fillRect/>
          </a:stretch>
        </p:blipFill>
        <p:spPr>
          <a:xfrm>
            <a:off x="492985" y="2730674"/>
            <a:ext cx="9873158" cy="3699805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38D354A1-9181-7865-EBED-A14581225D28}"/>
              </a:ext>
            </a:extLst>
          </p:cNvPr>
          <p:cNvSpPr/>
          <p:nvPr/>
        </p:nvSpPr>
        <p:spPr>
          <a:xfrm>
            <a:off x="3067147" y="6258393"/>
            <a:ext cx="4450419" cy="4518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Distance from Cave Entrance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9ABBFA0-AD8B-6FD0-3D72-3C6CC69DE83F}"/>
              </a:ext>
            </a:extLst>
          </p:cNvPr>
          <p:cNvSpPr/>
          <p:nvPr/>
        </p:nvSpPr>
        <p:spPr>
          <a:xfrm>
            <a:off x="1962615" y="3033132"/>
            <a:ext cx="1037077" cy="328589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496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AC254-2DE5-0535-E7E2-7D00B2536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536C9F-EA82-AFA2-E65A-A65715F568C2}"/>
              </a:ext>
            </a:extLst>
          </p:cNvPr>
          <p:cNvSpPr/>
          <p:nvPr/>
        </p:nvSpPr>
        <p:spPr>
          <a:xfrm>
            <a:off x="0" y="0"/>
            <a:ext cx="12192000" cy="13495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53CB10-7734-F4C6-A76C-D60B2CD55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36"/>
            <a:ext cx="10515600" cy="1320537"/>
          </a:xfrm>
        </p:spPr>
        <p:txBody>
          <a:bodyPr/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Distance From Cave Entrance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C7A03D35-97AF-BC12-33BE-F14804F2C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779" y="5620216"/>
            <a:ext cx="5167342" cy="77977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Community composition shifts significantly with depth 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714364-D914-A3CD-0127-06C97C3E7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" t="1885" r="3061" b="4784"/>
          <a:stretch>
            <a:fillRect/>
          </a:stretch>
        </p:blipFill>
        <p:spPr>
          <a:xfrm>
            <a:off x="568779" y="1620643"/>
            <a:ext cx="5341367" cy="389222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242271A-8357-16F1-C11D-276DE7BB40FC}"/>
              </a:ext>
            </a:extLst>
          </p:cNvPr>
          <p:cNvGrpSpPr/>
          <p:nvPr/>
        </p:nvGrpSpPr>
        <p:grpSpPr>
          <a:xfrm>
            <a:off x="6382420" y="1483397"/>
            <a:ext cx="5167342" cy="4916592"/>
            <a:chOff x="6675930" y="1483397"/>
            <a:chExt cx="5167342" cy="491659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CA9D070-D0E4-B39B-FC93-6C34645008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63" r="65057"/>
            <a:stretch>
              <a:fillRect/>
            </a:stretch>
          </p:blipFill>
          <p:spPr>
            <a:xfrm>
              <a:off x="7465730" y="1483397"/>
              <a:ext cx="3834172" cy="416671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B855489-B974-8562-93EE-AE540A5BF6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86" t="93173" r="33348"/>
            <a:stretch>
              <a:fillRect/>
            </a:stretch>
          </p:blipFill>
          <p:spPr>
            <a:xfrm>
              <a:off x="7934092" y="5346663"/>
              <a:ext cx="3419708" cy="303449"/>
            </a:xfrm>
            <a:prstGeom prst="rect">
              <a:avLst/>
            </a:prstGeom>
          </p:spPr>
        </p:pic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4C781E8B-F65E-7277-D3E0-1BD4EBAA9BC6}"/>
                </a:ext>
              </a:extLst>
            </p:cNvPr>
            <p:cNvSpPr txBox="1">
              <a:spLocks/>
            </p:cNvSpPr>
            <p:nvPr/>
          </p:nvSpPr>
          <p:spPr>
            <a:xfrm>
              <a:off x="6675930" y="5620216"/>
              <a:ext cx="5167342" cy="77977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</a:rPr>
                <a:t>Within single sample, diversity does not shift with depth 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2000" dirty="0"/>
            </a:p>
          </p:txBody>
        </p:sp>
      </p:grp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11D9A328-D125-091B-50B2-91FC27ABEA7F}"/>
              </a:ext>
            </a:extLst>
          </p:cNvPr>
          <p:cNvSpPr/>
          <p:nvPr/>
        </p:nvSpPr>
        <p:spPr>
          <a:xfrm>
            <a:off x="5699852" y="3429000"/>
            <a:ext cx="792296" cy="4518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686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F230A-C5B1-5538-BC92-6C56195A3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BD82E45-47BB-F627-7B04-7C3A79B5F476}"/>
              </a:ext>
            </a:extLst>
          </p:cNvPr>
          <p:cNvGrpSpPr/>
          <p:nvPr/>
        </p:nvGrpSpPr>
        <p:grpSpPr>
          <a:xfrm>
            <a:off x="8068733" y="1393737"/>
            <a:ext cx="3886112" cy="4307660"/>
            <a:chOff x="8068733" y="1393737"/>
            <a:chExt cx="3886112" cy="4307660"/>
          </a:xfrm>
        </p:grpSpPr>
        <p:pic>
          <p:nvPicPr>
            <p:cNvPr id="12" name="/mnt/project/Figure9_FEAST_vs_Distance.png" title="/mnt/project/Figure9_FEAST_vs_Distance.png">
              <a:extLst>
                <a:ext uri="{FF2B5EF4-FFF2-40B4-BE49-F238E27FC236}">
                  <a16:creationId xmlns:a16="http://schemas.microsoft.com/office/drawing/2014/main" id="{F4C6D346-27B1-E08C-C288-4BFFD944D4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7402" r="64679"/>
            <a:stretch>
              <a:fillRect/>
            </a:stretch>
          </p:blipFill>
          <p:spPr bwMode="auto">
            <a:xfrm>
              <a:off x="8068733" y="1393737"/>
              <a:ext cx="3843582" cy="4307660"/>
            </a:xfrm>
            <a:prstGeom prst="rect">
              <a:avLst/>
            </a:prstGeom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8E4BEAF-FA74-EE0D-E97C-893A32BFF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86" t="93173" r="33348"/>
            <a:stretch>
              <a:fillRect/>
            </a:stretch>
          </p:blipFill>
          <p:spPr>
            <a:xfrm>
              <a:off x="8535137" y="5312538"/>
              <a:ext cx="3419708" cy="303449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BAA2C46E-3E9F-66D7-45F2-3D4F1443692A}"/>
              </a:ext>
            </a:extLst>
          </p:cNvPr>
          <p:cNvSpPr/>
          <p:nvPr/>
        </p:nvSpPr>
        <p:spPr>
          <a:xfrm>
            <a:off x="0" y="0"/>
            <a:ext cx="12192000" cy="13495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1D52FA-8111-5948-368B-7A2611F36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22134"/>
            <a:ext cx="11353801" cy="1320537"/>
          </a:xfrm>
        </p:spPr>
        <p:txBody>
          <a:bodyPr/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Tracing Cave Communities Sources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75875F-DD21-A243-3592-94A3D055C0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78"/>
          <a:stretch>
            <a:fillRect/>
          </a:stretch>
        </p:blipFill>
        <p:spPr>
          <a:xfrm>
            <a:off x="79020" y="3547567"/>
            <a:ext cx="7728718" cy="3221338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5B9894B-9E3E-9239-7D2A-DC81F1738797}"/>
              </a:ext>
            </a:extLst>
          </p:cNvPr>
          <p:cNvSpPr/>
          <p:nvPr/>
        </p:nvSpPr>
        <p:spPr>
          <a:xfrm>
            <a:off x="8628779" y="3246775"/>
            <a:ext cx="561724" cy="55466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1C5E260-421C-F06B-36D1-2AA8F9772737}"/>
              </a:ext>
            </a:extLst>
          </p:cNvPr>
          <p:cNvSpPr/>
          <p:nvPr/>
        </p:nvSpPr>
        <p:spPr>
          <a:xfrm>
            <a:off x="605953" y="5483145"/>
            <a:ext cx="740247" cy="71445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048DD80-543E-75EB-71C3-52E89AE4E206}"/>
              </a:ext>
            </a:extLst>
          </p:cNvPr>
          <p:cNvCxnSpPr>
            <a:cxnSpLocks/>
          </p:cNvCxnSpPr>
          <p:nvPr/>
        </p:nvCxnSpPr>
        <p:spPr>
          <a:xfrm flipV="1">
            <a:off x="1394493" y="3547567"/>
            <a:ext cx="7114507" cy="21538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E4E3AC4-1034-3ED4-47E9-65419C06C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952" y="1668795"/>
            <a:ext cx="6232837" cy="1641637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Endemic resident cave community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Surface inputs decrease over depth into cave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Sinking streams deliver surface microbes to deep sites regardless of distance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E775F62-BF14-0BA6-53BE-9133E16B8BBC}"/>
              </a:ext>
            </a:extLst>
          </p:cNvPr>
          <p:cNvSpPr/>
          <p:nvPr/>
        </p:nvSpPr>
        <p:spPr>
          <a:xfrm>
            <a:off x="79020" y="2349922"/>
            <a:ext cx="6920157" cy="89685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A55698-D46F-736C-0649-14758C4DED1C}"/>
              </a:ext>
            </a:extLst>
          </p:cNvPr>
          <p:cNvCxnSpPr>
            <a:cxnSpLocks/>
            <a:stCxn id="19" idx="4"/>
          </p:cNvCxnSpPr>
          <p:nvPr/>
        </p:nvCxnSpPr>
        <p:spPr>
          <a:xfrm>
            <a:off x="3539099" y="3246775"/>
            <a:ext cx="584169" cy="259359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D1C8D73-F54E-CEC5-8FEB-3FFD60D846A1}"/>
              </a:ext>
            </a:extLst>
          </p:cNvPr>
          <p:cNvCxnSpPr>
            <a:cxnSpLocks/>
          </p:cNvCxnSpPr>
          <p:nvPr/>
        </p:nvCxnSpPr>
        <p:spPr>
          <a:xfrm>
            <a:off x="3488924" y="3246775"/>
            <a:ext cx="3134900" cy="259359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E2FD5693-9FAA-7308-6A10-017929AE227C}"/>
              </a:ext>
            </a:extLst>
          </p:cNvPr>
          <p:cNvSpPr/>
          <p:nvPr/>
        </p:nvSpPr>
        <p:spPr>
          <a:xfrm>
            <a:off x="2003685" y="6141164"/>
            <a:ext cx="4450419" cy="395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Sample + Distance from Cave Entrance</a:t>
            </a:r>
          </a:p>
        </p:txBody>
      </p:sp>
    </p:spTree>
    <p:extLst>
      <p:ext uri="{BB962C8B-B14F-4D97-AF65-F5344CB8AC3E}">
        <p14:creationId xmlns:p14="http://schemas.microsoft.com/office/powerpoint/2010/main" val="3853034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4" grpId="1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A66AC-5DE0-F5F9-7370-64BD708F6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F5870F-C1A0-EFDC-7592-438EC26F48D5}"/>
              </a:ext>
            </a:extLst>
          </p:cNvPr>
          <p:cNvSpPr/>
          <p:nvPr/>
        </p:nvSpPr>
        <p:spPr>
          <a:xfrm>
            <a:off x="0" y="0"/>
            <a:ext cx="12192000" cy="13495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23F233-E98D-7250-0027-AED26E2A0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469" y="13668"/>
            <a:ext cx="11777062" cy="1320537"/>
          </a:xfrm>
        </p:spPr>
        <p:txBody>
          <a:bodyPr/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Microbial Source: Cave Groundwater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8AE210F3-08B7-ED00-7866-5B1D8B0C9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40" y="2179091"/>
            <a:ext cx="3567612" cy="4351338"/>
          </a:xfrm>
        </p:spPr>
        <p:txBody>
          <a:bodyPr>
            <a:normAutofit/>
          </a:bodyPr>
          <a:lstStyle/>
          <a:p>
            <a:pPr marL="285750" indent="-28575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Groundwater is a stable source of microbes</a:t>
            </a:r>
          </a:p>
          <a:p>
            <a:pPr marL="285750" indent="-28575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Sites near water sources up to 50% water-sourced</a:t>
            </a:r>
          </a:p>
          <a:p>
            <a:pPr marL="285750" indent="-28575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Prevents distance from predicting resident cave proportion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8A634A4-208C-63AB-BDBF-2AEABCA8851F}"/>
              </a:ext>
            </a:extLst>
          </p:cNvPr>
          <p:cNvGrpSpPr/>
          <p:nvPr/>
        </p:nvGrpSpPr>
        <p:grpSpPr>
          <a:xfrm>
            <a:off x="4284719" y="1698228"/>
            <a:ext cx="7558462" cy="4553081"/>
            <a:chOff x="5047732" y="1918881"/>
            <a:chExt cx="6830939" cy="4164826"/>
          </a:xfrm>
        </p:grpSpPr>
        <p:pic>
          <p:nvPicPr>
            <p:cNvPr id="5" name="/mnt/project/Figure9_FEAST_vs_Distance.png" title="/mnt/project/Figure9_FEAST_vs_Distance.png">
              <a:extLst>
                <a:ext uri="{FF2B5EF4-FFF2-40B4-BE49-F238E27FC236}">
                  <a16:creationId xmlns:a16="http://schemas.microsoft.com/office/drawing/2014/main" id="{5B912B61-8D23-CF9A-6C07-82EE80A5A5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4338" t="7402"/>
            <a:stretch>
              <a:fillRect/>
            </a:stretch>
          </p:blipFill>
          <p:spPr bwMode="auto">
            <a:xfrm>
              <a:off x="5382760" y="2023229"/>
              <a:ext cx="6495911" cy="4060478"/>
            </a:xfrm>
            <a:prstGeom prst="rect">
              <a:avLst/>
            </a:prstGeom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6" name="/mnt/project/Figure9_FEAST_vs_Distance.png" title="/mnt/project/Figure9_FEAST_vs_Distance.png">
              <a:extLst>
                <a:ext uri="{FF2B5EF4-FFF2-40B4-BE49-F238E27FC236}">
                  <a16:creationId xmlns:a16="http://schemas.microsoft.com/office/drawing/2014/main" id="{FE399678-BFD7-7388-67C8-5D390987BF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1" t="7402" r="97348"/>
            <a:stretch>
              <a:fillRect/>
            </a:stretch>
          </p:blipFill>
          <p:spPr bwMode="auto">
            <a:xfrm>
              <a:off x="5047732" y="1918881"/>
              <a:ext cx="274905" cy="4060478"/>
            </a:xfrm>
            <a:prstGeom prst="rect">
              <a:avLst/>
            </a:prstGeom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0E4762B-6CA7-AB31-DB04-C9627D8A8E95}"/>
                </a:ext>
              </a:extLst>
            </p:cNvPr>
            <p:cNvSpPr/>
            <p:nvPr/>
          </p:nvSpPr>
          <p:spPr>
            <a:xfrm>
              <a:off x="7431909" y="2023229"/>
              <a:ext cx="1131194" cy="13536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329B7AB-1884-8124-59D4-E232ABE89892}"/>
                </a:ext>
              </a:extLst>
            </p:cNvPr>
            <p:cNvSpPr/>
            <p:nvPr/>
          </p:nvSpPr>
          <p:spPr>
            <a:xfrm>
              <a:off x="10618013" y="4410412"/>
              <a:ext cx="1131194" cy="13536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DEF1732-73E7-8639-6877-33C27C4CD0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84202" y="2556769"/>
              <a:ext cx="2441359" cy="1444525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20563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B7932-2B1D-2B56-38F8-971166D88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D6FCA6-B2B9-42BE-5619-1CBAA1957101}"/>
              </a:ext>
            </a:extLst>
          </p:cNvPr>
          <p:cNvSpPr/>
          <p:nvPr/>
        </p:nvSpPr>
        <p:spPr>
          <a:xfrm>
            <a:off x="0" y="0"/>
            <a:ext cx="12192000" cy="13495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C4A56D-01A4-1790-B093-AE2807A40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36"/>
            <a:ext cx="10515600" cy="1320537"/>
          </a:xfrm>
        </p:spPr>
        <p:txBody>
          <a:bodyPr/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Predicted Microbial Function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508081-7B16-077D-56B3-507FD134FF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8" t="19015" r="4560" b="17987"/>
          <a:stretch>
            <a:fillRect/>
          </a:stretch>
        </p:blipFill>
        <p:spPr>
          <a:xfrm>
            <a:off x="838200" y="1726030"/>
            <a:ext cx="9231932" cy="475187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74EDAB02-E74D-7629-45DA-5CE6DB382E70}"/>
              </a:ext>
            </a:extLst>
          </p:cNvPr>
          <p:cNvSpPr/>
          <p:nvPr/>
        </p:nvSpPr>
        <p:spPr>
          <a:xfrm>
            <a:off x="7633607" y="1894113"/>
            <a:ext cx="1714500" cy="18941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37C43B-035B-5585-3063-261A75274D5D}"/>
              </a:ext>
            </a:extLst>
          </p:cNvPr>
          <p:cNvSpPr/>
          <p:nvPr/>
        </p:nvSpPr>
        <p:spPr>
          <a:xfrm>
            <a:off x="3083378" y="3262991"/>
            <a:ext cx="1714500" cy="18941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84F518F-5AFE-F225-180A-1911F4385410}"/>
              </a:ext>
            </a:extLst>
          </p:cNvPr>
          <p:cNvSpPr/>
          <p:nvPr/>
        </p:nvSpPr>
        <p:spPr>
          <a:xfrm>
            <a:off x="4596916" y="4784272"/>
            <a:ext cx="3404084" cy="62865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37E0F7D-DFE9-AABF-A8F3-E277550EF4C9}"/>
              </a:ext>
            </a:extLst>
          </p:cNvPr>
          <p:cNvSpPr/>
          <p:nvPr/>
        </p:nvSpPr>
        <p:spPr>
          <a:xfrm rot="5400000">
            <a:off x="3616057" y="4383502"/>
            <a:ext cx="2115991" cy="44903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65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82EAA-F6B5-35F7-B887-B217C99A7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06E08B-3525-8BB5-3A42-E9D89AD1D654}"/>
              </a:ext>
            </a:extLst>
          </p:cNvPr>
          <p:cNvSpPr/>
          <p:nvPr/>
        </p:nvSpPr>
        <p:spPr>
          <a:xfrm>
            <a:off x="0" y="0"/>
            <a:ext cx="12192000" cy="13495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361EC5-D69E-E006-F7B9-D215628DD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397" y="0"/>
            <a:ext cx="11287205" cy="1320537"/>
          </a:xfrm>
        </p:spPr>
        <p:txBody>
          <a:bodyPr/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Predicted Function within the Cave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E3D5569C-4C4D-6F39-A05F-A744BD0B0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41" y="1825625"/>
            <a:ext cx="4136358" cy="4351338"/>
          </a:xfrm>
        </p:spPr>
        <p:txBody>
          <a:bodyPr>
            <a:normAutofit/>
          </a:bodyPr>
          <a:lstStyle/>
          <a:p>
            <a:r>
              <a:rPr lang="en-US" sz="2000" dirty="0"/>
              <a:t>4 of 34 functional groups shift depth</a:t>
            </a:r>
          </a:p>
          <a:p>
            <a:r>
              <a:rPr lang="en-US" sz="2000" dirty="0"/>
              <a:t>Chemoheterotrophy and Ureolysis taxa decline with depth</a:t>
            </a:r>
          </a:p>
          <a:p>
            <a:r>
              <a:rPr lang="en-US" sz="2000" dirty="0"/>
              <a:t>Predatory/Exoparasitic taxa increases with depth </a:t>
            </a:r>
          </a:p>
          <a:p>
            <a:r>
              <a:rPr lang="en-US" sz="2000" dirty="0"/>
              <a:t>Entering the cave is a bigger functional shift than going deeper in it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61C6DF5-B5A0-EC4B-FA3D-B43B48C76EF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" t="3500" r="1678" b="11506"/>
          <a:stretch>
            <a:fillRect/>
          </a:stretch>
        </p:blipFill>
        <p:spPr>
          <a:xfrm>
            <a:off x="4879019" y="1605432"/>
            <a:ext cx="7032011" cy="452301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BBAC0AE-74F3-D731-82B1-C28E98590B99}"/>
              </a:ext>
            </a:extLst>
          </p:cNvPr>
          <p:cNvSpPr/>
          <p:nvPr/>
        </p:nvSpPr>
        <p:spPr>
          <a:xfrm>
            <a:off x="5139189" y="1903655"/>
            <a:ext cx="3285001" cy="200075"/>
          </a:xfrm>
          <a:prstGeom prst="rect">
            <a:avLst/>
          </a:prstGeom>
          <a:solidFill>
            <a:srgbClr val="4D48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Chemoheterotrophy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FBC4E0-2A1D-0B0E-8107-199C8CE01DDB}"/>
              </a:ext>
            </a:extLst>
          </p:cNvPr>
          <p:cNvSpPr/>
          <p:nvPr/>
        </p:nvSpPr>
        <p:spPr>
          <a:xfrm>
            <a:off x="8574083" y="1903656"/>
            <a:ext cx="3285001" cy="200075"/>
          </a:xfrm>
          <a:prstGeom prst="rect">
            <a:avLst/>
          </a:prstGeom>
          <a:solidFill>
            <a:srgbClr val="4D48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Nitrogen Fixation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CAC077-0745-F7F6-514F-F0C1A2C15025}"/>
              </a:ext>
            </a:extLst>
          </p:cNvPr>
          <p:cNvSpPr/>
          <p:nvPr/>
        </p:nvSpPr>
        <p:spPr>
          <a:xfrm>
            <a:off x="5117549" y="3921532"/>
            <a:ext cx="3285001" cy="200075"/>
          </a:xfrm>
          <a:prstGeom prst="rect">
            <a:avLst/>
          </a:prstGeom>
          <a:solidFill>
            <a:srgbClr val="4D48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Predatory or Exoparasitic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D67142-D4B3-F208-88B9-935A356A6FD6}"/>
              </a:ext>
            </a:extLst>
          </p:cNvPr>
          <p:cNvSpPr/>
          <p:nvPr/>
        </p:nvSpPr>
        <p:spPr>
          <a:xfrm>
            <a:off x="8600632" y="3921532"/>
            <a:ext cx="3285001" cy="200075"/>
          </a:xfrm>
          <a:prstGeom prst="rect">
            <a:avLst/>
          </a:prstGeom>
          <a:solidFill>
            <a:srgbClr val="4D48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Ureolysis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D52ABE-95FB-6BCB-94DA-810B5C3C2306}"/>
              </a:ext>
            </a:extLst>
          </p:cNvPr>
          <p:cNvSpPr/>
          <p:nvPr/>
        </p:nvSpPr>
        <p:spPr>
          <a:xfrm>
            <a:off x="5056975" y="1798146"/>
            <a:ext cx="3406033" cy="20852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EEFBF8-B2D0-57F3-6A34-7B76409FCFFE}"/>
              </a:ext>
            </a:extLst>
          </p:cNvPr>
          <p:cNvSpPr/>
          <p:nvPr/>
        </p:nvSpPr>
        <p:spPr>
          <a:xfrm>
            <a:off x="5018157" y="3890409"/>
            <a:ext cx="3406033" cy="20852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0A6F482-23FD-DBE0-0A12-79469FD7D8BE}"/>
              </a:ext>
            </a:extLst>
          </p:cNvPr>
          <p:cNvSpPr/>
          <p:nvPr/>
        </p:nvSpPr>
        <p:spPr>
          <a:xfrm>
            <a:off x="8403674" y="1798146"/>
            <a:ext cx="3618433" cy="20852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9912A4-47D0-8090-8166-2E103CF9A26A}"/>
              </a:ext>
            </a:extLst>
          </p:cNvPr>
          <p:cNvSpPr/>
          <p:nvPr/>
        </p:nvSpPr>
        <p:spPr>
          <a:xfrm>
            <a:off x="8424191" y="3890410"/>
            <a:ext cx="3597916" cy="20852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87D866-DD23-1E3D-7423-8FE26D0C99C5}"/>
              </a:ext>
            </a:extLst>
          </p:cNvPr>
          <p:cNvGrpSpPr/>
          <p:nvPr/>
        </p:nvGrpSpPr>
        <p:grpSpPr>
          <a:xfrm>
            <a:off x="4884900" y="1621883"/>
            <a:ext cx="7156216" cy="4523015"/>
            <a:chOff x="-2505871" y="1605431"/>
            <a:chExt cx="7156216" cy="452301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636EB34-BF92-CF31-7095-5D0147FBDA9A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66" t="3500" r="1678" b="11506"/>
            <a:stretch>
              <a:fillRect/>
            </a:stretch>
          </p:blipFill>
          <p:spPr>
            <a:xfrm>
              <a:off x="-2505871" y="1605431"/>
              <a:ext cx="7156216" cy="4523015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91998ED-E960-028D-D36A-171E3DBB53E8}"/>
                </a:ext>
              </a:extLst>
            </p:cNvPr>
            <p:cNvSpPr/>
            <p:nvPr/>
          </p:nvSpPr>
          <p:spPr>
            <a:xfrm>
              <a:off x="-2263128" y="1891511"/>
              <a:ext cx="3343023" cy="200075"/>
            </a:xfrm>
            <a:prstGeom prst="rect">
              <a:avLst/>
            </a:prstGeom>
            <a:solidFill>
              <a:srgbClr val="4D488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Chemoheterotrophy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2C83182-6E0B-F941-16F9-119FA3B80625}"/>
                </a:ext>
              </a:extLst>
            </p:cNvPr>
            <p:cNvSpPr/>
            <p:nvPr/>
          </p:nvSpPr>
          <p:spPr>
            <a:xfrm>
              <a:off x="1254458" y="1903655"/>
              <a:ext cx="3343023" cy="200075"/>
            </a:xfrm>
            <a:prstGeom prst="rect">
              <a:avLst/>
            </a:prstGeom>
            <a:solidFill>
              <a:srgbClr val="4D488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Nitrogen Fixation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F797F82-6204-FFCF-27A1-EFBC6C3715DE}"/>
                </a:ext>
              </a:extLst>
            </p:cNvPr>
            <p:cNvSpPr/>
            <p:nvPr/>
          </p:nvSpPr>
          <p:spPr>
            <a:xfrm>
              <a:off x="-2263128" y="3921531"/>
              <a:ext cx="3343023" cy="200075"/>
            </a:xfrm>
            <a:prstGeom prst="rect">
              <a:avLst/>
            </a:prstGeom>
            <a:solidFill>
              <a:srgbClr val="4D488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Predatory or Exoparasitic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C071CDE-665E-76C0-5B2D-64236F66D340}"/>
                </a:ext>
              </a:extLst>
            </p:cNvPr>
            <p:cNvSpPr/>
            <p:nvPr/>
          </p:nvSpPr>
          <p:spPr>
            <a:xfrm>
              <a:off x="1281476" y="3921531"/>
              <a:ext cx="3343023" cy="200075"/>
            </a:xfrm>
            <a:prstGeom prst="rect">
              <a:avLst/>
            </a:prstGeom>
            <a:solidFill>
              <a:srgbClr val="4D488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Ureolysis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4031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27" grpId="0" animBg="1"/>
      <p:bldP spid="28" grpId="0" animBg="1"/>
      <p:bldP spid="29" grpId="0" animBg="1"/>
      <p:bldP spid="29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0DB5A-CE49-4A1E-C930-BF1AD5161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561AC2-319C-2DF2-D6C1-1E7680938588}"/>
              </a:ext>
            </a:extLst>
          </p:cNvPr>
          <p:cNvSpPr/>
          <p:nvPr/>
        </p:nvSpPr>
        <p:spPr>
          <a:xfrm>
            <a:off x="0" y="0"/>
            <a:ext cx="12192000" cy="13495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B333C9-C123-497D-DD3C-265823D8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36"/>
            <a:ext cx="10812236" cy="1320537"/>
          </a:xfrm>
        </p:spPr>
        <p:txBody>
          <a:bodyPr/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Enzyme Data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B7952AD1-B6A5-7435-5B53-14D31BEA7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40" y="1825624"/>
            <a:ext cx="3878395" cy="4672829"/>
          </a:xfrm>
        </p:spPr>
        <p:txBody>
          <a:bodyPr>
            <a:normAutofit/>
          </a:bodyPr>
          <a:lstStyle/>
          <a:p>
            <a:r>
              <a:rPr lang="en-US" sz="2000" dirty="0"/>
              <a:t>Surface soils have higher enzyme activity rates than Cave sediments</a:t>
            </a:r>
          </a:p>
          <a:p>
            <a:r>
              <a:rPr lang="en-US" sz="2000" dirty="0"/>
              <a:t>10-fold difference</a:t>
            </a:r>
          </a:p>
          <a:p>
            <a:r>
              <a:rPr lang="en-US" sz="2000" dirty="0"/>
              <a:t>Greater surface microbial input trends toward higher enzyme activity</a:t>
            </a:r>
          </a:p>
          <a:p>
            <a:r>
              <a:rPr lang="en-US" sz="2000" dirty="0"/>
              <a:t>Supports the FAPROTAX data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C65126AC-D361-04C6-8671-CB8644EF2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0" t="26451" r="2352" b="16524"/>
          <a:stretch>
            <a:fillRect/>
          </a:stretch>
        </p:blipFill>
        <p:spPr>
          <a:xfrm>
            <a:off x="4456892" y="2104008"/>
            <a:ext cx="7445189" cy="3378508"/>
          </a:xfrm>
          <a:prstGeom prst="rect">
            <a:avLst/>
          </a:prstGeom>
        </p:spPr>
      </p:pic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DF8EBFA8-C3C8-652D-0B71-21E990B1A9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3" t="52037" r="65467" b="31306"/>
          <a:stretch>
            <a:fillRect/>
          </a:stretch>
        </p:blipFill>
        <p:spPr>
          <a:xfrm>
            <a:off x="4456893" y="3599829"/>
            <a:ext cx="2461600" cy="986843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628EF93D-55D5-AF62-E4BB-13FD532F0023}"/>
              </a:ext>
            </a:extLst>
          </p:cNvPr>
          <p:cNvGrpSpPr/>
          <p:nvPr/>
        </p:nvGrpSpPr>
        <p:grpSpPr>
          <a:xfrm>
            <a:off x="5367021" y="2241207"/>
            <a:ext cx="6888248" cy="4157932"/>
            <a:chOff x="5367021" y="2241207"/>
            <a:chExt cx="6888248" cy="41579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00E1379-F3D6-F075-0207-88CC0708F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1360" y="2241207"/>
              <a:ext cx="5543909" cy="4157932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0594652-8791-8471-6D99-4EF0DDCB767D}"/>
                </a:ext>
              </a:extLst>
            </p:cNvPr>
            <p:cNvSpPr/>
            <p:nvPr/>
          </p:nvSpPr>
          <p:spPr>
            <a:xfrm>
              <a:off x="5367021" y="3724162"/>
              <a:ext cx="827039" cy="714455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8C1B438-2E11-4CD8-3003-3E2A2D940D66}"/>
                </a:ext>
              </a:extLst>
            </p:cNvPr>
            <p:cNvCxnSpPr>
              <a:cxnSpLocks/>
            </p:cNvCxnSpPr>
            <p:nvPr/>
          </p:nvCxnSpPr>
          <p:spPr>
            <a:xfrm>
              <a:off x="6242353" y="4220000"/>
              <a:ext cx="1749879" cy="98684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EEA4AD4-478A-A9FA-EFF8-2739549F0DAC}"/>
                </a:ext>
              </a:extLst>
            </p:cNvPr>
            <p:cNvSpPr/>
            <p:nvPr/>
          </p:nvSpPr>
          <p:spPr>
            <a:xfrm>
              <a:off x="6452882" y="3944327"/>
              <a:ext cx="377806" cy="37190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86C3166-3A70-97C3-47AA-B8282DBD5BD5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 flipV="1">
              <a:off x="6918493" y="3277953"/>
              <a:ext cx="4659589" cy="815298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3285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08426-0D22-35AF-66AB-F588DF5E4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7A5139C-25AF-7295-E3EE-F178EDE33939}"/>
              </a:ext>
            </a:extLst>
          </p:cNvPr>
          <p:cNvSpPr/>
          <p:nvPr/>
        </p:nvSpPr>
        <p:spPr>
          <a:xfrm>
            <a:off x="0" y="0"/>
            <a:ext cx="12192000" cy="13495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3048A1-8A13-69AA-3188-67C6D5E79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36"/>
            <a:ext cx="10515600" cy="1320537"/>
          </a:xfrm>
        </p:spPr>
        <p:txBody>
          <a:bodyPr/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Summing It Up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D5F29C05-86D8-5E04-0327-AA7A57550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40" y="1825625"/>
            <a:ext cx="8367804" cy="4351338"/>
          </a:xfrm>
        </p:spPr>
        <p:txBody>
          <a:bodyPr>
            <a:noAutofit/>
          </a:bodyPr>
          <a:lstStyle/>
          <a:p>
            <a:r>
              <a:rPr lang="en-US" sz="2300" dirty="0">
                <a:latin typeface="Verdana" panose="020B0604030504040204" pitchFamily="34" charset="0"/>
                <a:ea typeface="Verdana" panose="020B0604030504040204" pitchFamily="34" charset="0"/>
              </a:rPr>
              <a:t>As surface connectivity declines with depth, the cave filters out heterotrophic surface taxa and selects for a stable, oligotrophic resident community</a:t>
            </a:r>
          </a:p>
          <a:p>
            <a:endParaRPr lang="en-US" sz="23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300" dirty="0">
                <a:latin typeface="Verdana" panose="020B0604030504040204" pitchFamily="34" charset="0"/>
                <a:ea typeface="Verdana" panose="020B0604030504040204" pitchFamily="34" charset="0"/>
              </a:rPr>
              <a:t>Sinking streams disrupt this gradient, delivering surface microbes to deep sites regardless of distance</a:t>
            </a:r>
          </a:p>
          <a:p>
            <a:endParaRPr lang="en-US" sz="23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300" dirty="0">
                <a:latin typeface="Verdana" panose="020B0604030504040204" pitchFamily="34" charset="0"/>
                <a:ea typeface="Verdana" panose="020B0604030504040204" pitchFamily="34" charset="0"/>
              </a:rPr>
              <a:t>The transition from surface to cave represents a greater ecological shift than any gradient within the cave</a:t>
            </a:r>
          </a:p>
        </p:txBody>
      </p:sp>
      <p:pic>
        <p:nvPicPr>
          <p:cNvPr id="3" name="Content Placeholder 44">
            <a:extLst>
              <a:ext uri="{FF2B5EF4-FFF2-40B4-BE49-F238E27FC236}">
                <a16:creationId xmlns:a16="http://schemas.microsoft.com/office/drawing/2014/main" id="{7E1A693F-3646-AF1D-10F8-3A7055C59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93" t="897" r="6554" b="3321"/>
          <a:stretch>
            <a:fillRect/>
          </a:stretch>
        </p:blipFill>
        <p:spPr>
          <a:xfrm>
            <a:off x="9079375" y="1593903"/>
            <a:ext cx="2900292" cy="4583060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8827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DC0EC-E2E9-A60B-7048-ECDB5C457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795E19-F06E-6627-546B-DAC1E7295F28}"/>
              </a:ext>
            </a:extLst>
          </p:cNvPr>
          <p:cNvSpPr/>
          <p:nvPr/>
        </p:nvSpPr>
        <p:spPr>
          <a:xfrm>
            <a:off x="0" y="0"/>
            <a:ext cx="12192000" cy="13495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2F0FEF-97D9-6D05-AAE0-CCA99ABBD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36"/>
            <a:ext cx="10515600" cy="1320537"/>
          </a:xfrm>
        </p:spPr>
        <p:txBody>
          <a:bodyPr/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Acknowledgments</a:t>
            </a:r>
            <a:r>
              <a:rPr lang="en-US" dirty="0"/>
              <a:t> 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12BEE50A-AF8C-A1EB-4122-8F2E610D2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40" y="1825625"/>
            <a:ext cx="11049174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OSU Undergraduate Research Apprenticeship Program &amp;McKenzie Brecher Undergraduate Scholarship Fund → financial support</a:t>
            </a:r>
          </a:p>
          <a:p>
            <a:pPr>
              <a:lnSpc>
                <a:spcPct val="100000"/>
              </a:lnSpc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Dr. Alex Michaud → mentorship and guidance</a:t>
            </a:r>
          </a:p>
          <a:p>
            <a:pPr>
              <a:lnSpc>
                <a:spcPct val="100000"/>
              </a:lnSpc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Dr. Brian Lower → thesis committee service</a:t>
            </a:r>
          </a:p>
          <a:p>
            <a:pPr>
              <a:lnSpc>
                <a:spcPct val="100000"/>
              </a:lnSpc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Polar Geomicrobiology Lab Group → laboratory support</a:t>
            </a:r>
          </a:p>
          <a:p>
            <a:pPr>
              <a:lnSpc>
                <a:spcPct val="100000"/>
              </a:lnSpc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Joe Truskowski and RKC → site access</a:t>
            </a:r>
          </a:p>
        </p:txBody>
      </p:sp>
    </p:spTree>
    <p:extLst>
      <p:ext uri="{BB962C8B-B14F-4D97-AF65-F5344CB8AC3E}">
        <p14:creationId xmlns:p14="http://schemas.microsoft.com/office/powerpoint/2010/main" val="2424208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6AEA3-1325-12E2-0683-103429668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251B9BD-BCCE-7121-FCE9-B14F349A8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6295" y="-1"/>
            <a:ext cx="13044589" cy="685799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BA75696-9C3E-DAC6-1251-BDF42EE97B2F}"/>
              </a:ext>
            </a:extLst>
          </p:cNvPr>
          <p:cNvGrpSpPr/>
          <p:nvPr/>
        </p:nvGrpSpPr>
        <p:grpSpPr>
          <a:xfrm>
            <a:off x="1196196" y="2139350"/>
            <a:ext cx="9799608" cy="2579299"/>
            <a:chOff x="1196196" y="1366274"/>
            <a:chExt cx="9799608" cy="2579299"/>
          </a:xfrm>
          <a:solidFill>
            <a:schemeClr val="accent1">
              <a:alpha val="28000"/>
            </a:schemeClr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1BA555-8093-7B35-6854-1AA6C2845FA5}"/>
                </a:ext>
              </a:extLst>
            </p:cNvPr>
            <p:cNvSpPr/>
            <p:nvPr/>
          </p:nvSpPr>
          <p:spPr>
            <a:xfrm>
              <a:off x="1196196" y="1366274"/>
              <a:ext cx="9799608" cy="257929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3538C652-7687-3597-BF7B-6D9684191FE1}"/>
                </a:ext>
              </a:extLst>
            </p:cNvPr>
            <p:cNvSpPr txBox="1">
              <a:spLocks/>
            </p:cNvSpPr>
            <p:nvPr/>
          </p:nvSpPr>
          <p:spPr>
            <a:xfrm>
              <a:off x="1384998" y="1462123"/>
              <a:ext cx="9315610" cy="2387600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8000" b="1" dirty="0">
                  <a:latin typeface="Verdana" panose="020B0604030504040204" pitchFamily="34" charset="0"/>
                  <a:ea typeface="Verdana" panose="020B0604030504040204" pitchFamily="34" charset="0"/>
                </a:rPr>
                <a:t>Questions?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7273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F4D3654-17DD-2CCE-5AA6-6D6EC5BFC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70FF2AFD-EADD-7247-1960-20672C5C2A3A}"/>
              </a:ext>
            </a:extLst>
          </p:cNvPr>
          <p:cNvSpPr/>
          <p:nvPr/>
        </p:nvSpPr>
        <p:spPr>
          <a:xfrm>
            <a:off x="77627" y="3921464"/>
            <a:ext cx="8658478" cy="3382471"/>
          </a:xfrm>
          <a:custGeom>
            <a:avLst/>
            <a:gdLst>
              <a:gd name="csX0" fmla="*/ 7897826 w 8658478"/>
              <a:gd name="csY0" fmla="*/ 48552 h 3382471"/>
              <a:gd name="csX1" fmla="*/ 7833090 w 8658478"/>
              <a:gd name="csY1" fmla="*/ 48552 h 3382471"/>
              <a:gd name="csX2" fmla="*/ 8658478 w 8658478"/>
              <a:gd name="csY2" fmla="*/ 347958 h 3382471"/>
              <a:gd name="csX3" fmla="*/ 8512821 w 8658478"/>
              <a:gd name="csY3" fmla="*/ 1529395 h 3382471"/>
              <a:gd name="csX4" fmla="*/ 6222775 w 8658478"/>
              <a:gd name="csY4" fmla="*/ 3123526 h 3382471"/>
              <a:gd name="csX5" fmla="*/ 728283 w 8658478"/>
              <a:gd name="csY5" fmla="*/ 3382471 h 3382471"/>
              <a:gd name="csX6" fmla="*/ 0 w 8658478"/>
              <a:gd name="csY6" fmla="*/ 2921225 h 3382471"/>
              <a:gd name="csX7" fmla="*/ 582626 w 8658478"/>
              <a:gd name="csY7" fmla="*/ 0 h 3382471"/>
              <a:gd name="csX8" fmla="*/ 7897826 w 8658478"/>
              <a:gd name="csY8" fmla="*/ 48552 h 33824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658478" h="3382471">
                <a:moveTo>
                  <a:pt x="7897826" y="48552"/>
                </a:moveTo>
                <a:lnTo>
                  <a:pt x="7833090" y="48552"/>
                </a:lnTo>
                <a:lnTo>
                  <a:pt x="8658478" y="347958"/>
                </a:lnTo>
                <a:lnTo>
                  <a:pt x="8512821" y="1529395"/>
                </a:lnTo>
                <a:lnTo>
                  <a:pt x="6222775" y="3123526"/>
                </a:lnTo>
                <a:lnTo>
                  <a:pt x="728283" y="3382471"/>
                </a:lnTo>
                <a:lnTo>
                  <a:pt x="0" y="2921225"/>
                </a:lnTo>
                <a:lnTo>
                  <a:pt x="582626" y="0"/>
                </a:lnTo>
                <a:lnTo>
                  <a:pt x="7897826" y="48552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7499491-D2D2-3AC4-04E9-7F431FECB405}"/>
              </a:ext>
            </a:extLst>
          </p:cNvPr>
          <p:cNvSpPr/>
          <p:nvPr/>
        </p:nvSpPr>
        <p:spPr>
          <a:xfrm>
            <a:off x="-68826" y="590476"/>
            <a:ext cx="12270390" cy="6939279"/>
          </a:xfrm>
          <a:custGeom>
            <a:avLst/>
            <a:gdLst>
              <a:gd name="csX0" fmla="*/ 5400 w 6322475"/>
              <a:gd name="csY0" fmla="*/ 0 h 3558627"/>
              <a:gd name="csX1" fmla="*/ 804485 w 6322475"/>
              <a:gd name="csY1" fmla="*/ 25986 h 3558627"/>
              <a:gd name="csX2" fmla="*/ 934418 w 6322475"/>
              <a:gd name="csY2" fmla="*/ 38980 h 3558627"/>
              <a:gd name="csX3" fmla="*/ 1028619 w 6322475"/>
              <a:gd name="csY3" fmla="*/ 131557 h 3558627"/>
              <a:gd name="csX4" fmla="*/ 1059478 w 6322475"/>
              <a:gd name="csY4" fmla="*/ 240375 h 3558627"/>
              <a:gd name="csX5" fmla="*/ 1124444 w 6322475"/>
              <a:gd name="csY5" fmla="*/ 282603 h 3558627"/>
              <a:gd name="csX6" fmla="*/ 1359946 w 6322475"/>
              <a:gd name="csY6" fmla="*/ 352442 h 3558627"/>
              <a:gd name="csX7" fmla="*/ 1528859 w 6322475"/>
              <a:gd name="csY7" fmla="*/ 389798 h 3558627"/>
              <a:gd name="csX8" fmla="*/ 1666912 w 6322475"/>
              <a:gd name="csY8" fmla="*/ 440146 h 3558627"/>
              <a:gd name="csX9" fmla="*/ 1723758 w 6322475"/>
              <a:gd name="csY9" fmla="*/ 503488 h 3558627"/>
              <a:gd name="csX10" fmla="*/ 1739999 w 6322475"/>
              <a:gd name="csY10" fmla="*/ 542468 h 3558627"/>
              <a:gd name="csX11" fmla="*/ 1925153 w 6322475"/>
              <a:gd name="csY11" fmla="*/ 641542 h 3558627"/>
              <a:gd name="csX12" fmla="*/ 2072951 w 6322475"/>
              <a:gd name="csY12" fmla="*/ 651287 h 3558627"/>
              <a:gd name="csX13" fmla="*/ 2225622 w 6322475"/>
              <a:gd name="csY13" fmla="*/ 693515 h 3558627"/>
              <a:gd name="csX14" fmla="*/ 2292212 w 6322475"/>
              <a:gd name="csY14" fmla="*/ 711380 h 3558627"/>
              <a:gd name="csX15" fmla="*/ 2379917 w 6322475"/>
              <a:gd name="csY15" fmla="*/ 745488 h 3558627"/>
              <a:gd name="csX16" fmla="*/ 2563446 w 6322475"/>
              <a:gd name="csY16" fmla="*/ 833192 h 3558627"/>
              <a:gd name="csX17" fmla="*/ 3065311 w 6322475"/>
              <a:gd name="csY17" fmla="*/ 1192131 h 3558627"/>
              <a:gd name="csX18" fmla="*/ 3408008 w 6322475"/>
              <a:gd name="csY18" fmla="*/ 1369164 h 3558627"/>
              <a:gd name="csX19" fmla="*/ 3687362 w 6322475"/>
              <a:gd name="csY19" fmla="*/ 1500720 h 3558627"/>
              <a:gd name="csX20" fmla="*/ 3966717 w 6322475"/>
              <a:gd name="csY20" fmla="*/ 1614411 h 3558627"/>
              <a:gd name="csX21" fmla="*/ 4039804 w 6322475"/>
              <a:gd name="csY21" fmla="*/ 1668009 h 3558627"/>
              <a:gd name="csX22" fmla="*/ 4104771 w 6322475"/>
              <a:gd name="csY22" fmla="*/ 1690747 h 3558627"/>
              <a:gd name="csX23" fmla="*/ 4198972 w 6322475"/>
              <a:gd name="csY23" fmla="*/ 1719982 h 3558627"/>
              <a:gd name="csX24" fmla="*/ 4257441 w 6322475"/>
              <a:gd name="csY24" fmla="*/ 1775203 h 3558627"/>
              <a:gd name="csX25" fmla="*/ 4259065 w 6322475"/>
              <a:gd name="csY25" fmla="*/ 1838545 h 3558627"/>
              <a:gd name="csX26" fmla="*/ 4257441 w 6322475"/>
              <a:gd name="csY26" fmla="*/ 1901887 h 3558627"/>
              <a:gd name="csX27" fmla="*/ 4155119 w 6322475"/>
              <a:gd name="csY27" fmla="*/ 1926249 h 3558627"/>
              <a:gd name="csX28" fmla="*/ 4023563 w 6322475"/>
              <a:gd name="csY28" fmla="*/ 1974974 h 3558627"/>
              <a:gd name="csX29" fmla="*/ 3883885 w 6322475"/>
              <a:gd name="csY29" fmla="*/ 2147135 h 3558627"/>
              <a:gd name="csX30" fmla="*/ 3770194 w 6322475"/>
              <a:gd name="csY30" fmla="*/ 2200732 h 3558627"/>
              <a:gd name="csX31" fmla="*/ 3666248 w 6322475"/>
              <a:gd name="csY31" fmla="*/ 2238087 h 3558627"/>
              <a:gd name="csX32" fmla="*/ 3563927 w 6322475"/>
              <a:gd name="csY32" fmla="*/ 2278691 h 3558627"/>
              <a:gd name="csX33" fmla="*/ 3446987 w 6322475"/>
              <a:gd name="csY33" fmla="*/ 2288436 h 3558627"/>
              <a:gd name="csX34" fmla="*/ 3430746 w 6322475"/>
              <a:gd name="csY34" fmla="*/ 2288436 h 3558627"/>
              <a:gd name="csX35" fmla="*/ 3195243 w 6322475"/>
              <a:gd name="csY35" fmla="*/ 2288436 h 3558627"/>
              <a:gd name="csX36" fmla="*/ 3167632 w 6322475"/>
              <a:gd name="csY36" fmla="*/ 2288436 h 3558627"/>
              <a:gd name="csX37" fmla="*/ 2922385 w 6322475"/>
              <a:gd name="csY37" fmla="*/ 2291685 h 3558627"/>
              <a:gd name="csX38" fmla="*/ 2680386 w 6322475"/>
              <a:gd name="csY38" fmla="*/ 2290060 h 3558627"/>
              <a:gd name="csX39" fmla="*/ 2660896 w 6322475"/>
              <a:gd name="csY39" fmla="*/ 2290060 h 3558627"/>
              <a:gd name="csX40" fmla="*/ 2534212 w 6322475"/>
              <a:gd name="csY40" fmla="*/ 2314423 h 3558627"/>
              <a:gd name="csX41" fmla="*/ 2388037 w 6322475"/>
              <a:gd name="csY41" fmla="*/ 2320919 h 3558627"/>
              <a:gd name="csX42" fmla="*/ 2261353 w 6322475"/>
              <a:gd name="csY42" fmla="*/ 2364772 h 3558627"/>
              <a:gd name="csX43" fmla="*/ 2152535 w 6322475"/>
              <a:gd name="csY43" fmla="*/ 2426490 h 3558627"/>
              <a:gd name="csX44" fmla="*/ 2074575 w 6322475"/>
              <a:gd name="csY44" fmla="*/ 2465469 h 3558627"/>
              <a:gd name="csX45" fmla="*/ 1967381 w 6322475"/>
              <a:gd name="csY45" fmla="*/ 2507697 h 3558627"/>
              <a:gd name="csX46" fmla="*/ 1804965 w 6322475"/>
              <a:gd name="csY46" fmla="*/ 2548301 h 3558627"/>
              <a:gd name="csX47" fmla="*/ 1705892 w 6322475"/>
              <a:gd name="csY47" fmla="*/ 2585657 h 3558627"/>
              <a:gd name="csX48" fmla="*/ 1634429 w 6322475"/>
              <a:gd name="csY48" fmla="*/ 2585657 h 3558627"/>
              <a:gd name="csX49" fmla="*/ 1575959 w 6322475"/>
              <a:gd name="csY49" fmla="*/ 2580784 h 3558627"/>
              <a:gd name="csX50" fmla="*/ 1498000 w 6322475"/>
              <a:gd name="csY50" fmla="*/ 2562919 h 3558627"/>
              <a:gd name="csX51" fmla="*/ 1421664 w 6322475"/>
              <a:gd name="csY51" fmla="*/ 2549925 h 3558627"/>
              <a:gd name="csX52" fmla="*/ 1376188 w 6322475"/>
              <a:gd name="csY52" fmla="*/ 2541805 h 3558627"/>
              <a:gd name="csX53" fmla="*/ 1168296 w 6322475"/>
              <a:gd name="csY53" fmla="*/ 2545053 h 3558627"/>
              <a:gd name="csX54" fmla="*/ 1080592 w 6322475"/>
              <a:gd name="csY54" fmla="*/ 2585657 h 3558627"/>
              <a:gd name="csX55" fmla="*/ 953907 w 6322475"/>
              <a:gd name="csY55" fmla="*/ 2579160 h 3558627"/>
              <a:gd name="csX56" fmla="*/ 828847 w 6322475"/>
              <a:gd name="csY56" fmla="*/ 2584033 h 3558627"/>
              <a:gd name="csX57" fmla="*/ 742767 w 6322475"/>
              <a:gd name="csY57" fmla="*/ 2593778 h 3558627"/>
              <a:gd name="csX58" fmla="*/ 620955 w 6322475"/>
              <a:gd name="csY58" fmla="*/ 2619764 h 3558627"/>
              <a:gd name="csX59" fmla="*/ 612835 w 6322475"/>
              <a:gd name="csY59" fmla="*/ 3011186 h 3558627"/>
              <a:gd name="csX60" fmla="*/ 590096 w 6322475"/>
              <a:gd name="csY60" fmla="*/ 3056662 h 3558627"/>
              <a:gd name="csX61" fmla="*/ 547868 w 6322475"/>
              <a:gd name="csY61" fmla="*/ 3050166 h 3558627"/>
              <a:gd name="csX62" fmla="*/ 499144 w 6322475"/>
              <a:gd name="csY62" fmla="*/ 3024179 h 3558627"/>
              <a:gd name="csX63" fmla="*/ 473157 w 6322475"/>
              <a:gd name="csY63" fmla="*/ 3017682 h 3558627"/>
              <a:gd name="csX64" fmla="*/ 429305 w 6322475"/>
              <a:gd name="csY64" fmla="*/ 3038796 h 3558627"/>
              <a:gd name="csX65" fmla="*/ 408191 w 6322475"/>
              <a:gd name="csY65" fmla="*/ 3055038 h 3558627"/>
              <a:gd name="csX66" fmla="*/ 369211 w 6322475"/>
              <a:gd name="csY66" fmla="*/ 3048541 h 3558627"/>
              <a:gd name="csX67" fmla="*/ 331856 w 6322475"/>
              <a:gd name="csY67" fmla="*/ 3032300 h 3558627"/>
              <a:gd name="csX68" fmla="*/ 292876 w 6322475"/>
              <a:gd name="csY68" fmla="*/ 3032300 h 3558627"/>
              <a:gd name="csX69" fmla="*/ 271762 w 6322475"/>
              <a:gd name="csY69" fmla="*/ 3077776 h 3558627"/>
              <a:gd name="csX70" fmla="*/ 294500 w 6322475"/>
              <a:gd name="csY70" fmla="*/ 3124877 h 3558627"/>
              <a:gd name="csX71" fmla="*/ 318862 w 6322475"/>
              <a:gd name="csY71" fmla="*/ 3139494 h 3558627"/>
              <a:gd name="csX72" fmla="*/ 448795 w 6322475"/>
              <a:gd name="csY72" fmla="*/ 3121628 h 3558627"/>
              <a:gd name="csX73" fmla="*/ 705412 w 6322475"/>
              <a:gd name="csY73" fmla="*/ 3162232 h 3558627"/>
              <a:gd name="csX74" fmla="*/ 978270 w 6322475"/>
              <a:gd name="csY74" fmla="*/ 3072904 h 3558627"/>
              <a:gd name="csX75" fmla="*/ 1230014 w 6322475"/>
              <a:gd name="csY75" fmla="*/ 3048541 h 3558627"/>
              <a:gd name="csX76" fmla="*/ 1450899 w 6322475"/>
              <a:gd name="csY76" fmla="*/ 3071280 h 3558627"/>
              <a:gd name="csX77" fmla="*/ 1483382 w 6322475"/>
              <a:gd name="csY77" fmla="*/ 3115132 h 3558627"/>
              <a:gd name="csX78" fmla="*/ 1629556 w 6322475"/>
              <a:gd name="csY78" fmla="*/ 3116756 h 3558627"/>
              <a:gd name="csX79" fmla="*/ 1694523 w 6322475"/>
              <a:gd name="csY79" fmla="*/ 3085897 h 3558627"/>
              <a:gd name="csX80" fmla="*/ 1769234 w 6322475"/>
              <a:gd name="csY80" fmla="*/ 3081025 h 3558627"/>
              <a:gd name="csX81" fmla="*/ 1860187 w 6322475"/>
              <a:gd name="csY81" fmla="*/ 3085897 h 3558627"/>
              <a:gd name="csX82" fmla="*/ 2016106 w 6322475"/>
              <a:gd name="csY82" fmla="*/ 2946220 h 3558627"/>
              <a:gd name="csX83" fmla="*/ 2173649 w 6322475"/>
              <a:gd name="csY83" fmla="*/ 2921857 h 3558627"/>
              <a:gd name="csX84" fmla="*/ 2353930 w 6322475"/>
              <a:gd name="csY84" fmla="*/ 2788676 h 3558627"/>
              <a:gd name="csX85" fmla="*/ 2469245 w 6322475"/>
              <a:gd name="csY85" fmla="*/ 2715589 h 3558627"/>
              <a:gd name="csX86" fmla="*/ 2617043 w 6322475"/>
              <a:gd name="csY86" fmla="*/ 2681482 h 3558627"/>
              <a:gd name="csX87" fmla="*/ 3572047 w 6322475"/>
              <a:gd name="csY87" fmla="*/ 2653871 h 3558627"/>
              <a:gd name="csX88" fmla="*/ 3654879 w 6322475"/>
              <a:gd name="csY88" fmla="*/ 2631133 h 3558627"/>
              <a:gd name="csX89" fmla="*/ 3807550 w 6322475"/>
              <a:gd name="csY89" fmla="*/ 2527187 h 3558627"/>
              <a:gd name="csX90" fmla="*/ 3948852 w 6322475"/>
              <a:gd name="csY90" fmla="*/ 2351778 h 3558627"/>
              <a:gd name="csX91" fmla="*/ 4135630 w 6322475"/>
              <a:gd name="csY91" fmla="*/ 2238087 h 3558627"/>
              <a:gd name="csX92" fmla="*/ 4223334 w 6322475"/>
              <a:gd name="csY92" fmla="*/ 2150383 h 3558627"/>
              <a:gd name="csX93" fmla="*/ 4263938 w 6322475"/>
              <a:gd name="csY93" fmla="*/ 2077296 h 3558627"/>
              <a:gd name="csX94" fmla="*/ 4387374 w 6322475"/>
              <a:gd name="csY94" fmla="*/ 2036692 h 3558627"/>
              <a:gd name="csX95" fmla="*/ 4452340 w 6322475"/>
              <a:gd name="csY95" fmla="*/ 2030195 h 3558627"/>
              <a:gd name="csX96" fmla="*/ 4520555 w 6322475"/>
              <a:gd name="csY96" fmla="*/ 1910008 h 3558627"/>
              <a:gd name="csX97" fmla="*/ 4510810 w 6322475"/>
              <a:gd name="csY97" fmla="*/ 1854786 h 3558627"/>
              <a:gd name="csX98" fmla="*/ 4548165 w 6322475"/>
              <a:gd name="csY98" fmla="*/ 1843417 h 3558627"/>
              <a:gd name="csX99" fmla="*/ 4580648 w 6322475"/>
              <a:gd name="csY99" fmla="*/ 1888894 h 3558627"/>
              <a:gd name="csX100" fmla="*/ 4689467 w 6322475"/>
              <a:gd name="csY100" fmla="*/ 1953860 h 3558627"/>
              <a:gd name="csX101" fmla="*/ 4827520 w 6322475"/>
              <a:gd name="csY101" fmla="*/ 2002585 h 3558627"/>
              <a:gd name="csX102" fmla="*/ 4968822 w 6322475"/>
              <a:gd name="csY102" fmla="*/ 2059430 h 3558627"/>
              <a:gd name="csX103" fmla="*/ 5045157 w 6322475"/>
              <a:gd name="csY103" fmla="*/ 2111403 h 3558627"/>
              <a:gd name="csX104" fmla="*/ 5077640 w 6322475"/>
              <a:gd name="csY104" fmla="*/ 2173121 h 3558627"/>
              <a:gd name="csX105" fmla="*/ 5183210 w 6322475"/>
              <a:gd name="csY105" fmla="*/ 2252705 h 3558627"/>
              <a:gd name="csX106" fmla="*/ 5223814 w 6322475"/>
              <a:gd name="csY106" fmla="*/ 2350154 h 3558627"/>
              <a:gd name="csX107" fmla="*/ 5313143 w 6322475"/>
              <a:gd name="csY107" fmla="*/ 2389134 h 3558627"/>
              <a:gd name="csX108" fmla="*/ 5616860 w 6322475"/>
              <a:gd name="csY108" fmla="*/ 2447604 h 3558627"/>
              <a:gd name="csX109" fmla="*/ 5745169 w 6322475"/>
              <a:gd name="csY109" fmla="*/ 2546677 h 3558627"/>
              <a:gd name="csX110" fmla="*/ 5925450 w 6322475"/>
              <a:gd name="csY110" fmla="*/ 2733455 h 3558627"/>
              <a:gd name="csX111" fmla="*/ 6128469 w 6322475"/>
              <a:gd name="csY111" fmla="*/ 2788676 h 3558627"/>
              <a:gd name="csX112" fmla="*/ 6307903 w 6322475"/>
              <a:gd name="csY112" fmla="*/ 2848236 h 3558627"/>
              <a:gd name="csX113" fmla="*/ 6322475 w 6322475"/>
              <a:gd name="csY113" fmla="*/ 2846415 h 3558627"/>
              <a:gd name="csX114" fmla="*/ 6311546 w 6322475"/>
              <a:gd name="csY114" fmla="*/ 3558627 h 3558627"/>
              <a:gd name="csX115" fmla="*/ 0 w 6322475"/>
              <a:gd name="csY115" fmla="*/ 3551341 h 3558627"/>
              <a:gd name="csX116" fmla="*/ 5400 w 6322475"/>
              <a:gd name="csY116" fmla="*/ 0 h 35586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</a:cxnLst>
            <a:rect l="l" t="t" r="r" b="b"/>
            <a:pathLst>
              <a:path w="6322475" h="3558627">
                <a:moveTo>
                  <a:pt x="5400" y="0"/>
                </a:moveTo>
                <a:lnTo>
                  <a:pt x="804485" y="25986"/>
                </a:lnTo>
                <a:lnTo>
                  <a:pt x="934418" y="38980"/>
                </a:lnTo>
                <a:lnTo>
                  <a:pt x="1028619" y="131557"/>
                </a:lnTo>
                <a:lnTo>
                  <a:pt x="1059478" y="240375"/>
                </a:lnTo>
                <a:lnTo>
                  <a:pt x="1124444" y="282603"/>
                </a:lnTo>
                <a:lnTo>
                  <a:pt x="1359946" y="352442"/>
                </a:lnTo>
                <a:lnTo>
                  <a:pt x="1528859" y="389798"/>
                </a:lnTo>
                <a:lnTo>
                  <a:pt x="1666912" y="440146"/>
                </a:lnTo>
                <a:lnTo>
                  <a:pt x="1723758" y="503488"/>
                </a:lnTo>
                <a:lnTo>
                  <a:pt x="1739999" y="542468"/>
                </a:lnTo>
                <a:lnTo>
                  <a:pt x="1925153" y="641542"/>
                </a:lnTo>
                <a:lnTo>
                  <a:pt x="2072951" y="651287"/>
                </a:lnTo>
                <a:lnTo>
                  <a:pt x="2225622" y="693515"/>
                </a:lnTo>
                <a:lnTo>
                  <a:pt x="2292212" y="711380"/>
                </a:lnTo>
                <a:lnTo>
                  <a:pt x="2379917" y="745488"/>
                </a:lnTo>
                <a:lnTo>
                  <a:pt x="2563446" y="833192"/>
                </a:lnTo>
                <a:lnTo>
                  <a:pt x="3065311" y="1192131"/>
                </a:lnTo>
                <a:lnTo>
                  <a:pt x="3408008" y="1369164"/>
                </a:lnTo>
                <a:lnTo>
                  <a:pt x="3687362" y="1500720"/>
                </a:lnTo>
                <a:lnTo>
                  <a:pt x="3966717" y="1614411"/>
                </a:lnTo>
                <a:lnTo>
                  <a:pt x="4039804" y="1668009"/>
                </a:lnTo>
                <a:lnTo>
                  <a:pt x="4104771" y="1690747"/>
                </a:lnTo>
                <a:lnTo>
                  <a:pt x="4198972" y="1719982"/>
                </a:lnTo>
                <a:lnTo>
                  <a:pt x="4257441" y="1775203"/>
                </a:lnTo>
                <a:cubicBezTo>
                  <a:pt x="4257982" y="1796317"/>
                  <a:pt x="4258524" y="1817431"/>
                  <a:pt x="4259065" y="1838545"/>
                </a:cubicBezTo>
                <a:cubicBezTo>
                  <a:pt x="4258524" y="1859659"/>
                  <a:pt x="4257982" y="1880773"/>
                  <a:pt x="4257441" y="1901887"/>
                </a:cubicBezTo>
                <a:lnTo>
                  <a:pt x="4155119" y="1926249"/>
                </a:lnTo>
                <a:lnTo>
                  <a:pt x="4023563" y="1974974"/>
                </a:lnTo>
                <a:lnTo>
                  <a:pt x="3883885" y="2147135"/>
                </a:lnTo>
                <a:lnTo>
                  <a:pt x="3770194" y="2200732"/>
                </a:lnTo>
                <a:lnTo>
                  <a:pt x="3666248" y="2238087"/>
                </a:lnTo>
                <a:lnTo>
                  <a:pt x="3563927" y="2278691"/>
                </a:lnTo>
                <a:lnTo>
                  <a:pt x="3446987" y="2288436"/>
                </a:lnTo>
                <a:lnTo>
                  <a:pt x="3430746" y="2288436"/>
                </a:lnTo>
                <a:lnTo>
                  <a:pt x="3195243" y="2288436"/>
                </a:lnTo>
                <a:lnTo>
                  <a:pt x="3167632" y="2288436"/>
                </a:lnTo>
                <a:lnTo>
                  <a:pt x="2922385" y="2291685"/>
                </a:lnTo>
                <a:lnTo>
                  <a:pt x="2680386" y="2290060"/>
                </a:lnTo>
                <a:lnTo>
                  <a:pt x="2660896" y="2290060"/>
                </a:lnTo>
                <a:lnTo>
                  <a:pt x="2534212" y="2314423"/>
                </a:lnTo>
                <a:lnTo>
                  <a:pt x="2388037" y="2320919"/>
                </a:lnTo>
                <a:lnTo>
                  <a:pt x="2261353" y="2364772"/>
                </a:lnTo>
                <a:lnTo>
                  <a:pt x="2152535" y="2426490"/>
                </a:lnTo>
                <a:lnTo>
                  <a:pt x="2074575" y="2465469"/>
                </a:lnTo>
                <a:lnTo>
                  <a:pt x="1967381" y="2507697"/>
                </a:lnTo>
                <a:lnTo>
                  <a:pt x="1804965" y="2548301"/>
                </a:lnTo>
                <a:lnTo>
                  <a:pt x="1705892" y="2585657"/>
                </a:lnTo>
                <a:lnTo>
                  <a:pt x="1634429" y="2585657"/>
                </a:lnTo>
                <a:lnTo>
                  <a:pt x="1575959" y="2580784"/>
                </a:lnTo>
                <a:lnTo>
                  <a:pt x="1498000" y="2562919"/>
                </a:lnTo>
                <a:lnTo>
                  <a:pt x="1421664" y="2549925"/>
                </a:lnTo>
                <a:lnTo>
                  <a:pt x="1376188" y="2541805"/>
                </a:lnTo>
                <a:lnTo>
                  <a:pt x="1168296" y="2545053"/>
                </a:lnTo>
                <a:lnTo>
                  <a:pt x="1080592" y="2585657"/>
                </a:lnTo>
                <a:lnTo>
                  <a:pt x="953907" y="2579160"/>
                </a:lnTo>
                <a:lnTo>
                  <a:pt x="828847" y="2584033"/>
                </a:lnTo>
                <a:lnTo>
                  <a:pt x="742767" y="2593778"/>
                </a:lnTo>
                <a:lnTo>
                  <a:pt x="620955" y="2619764"/>
                </a:lnTo>
                <a:lnTo>
                  <a:pt x="612835" y="3011186"/>
                </a:lnTo>
                <a:lnTo>
                  <a:pt x="590096" y="3056662"/>
                </a:lnTo>
                <a:lnTo>
                  <a:pt x="547868" y="3050166"/>
                </a:lnTo>
                <a:lnTo>
                  <a:pt x="499144" y="3024179"/>
                </a:lnTo>
                <a:lnTo>
                  <a:pt x="473157" y="3017682"/>
                </a:lnTo>
                <a:lnTo>
                  <a:pt x="429305" y="3038796"/>
                </a:lnTo>
                <a:lnTo>
                  <a:pt x="408191" y="3055038"/>
                </a:lnTo>
                <a:lnTo>
                  <a:pt x="369211" y="3048541"/>
                </a:lnTo>
                <a:lnTo>
                  <a:pt x="331856" y="3032300"/>
                </a:lnTo>
                <a:lnTo>
                  <a:pt x="292876" y="3032300"/>
                </a:lnTo>
                <a:lnTo>
                  <a:pt x="271762" y="3077776"/>
                </a:lnTo>
                <a:lnTo>
                  <a:pt x="294500" y="3124877"/>
                </a:lnTo>
                <a:lnTo>
                  <a:pt x="318862" y="3139494"/>
                </a:lnTo>
                <a:lnTo>
                  <a:pt x="448795" y="3121628"/>
                </a:lnTo>
                <a:lnTo>
                  <a:pt x="705412" y="3162232"/>
                </a:lnTo>
                <a:lnTo>
                  <a:pt x="978270" y="3072904"/>
                </a:lnTo>
                <a:lnTo>
                  <a:pt x="1230014" y="3048541"/>
                </a:lnTo>
                <a:lnTo>
                  <a:pt x="1450899" y="3071280"/>
                </a:lnTo>
                <a:lnTo>
                  <a:pt x="1483382" y="3115132"/>
                </a:lnTo>
                <a:lnTo>
                  <a:pt x="1629556" y="3116756"/>
                </a:lnTo>
                <a:lnTo>
                  <a:pt x="1694523" y="3085897"/>
                </a:lnTo>
                <a:lnTo>
                  <a:pt x="1769234" y="3081025"/>
                </a:lnTo>
                <a:lnTo>
                  <a:pt x="1860187" y="3085897"/>
                </a:lnTo>
                <a:lnTo>
                  <a:pt x="2016106" y="2946220"/>
                </a:lnTo>
                <a:lnTo>
                  <a:pt x="2173649" y="2921857"/>
                </a:lnTo>
                <a:lnTo>
                  <a:pt x="2353930" y="2788676"/>
                </a:lnTo>
                <a:lnTo>
                  <a:pt x="2469245" y="2715589"/>
                </a:lnTo>
                <a:lnTo>
                  <a:pt x="2617043" y="2681482"/>
                </a:lnTo>
                <a:lnTo>
                  <a:pt x="3572047" y="2653871"/>
                </a:lnTo>
                <a:lnTo>
                  <a:pt x="3654879" y="2631133"/>
                </a:lnTo>
                <a:lnTo>
                  <a:pt x="3807550" y="2527187"/>
                </a:lnTo>
                <a:lnTo>
                  <a:pt x="3948852" y="2351778"/>
                </a:lnTo>
                <a:lnTo>
                  <a:pt x="4135630" y="2238087"/>
                </a:lnTo>
                <a:lnTo>
                  <a:pt x="4223334" y="2150383"/>
                </a:lnTo>
                <a:lnTo>
                  <a:pt x="4263938" y="2077296"/>
                </a:lnTo>
                <a:lnTo>
                  <a:pt x="4387374" y="2036692"/>
                </a:lnTo>
                <a:lnTo>
                  <a:pt x="4452340" y="2030195"/>
                </a:lnTo>
                <a:lnTo>
                  <a:pt x="4520555" y="1910008"/>
                </a:lnTo>
                <a:lnTo>
                  <a:pt x="4510810" y="1854786"/>
                </a:lnTo>
                <a:lnTo>
                  <a:pt x="4548165" y="1843417"/>
                </a:lnTo>
                <a:lnTo>
                  <a:pt x="4580648" y="1888894"/>
                </a:lnTo>
                <a:lnTo>
                  <a:pt x="4689467" y="1953860"/>
                </a:lnTo>
                <a:lnTo>
                  <a:pt x="4827520" y="2002585"/>
                </a:lnTo>
                <a:lnTo>
                  <a:pt x="4968822" y="2059430"/>
                </a:lnTo>
                <a:lnTo>
                  <a:pt x="5045157" y="2111403"/>
                </a:lnTo>
                <a:lnTo>
                  <a:pt x="5077640" y="2173121"/>
                </a:lnTo>
                <a:lnTo>
                  <a:pt x="5183210" y="2252705"/>
                </a:lnTo>
                <a:lnTo>
                  <a:pt x="5223814" y="2350154"/>
                </a:lnTo>
                <a:lnTo>
                  <a:pt x="5313143" y="2389134"/>
                </a:lnTo>
                <a:lnTo>
                  <a:pt x="5616860" y="2447604"/>
                </a:lnTo>
                <a:lnTo>
                  <a:pt x="5745169" y="2546677"/>
                </a:lnTo>
                <a:lnTo>
                  <a:pt x="5925450" y="2733455"/>
                </a:lnTo>
                <a:lnTo>
                  <a:pt x="6128469" y="2788676"/>
                </a:lnTo>
                <a:lnTo>
                  <a:pt x="6307903" y="2848236"/>
                </a:lnTo>
                <a:lnTo>
                  <a:pt x="6322475" y="2846415"/>
                </a:lnTo>
                <a:lnTo>
                  <a:pt x="6311546" y="3558627"/>
                </a:lnTo>
                <a:lnTo>
                  <a:pt x="0" y="3551341"/>
                </a:lnTo>
                <a:cubicBezTo>
                  <a:pt x="2429" y="2369178"/>
                  <a:pt x="4857" y="1187016"/>
                  <a:pt x="540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75000"/>
                  <a:shade val="30000"/>
                  <a:satMod val="115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145238F-E28D-E505-FB13-85DD03555679}"/>
              </a:ext>
            </a:extLst>
          </p:cNvPr>
          <p:cNvSpPr/>
          <p:nvPr/>
        </p:nvSpPr>
        <p:spPr>
          <a:xfrm>
            <a:off x="6915150" y="4472940"/>
            <a:ext cx="144780" cy="152400"/>
          </a:xfrm>
          <a:prstGeom prst="ellipse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C8A2155-087B-14CC-D447-45CE5E55DBFE}"/>
              </a:ext>
            </a:extLst>
          </p:cNvPr>
          <p:cNvSpPr/>
          <p:nvPr/>
        </p:nvSpPr>
        <p:spPr>
          <a:xfrm>
            <a:off x="5463540" y="4865370"/>
            <a:ext cx="144780" cy="152400"/>
          </a:xfrm>
          <a:prstGeom prst="ellipse">
            <a:avLst/>
          </a:prstGeom>
          <a:solidFill>
            <a:srgbClr val="8686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28F18B-CDC8-CC40-B76F-C4DB48F37F2D}"/>
              </a:ext>
            </a:extLst>
          </p:cNvPr>
          <p:cNvSpPr/>
          <p:nvPr/>
        </p:nvSpPr>
        <p:spPr>
          <a:xfrm>
            <a:off x="3911498" y="5193029"/>
            <a:ext cx="180442" cy="186197"/>
          </a:xfrm>
          <a:prstGeom prst="ellipse">
            <a:avLst/>
          </a:prstGeom>
          <a:solidFill>
            <a:srgbClr val="8282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ECA938-06ED-D3D5-93B8-A456BCE53BB9}"/>
              </a:ext>
            </a:extLst>
          </p:cNvPr>
          <p:cNvSpPr/>
          <p:nvPr/>
        </p:nvSpPr>
        <p:spPr>
          <a:xfrm>
            <a:off x="2065338" y="5490242"/>
            <a:ext cx="1111250" cy="157504"/>
          </a:xfrm>
          <a:prstGeom prst="rect">
            <a:avLst/>
          </a:prstGeom>
          <a:solidFill>
            <a:srgbClr val="7E7E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584731A-9F7C-1A16-10D0-68877442664C}"/>
              </a:ext>
            </a:extLst>
          </p:cNvPr>
          <p:cNvGrpSpPr/>
          <p:nvPr/>
        </p:nvGrpSpPr>
        <p:grpSpPr>
          <a:xfrm>
            <a:off x="4715705" y="1741480"/>
            <a:ext cx="446883" cy="615396"/>
            <a:chOff x="7507052" y="1870275"/>
            <a:chExt cx="894756" cy="816912"/>
          </a:xfrm>
        </p:grpSpPr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4DAE5188-6C1D-4F56-DAF9-CF6B70811BFA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920429C8-7B95-FEB5-CA1B-FB0289439F5C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085F81A9-D0EA-76A6-1A1E-5BE03801FB35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99BA882-7B0F-8796-13FE-99F82B0C61AC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0988B0A-C29E-59AD-994F-515B51F0ACF0}"/>
              </a:ext>
            </a:extLst>
          </p:cNvPr>
          <p:cNvGrpSpPr/>
          <p:nvPr/>
        </p:nvGrpSpPr>
        <p:grpSpPr>
          <a:xfrm>
            <a:off x="6096000" y="2533841"/>
            <a:ext cx="446883" cy="615396"/>
            <a:chOff x="7507052" y="1870275"/>
            <a:chExt cx="894756" cy="816912"/>
          </a:xfrm>
        </p:grpSpPr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2C30AB95-C3F8-0226-E6C8-8745148E5012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AE7AAD70-2190-8113-3D42-1AF31ACB1591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7741845F-3995-A565-D1B6-20E3677EA2FD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02E3023-0ED2-66EE-CD6E-82487683CC28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14F77EA-F6CB-EC6D-E44F-9FFBF618133D}"/>
              </a:ext>
            </a:extLst>
          </p:cNvPr>
          <p:cNvGrpSpPr/>
          <p:nvPr/>
        </p:nvGrpSpPr>
        <p:grpSpPr>
          <a:xfrm>
            <a:off x="3129895" y="1157762"/>
            <a:ext cx="446883" cy="615396"/>
            <a:chOff x="7507052" y="1870275"/>
            <a:chExt cx="894756" cy="816912"/>
          </a:xfrm>
        </p:grpSpPr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059A33C7-6EDD-CB79-60C5-6753FE489333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E4D32B08-B497-6CD2-3525-EE7167BA2131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Isosceles Triangle 59">
              <a:extLst>
                <a:ext uri="{FF2B5EF4-FFF2-40B4-BE49-F238E27FC236}">
                  <a16:creationId xmlns:a16="http://schemas.microsoft.com/office/drawing/2014/main" id="{FE5B345C-872D-F1E9-9516-010A3302F6B9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06FA0FF-0CA1-D71B-D0DD-FEEBFF5A8AA2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487F3DC-77EF-83ED-7E22-703C4EC1527E}"/>
              </a:ext>
            </a:extLst>
          </p:cNvPr>
          <p:cNvGrpSpPr/>
          <p:nvPr/>
        </p:nvGrpSpPr>
        <p:grpSpPr>
          <a:xfrm>
            <a:off x="1223857" y="200649"/>
            <a:ext cx="446883" cy="615396"/>
            <a:chOff x="7507052" y="1870275"/>
            <a:chExt cx="894756" cy="816912"/>
          </a:xfrm>
        </p:grpSpPr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D39E825C-CF66-28FD-BC98-57DB2D852650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01ACE29C-A4E3-72C5-DD6B-AF6420639A23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D908117A-E90C-25DC-F6BE-E7BC53B1F54C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4D36FD2-3140-1E95-FCD6-0059B7D5EE1D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7027D0D-A5E3-C3D7-E2FF-BDC490A43FAB}"/>
              </a:ext>
            </a:extLst>
          </p:cNvPr>
          <p:cNvGrpSpPr/>
          <p:nvPr/>
        </p:nvGrpSpPr>
        <p:grpSpPr>
          <a:xfrm>
            <a:off x="9443185" y="4117627"/>
            <a:ext cx="446883" cy="615396"/>
            <a:chOff x="7507052" y="1870275"/>
            <a:chExt cx="894756" cy="816912"/>
          </a:xfrm>
        </p:grpSpPr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A3CC20CF-0183-7ADD-3AFE-B9CE2909AE4C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Isosceles Triangle 68">
              <a:extLst>
                <a:ext uri="{FF2B5EF4-FFF2-40B4-BE49-F238E27FC236}">
                  <a16:creationId xmlns:a16="http://schemas.microsoft.com/office/drawing/2014/main" id="{D2EA2E15-E337-DED6-4E6B-E0D99A2E64C5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Isosceles Triangle 69">
              <a:extLst>
                <a:ext uri="{FF2B5EF4-FFF2-40B4-BE49-F238E27FC236}">
                  <a16:creationId xmlns:a16="http://schemas.microsoft.com/office/drawing/2014/main" id="{775835BE-4D1D-75D5-D06F-639F48BD1452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0E00C7A-15AF-48EF-A1D7-7C5CE18C18CE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069DA4D-EF42-9CCB-8E79-0F3D529741B4}"/>
              </a:ext>
            </a:extLst>
          </p:cNvPr>
          <p:cNvGrpSpPr/>
          <p:nvPr/>
        </p:nvGrpSpPr>
        <p:grpSpPr>
          <a:xfrm>
            <a:off x="11451877" y="5429517"/>
            <a:ext cx="446883" cy="615396"/>
            <a:chOff x="7507052" y="1870275"/>
            <a:chExt cx="894756" cy="816912"/>
          </a:xfrm>
        </p:grpSpPr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91585DCC-7B80-2485-041E-14B6E19B46B1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Isosceles Triangle 73">
              <a:extLst>
                <a:ext uri="{FF2B5EF4-FFF2-40B4-BE49-F238E27FC236}">
                  <a16:creationId xmlns:a16="http://schemas.microsoft.com/office/drawing/2014/main" id="{77F25B9B-A952-22AA-6BCA-F6682CE23A1B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Isosceles Triangle 74">
              <a:extLst>
                <a:ext uri="{FF2B5EF4-FFF2-40B4-BE49-F238E27FC236}">
                  <a16:creationId xmlns:a16="http://schemas.microsoft.com/office/drawing/2014/main" id="{0C39891B-ED18-7D39-74D0-23D9CC813036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DE0A063-C5DE-7417-D336-FE10D533C304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5146D6E-06AF-7391-EAFB-29453C8EA2DE}"/>
              </a:ext>
            </a:extLst>
          </p:cNvPr>
          <p:cNvGrpSpPr/>
          <p:nvPr/>
        </p:nvGrpSpPr>
        <p:grpSpPr>
          <a:xfrm>
            <a:off x="7203973" y="3149237"/>
            <a:ext cx="446883" cy="615396"/>
            <a:chOff x="7507052" y="1870275"/>
            <a:chExt cx="894756" cy="816912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71383D91-B4E1-E0A4-2AC0-A53C03F3D78B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8058FE52-F533-CFDC-6E2F-32C6A75CA2EA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33A65539-FE84-B2B5-8D00-E0A54D88F062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A061C55-0ADE-17FB-0E3B-A74CD37AFEF8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CE8F2BB-C60F-5DED-FCEC-19702934199C}"/>
              </a:ext>
            </a:extLst>
          </p:cNvPr>
          <p:cNvGrpSpPr/>
          <p:nvPr/>
        </p:nvGrpSpPr>
        <p:grpSpPr>
          <a:xfrm>
            <a:off x="10278572" y="4733023"/>
            <a:ext cx="446883" cy="615396"/>
            <a:chOff x="7507052" y="1870275"/>
            <a:chExt cx="894756" cy="816912"/>
          </a:xfrm>
        </p:grpSpPr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A73A2511-1EF1-B4AF-B7FB-990C66A2D658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A6419397-E873-1D09-E2EA-6E19E79C5C9E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Isosceles Triangle 82">
              <a:extLst>
                <a:ext uri="{FF2B5EF4-FFF2-40B4-BE49-F238E27FC236}">
                  <a16:creationId xmlns:a16="http://schemas.microsoft.com/office/drawing/2014/main" id="{97284289-467B-B2FC-436D-6A235C05BC2B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EE4B508-1E3D-5B9F-BCEF-39E0E4AFB29D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6" name="Oval 85">
            <a:extLst>
              <a:ext uri="{FF2B5EF4-FFF2-40B4-BE49-F238E27FC236}">
                <a16:creationId xmlns:a16="http://schemas.microsoft.com/office/drawing/2014/main" id="{9494F556-8F9F-C6AF-B8EE-4C9F0F149579}"/>
              </a:ext>
            </a:extLst>
          </p:cNvPr>
          <p:cNvSpPr/>
          <p:nvPr/>
        </p:nvSpPr>
        <p:spPr>
          <a:xfrm>
            <a:off x="86341" y="806829"/>
            <a:ext cx="4778027" cy="1528119"/>
          </a:xfrm>
          <a:prstGeom prst="ellipse">
            <a:avLst/>
          </a:prstGeom>
          <a:solidFill>
            <a:srgbClr val="4A8C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Surface Soil Microbial Assemblage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5C04F22-C3D7-06B3-AFF3-43BAAE72E01F}"/>
              </a:ext>
            </a:extLst>
          </p:cNvPr>
          <p:cNvSpPr/>
          <p:nvPr/>
        </p:nvSpPr>
        <p:spPr>
          <a:xfrm>
            <a:off x="7571780" y="5321012"/>
            <a:ext cx="3686258" cy="1513124"/>
          </a:xfrm>
          <a:prstGeom prst="ellipse">
            <a:avLst/>
          </a:prstGeom>
          <a:solidFill>
            <a:srgbClr val="4A90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Cave Ground Water Microbial Assemblage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1F6D052E-165F-B6F3-66B5-F69CD1278D29}"/>
              </a:ext>
            </a:extLst>
          </p:cNvPr>
          <p:cNvSpPr/>
          <p:nvPr/>
        </p:nvSpPr>
        <p:spPr>
          <a:xfrm>
            <a:off x="475917" y="4230198"/>
            <a:ext cx="5028857" cy="2542100"/>
          </a:xfrm>
          <a:prstGeom prst="ellipse">
            <a:avLst/>
          </a:prstGeom>
          <a:solidFill>
            <a:srgbClr val="3B1F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Cave Microbial Assemblage</a:t>
            </a:r>
          </a:p>
        </p:txBody>
      </p:sp>
      <p:sp>
        <p:nvSpPr>
          <p:cNvPr id="90" name="Arrow: Right 89">
            <a:extLst>
              <a:ext uri="{FF2B5EF4-FFF2-40B4-BE49-F238E27FC236}">
                <a16:creationId xmlns:a16="http://schemas.microsoft.com/office/drawing/2014/main" id="{3F4A1501-7A0B-31B3-79D5-69C516CA6016}"/>
              </a:ext>
            </a:extLst>
          </p:cNvPr>
          <p:cNvSpPr/>
          <p:nvPr/>
        </p:nvSpPr>
        <p:spPr>
          <a:xfrm rot="5400000">
            <a:off x="1785765" y="3082135"/>
            <a:ext cx="1736414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Microbes</a:t>
            </a:r>
          </a:p>
        </p:txBody>
      </p:sp>
      <p:sp>
        <p:nvSpPr>
          <p:cNvPr id="91" name="Arrow: Right 90">
            <a:extLst>
              <a:ext uri="{FF2B5EF4-FFF2-40B4-BE49-F238E27FC236}">
                <a16:creationId xmlns:a16="http://schemas.microsoft.com/office/drawing/2014/main" id="{89AF42D9-BFBA-49E4-1C72-46B7EA0A7A64}"/>
              </a:ext>
            </a:extLst>
          </p:cNvPr>
          <p:cNvSpPr/>
          <p:nvPr/>
        </p:nvSpPr>
        <p:spPr>
          <a:xfrm flipH="1">
            <a:off x="5471197" y="5772697"/>
            <a:ext cx="200339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Microbes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4CE1D19-0FAA-A51C-6F65-20D56454D5F6}"/>
              </a:ext>
            </a:extLst>
          </p:cNvPr>
          <p:cNvSpPr/>
          <p:nvPr/>
        </p:nvSpPr>
        <p:spPr>
          <a:xfrm>
            <a:off x="7768986" y="2879976"/>
            <a:ext cx="2651953" cy="1202604"/>
          </a:xfrm>
          <a:prstGeom prst="ellipse">
            <a:avLst/>
          </a:prstGeom>
          <a:solidFill>
            <a:srgbClr val="4A8C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Cave Entrance Soil Microbial Assemblage</a:t>
            </a:r>
          </a:p>
        </p:txBody>
      </p:sp>
      <p:sp>
        <p:nvSpPr>
          <p:cNvPr id="94" name="Arrow: Right 93">
            <a:extLst>
              <a:ext uri="{FF2B5EF4-FFF2-40B4-BE49-F238E27FC236}">
                <a16:creationId xmlns:a16="http://schemas.microsoft.com/office/drawing/2014/main" id="{5E31AB06-E370-617A-7973-5D796BA55B6C}"/>
              </a:ext>
            </a:extLst>
          </p:cNvPr>
          <p:cNvSpPr/>
          <p:nvPr/>
        </p:nvSpPr>
        <p:spPr>
          <a:xfrm rot="19987934" flipH="1">
            <a:off x="5417929" y="4370447"/>
            <a:ext cx="278034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Microbes</a:t>
            </a:r>
          </a:p>
        </p:txBody>
      </p:sp>
    </p:spTree>
    <p:extLst>
      <p:ext uri="{BB962C8B-B14F-4D97-AF65-F5344CB8AC3E}">
        <p14:creationId xmlns:p14="http://schemas.microsoft.com/office/powerpoint/2010/main" val="608190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767F437-40FE-B4EE-0C0E-11E2493C1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41B47561-70D4-1F75-4300-6EA63DF2C83B}"/>
              </a:ext>
            </a:extLst>
          </p:cNvPr>
          <p:cNvSpPr/>
          <p:nvPr/>
        </p:nvSpPr>
        <p:spPr>
          <a:xfrm>
            <a:off x="-71120" y="1082774"/>
            <a:ext cx="10283170" cy="5775226"/>
          </a:xfrm>
          <a:custGeom>
            <a:avLst/>
            <a:gdLst>
              <a:gd name="csX0" fmla="*/ 5400 w 6322475"/>
              <a:gd name="csY0" fmla="*/ 0 h 3558627"/>
              <a:gd name="csX1" fmla="*/ 804485 w 6322475"/>
              <a:gd name="csY1" fmla="*/ 25986 h 3558627"/>
              <a:gd name="csX2" fmla="*/ 934418 w 6322475"/>
              <a:gd name="csY2" fmla="*/ 38980 h 3558627"/>
              <a:gd name="csX3" fmla="*/ 1028619 w 6322475"/>
              <a:gd name="csY3" fmla="*/ 131557 h 3558627"/>
              <a:gd name="csX4" fmla="*/ 1059478 w 6322475"/>
              <a:gd name="csY4" fmla="*/ 240375 h 3558627"/>
              <a:gd name="csX5" fmla="*/ 1124444 w 6322475"/>
              <a:gd name="csY5" fmla="*/ 282603 h 3558627"/>
              <a:gd name="csX6" fmla="*/ 1359946 w 6322475"/>
              <a:gd name="csY6" fmla="*/ 352442 h 3558627"/>
              <a:gd name="csX7" fmla="*/ 1528859 w 6322475"/>
              <a:gd name="csY7" fmla="*/ 389798 h 3558627"/>
              <a:gd name="csX8" fmla="*/ 1666912 w 6322475"/>
              <a:gd name="csY8" fmla="*/ 440146 h 3558627"/>
              <a:gd name="csX9" fmla="*/ 1723758 w 6322475"/>
              <a:gd name="csY9" fmla="*/ 503488 h 3558627"/>
              <a:gd name="csX10" fmla="*/ 1739999 w 6322475"/>
              <a:gd name="csY10" fmla="*/ 542468 h 3558627"/>
              <a:gd name="csX11" fmla="*/ 1925153 w 6322475"/>
              <a:gd name="csY11" fmla="*/ 641542 h 3558627"/>
              <a:gd name="csX12" fmla="*/ 2072951 w 6322475"/>
              <a:gd name="csY12" fmla="*/ 651287 h 3558627"/>
              <a:gd name="csX13" fmla="*/ 2225622 w 6322475"/>
              <a:gd name="csY13" fmla="*/ 693515 h 3558627"/>
              <a:gd name="csX14" fmla="*/ 2292212 w 6322475"/>
              <a:gd name="csY14" fmla="*/ 711380 h 3558627"/>
              <a:gd name="csX15" fmla="*/ 2379917 w 6322475"/>
              <a:gd name="csY15" fmla="*/ 745488 h 3558627"/>
              <a:gd name="csX16" fmla="*/ 2563446 w 6322475"/>
              <a:gd name="csY16" fmla="*/ 833192 h 3558627"/>
              <a:gd name="csX17" fmla="*/ 3065311 w 6322475"/>
              <a:gd name="csY17" fmla="*/ 1192131 h 3558627"/>
              <a:gd name="csX18" fmla="*/ 3408008 w 6322475"/>
              <a:gd name="csY18" fmla="*/ 1369164 h 3558627"/>
              <a:gd name="csX19" fmla="*/ 3687362 w 6322475"/>
              <a:gd name="csY19" fmla="*/ 1500720 h 3558627"/>
              <a:gd name="csX20" fmla="*/ 3966717 w 6322475"/>
              <a:gd name="csY20" fmla="*/ 1614411 h 3558627"/>
              <a:gd name="csX21" fmla="*/ 4039804 w 6322475"/>
              <a:gd name="csY21" fmla="*/ 1668009 h 3558627"/>
              <a:gd name="csX22" fmla="*/ 4104771 w 6322475"/>
              <a:gd name="csY22" fmla="*/ 1690747 h 3558627"/>
              <a:gd name="csX23" fmla="*/ 4198972 w 6322475"/>
              <a:gd name="csY23" fmla="*/ 1719982 h 3558627"/>
              <a:gd name="csX24" fmla="*/ 4257441 w 6322475"/>
              <a:gd name="csY24" fmla="*/ 1775203 h 3558627"/>
              <a:gd name="csX25" fmla="*/ 4259065 w 6322475"/>
              <a:gd name="csY25" fmla="*/ 1838545 h 3558627"/>
              <a:gd name="csX26" fmla="*/ 4257441 w 6322475"/>
              <a:gd name="csY26" fmla="*/ 1901887 h 3558627"/>
              <a:gd name="csX27" fmla="*/ 4155119 w 6322475"/>
              <a:gd name="csY27" fmla="*/ 1926249 h 3558627"/>
              <a:gd name="csX28" fmla="*/ 4023563 w 6322475"/>
              <a:gd name="csY28" fmla="*/ 1974974 h 3558627"/>
              <a:gd name="csX29" fmla="*/ 3883885 w 6322475"/>
              <a:gd name="csY29" fmla="*/ 2147135 h 3558627"/>
              <a:gd name="csX30" fmla="*/ 3770194 w 6322475"/>
              <a:gd name="csY30" fmla="*/ 2200732 h 3558627"/>
              <a:gd name="csX31" fmla="*/ 3666248 w 6322475"/>
              <a:gd name="csY31" fmla="*/ 2238087 h 3558627"/>
              <a:gd name="csX32" fmla="*/ 3563927 w 6322475"/>
              <a:gd name="csY32" fmla="*/ 2278691 h 3558627"/>
              <a:gd name="csX33" fmla="*/ 3446987 w 6322475"/>
              <a:gd name="csY33" fmla="*/ 2288436 h 3558627"/>
              <a:gd name="csX34" fmla="*/ 3430746 w 6322475"/>
              <a:gd name="csY34" fmla="*/ 2288436 h 3558627"/>
              <a:gd name="csX35" fmla="*/ 3195243 w 6322475"/>
              <a:gd name="csY35" fmla="*/ 2288436 h 3558627"/>
              <a:gd name="csX36" fmla="*/ 3167632 w 6322475"/>
              <a:gd name="csY36" fmla="*/ 2288436 h 3558627"/>
              <a:gd name="csX37" fmla="*/ 2922385 w 6322475"/>
              <a:gd name="csY37" fmla="*/ 2291685 h 3558627"/>
              <a:gd name="csX38" fmla="*/ 2680386 w 6322475"/>
              <a:gd name="csY38" fmla="*/ 2290060 h 3558627"/>
              <a:gd name="csX39" fmla="*/ 2660896 w 6322475"/>
              <a:gd name="csY39" fmla="*/ 2290060 h 3558627"/>
              <a:gd name="csX40" fmla="*/ 2534212 w 6322475"/>
              <a:gd name="csY40" fmla="*/ 2314423 h 3558627"/>
              <a:gd name="csX41" fmla="*/ 2388037 w 6322475"/>
              <a:gd name="csY41" fmla="*/ 2320919 h 3558627"/>
              <a:gd name="csX42" fmla="*/ 2261353 w 6322475"/>
              <a:gd name="csY42" fmla="*/ 2364772 h 3558627"/>
              <a:gd name="csX43" fmla="*/ 2152535 w 6322475"/>
              <a:gd name="csY43" fmla="*/ 2426490 h 3558627"/>
              <a:gd name="csX44" fmla="*/ 2074575 w 6322475"/>
              <a:gd name="csY44" fmla="*/ 2465469 h 3558627"/>
              <a:gd name="csX45" fmla="*/ 1967381 w 6322475"/>
              <a:gd name="csY45" fmla="*/ 2507697 h 3558627"/>
              <a:gd name="csX46" fmla="*/ 1804965 w 6322475"/>
              <a:gd name="csY46" fmla="*/ 2548301 h 3558627"/>
              <a:gd name="csX47" fmla="*/ 1705892 w 6322475"/>
              <a:gd name="csY47" fmla="*/ 2585657 h 3558627"/>
              <a:gd name="csX48" fmla="*/ 1634429 w 6322475"/>
              <a:gd name="csY48" fmla="*/ 2585657 h 3558627"/>
              <a:gd name="csX49" fmla="*/ 1575959 w 6322475"/>
              <a:gd name="csY49" fmla="*/ 2580784 h 3558627"/>
              <a:gd name="csX50" fmla="*/ 1498000 w 6322475"/>
              <a:gd name="csY50" fmla="*/ 2562919 h 3558627"/>
              <a:gd name="csX51" fmla="*/ 1421664 w 6322475"/>
              <a:gd name="csY51" fmla="*/ 2549925 h 3558627"/>
              <a:gd name="csX52" fmla="*/ 1376188 w 6322475"/>
              <a:gd name="csY52" fmla="*/ 2541805 h 3558627"/>
              <a:gd name="csX53" fmla="*/ 1168296 w 6322475"/>
              <a:gd name="csY53" fmla="*/ 2545053 h 3558627"/>
              <a:gd name="csX54" fmla="*/ 1080592 w 6322475"/>
              <a:gd name="csY54" fmla="*/ 2585657 h 3558627"/>
              <a:gd name="csX55" fmla="*/ 953907 w 6322475"/>
              <a:gd name="csY55" fmla="*/ 2579160 h 3558627"/>
              <a:gd name="csX56" fmla="*/ 828847 w 6322475"/>
              <a:gd name="csY56" fmla="*/ 2584033 h 3558627"/>
              <a:gd name="csX57" fmla="*/ 742767 w 6322475"/>
              <a:gd name="csY57" fmla="*/ 2593778 h 3558627"/>
              <a:gd name="csX58" fmla="*/ 620955 w 6322475"/>
              <a:gd name="csY58" fmla="*/ 2619764 h 3558627"/>
              <a:gd name="csX59" fmla="*/ 612835 w 6322475"/>
              <a:gd name="csY59" fmla="*/ 3011186 h 3558627"/>
              <a:gd name="csX60" fmla="*/ 590096 w 6322475"/>
              <a:gd name="csY60" fmla="*/ 3056662 h 3558627"/>
              <a:gd name="csX61" fmla="*/ 547868 w 6322475"/>
              <a:gd name="csY61" fmla="*/ 3050166 h 3558627"/>
              <a:gd name="csX62" fmla="*/ 499144 w 6322475"/>
              <a:gd name="csY62" fmla="*/ 3024179 h 3558627"/>
              <a:gd name="csX63" fmla="*/ 473157 w 6322475"/>
              <a:gd name="csY63" fmla="*/ 3017682 h 3558627"/>
              <a:gd name="csX64" fmla="*/ 429305 w 6322475"/>
              <a:gd name="csY64" fmla="*/ 3038796 h 3558627"/>
              <a:gd name="csX65" fmla="*/ 408191 w 6322475"/>
              <a:gd name="csY65" fmla="*/ 3055038 h 3558627"/>
              <a:gd name="csX66" fmla="*/ 369211 w 6322475"/>
              <a:gd name="csY66" fmla="*/ 3048541 h 3558627"/>
              <a:gd name="csX67" fmla="*/ 331856 w 6322475"/>
              <a:gd name="csY67" fmla="*/ 3032300 h 3558627"/>
              <a:gd name="csX68" fmla="*/ 292876 w 6322475"/>
              <a:gd name="csY68" fmla="*/ 3032300 h 3558627"/>
              <a:gd name="csX69" fmla="*/ 271762 w 6322475"/>
              <a:gd name="csY69" fmla="*/ 3077776 h 3558627"/>
              <a:gd name="csX70" fmla="*/ 294500 w 6322475"/>
              <a:gd name="csY70" fmla="*/ 3124877 h 3558627"/>
              <a:gd name="csX71" fmla="*/ 318862 w 6322475"/>
              <a:gd name="csY71" fmla="*/ 3139494 h 3558627"/>
              <a:gd name="csX72" fmla="*/ 448795 w 6322475"/>
              <a:gd name="csY72" fmla="*/ 3121628 h 3558627"/>
              <a:gd name="csX73" fmla="*/ 705412 w 6322475"/>
              <a:gd name="csY73" fmla="*/ 3162232 h 3558627"/>
              <a:gd name="csX74" fmla="*/ 978270 w 6322475"/>
              <a:gd name="csY74" fmla="*/ 3072904 h 3558627"/>
              <a:gd name="csX75" fmla="*/ 1230014 w 6322475"/>
              <a:gd name="csY75" fmla="*/ 3048541 h 3558627"/>
              <a:gd name="csX76" fmla="*/ 1450899 w 6322475"/>
              <a:gd name="csY76" fmla="*/ 3071280 h 3558627"/>
              <a:gd name="csX77" fmla="*/ 1483382 w 6322475"/>
              <a:gd name="csY77" fmla="*/ 3115132 h 3558627"/>
              <a:gd name="csX78" fmla="*/ 1629556 w 6322475"/>
              <a:gd name="csY78" fmla="*/ 3116756 h 3558627"/>
              <a:gd name="csX79" fmla="*/ 1694523 w 6322475"/>
              <a:gd name="csY79" fmla="*/ 3085897 h 3558627"/>
              <a:gd name="csX80" fmla="*/ 1769234 w 6322475"/>
              <a:gd name="csY80" fmla="*/ 3081025 h 3558627"/>
              <a:gd name="csX81" fmla="*/ 1860187 w 6322475"/>
              <a:gd name="csY81" fmla="*/ 3085897 h 3558627"/>
              <a:gd name="csX82" fmla="*/ 2016106 w 6322475"/>
              <a:gd name="csY82" fmla="*/ 2946220 h 3558627"/>
              <a:gd name="csX83" fmla="*/ 2173649 w 6322475"/>
              <a:gd name="csY83" fmla="*/ 2921857 h 3558627"/>
              <a:gd name="csX84" fmla="*/ 2353930 w 6322475"/>
              <a:gd name="csY84" fmla="*/ 2788676 h 3558627"/>
              <a:gd name="csX85" fmla="*/ 2469245 w 6322475"/>
              <a:gd name="csY85" fmla="*/ 2715589 h 3558627"/>
              <a:gd name="csX86" fmla="*/ 2617043 w 6322475"/>
              <a:gd name="csY86" fmla="*/ 2681482 h 3558627"/>
              <a:gd name="csX87" fmla="*/ 3572047 w 6322475"/>
              <a:gd name="csY87" fmla="*/ 2653871 h 3558627"/>
              <a:gd name="csX88" fmla="*/ 3654879 w 6322475"/>
              <a:gd name="csY88" fmla="*/ 2631133 h 3558627"/>
              <a:gd name="csX89" fmla="*/ 3807550 w 6322475"/>
              <a:gd name="csY89" fmla="*/ 2527187 h 3558627"/>
              <a:gd name="csX90" fmla="*/ 3948852 w 6322475"/>
              <a:gd name="csY90" fmla="*/ 2351778 h 3558627"/>
              <a:gd name="csX91" fmla="*/ 4135630 w 6322475"/>
              <a:gd name="csY91" fmla="*/ 2238087 h 3558627"/>
              <a:gd name="csX92" fmla="*/ 4223334 w 6322475"/>
              <a:gd name="csY92" fmla="*/ 2150383 h 3558627"/>
              <a:gd name="csX93" fmla="*/ 4263938 w 6322475"/>
              <a:gd name="csY93" fmla="*/ 2077296 h 3558627"/>
              <a:gd name="csX94" fmla="*/ 4387374 w 6322475"/>
              <a:gd name="csY94" fmla="*/ 2036692 h 3558627"/>
              <a:gd name="csX95" fmla="*/ 4452340 w 6322475"/>
              <a:gd name="csY95" fmla="*/ 2030195 h 3558627"/>
              <a:gd name="csX96" fmla="*/ 4520555 w 6322475"/>
              <a:gd name="csY96" fmla="*/ 1910008 h 3558627"/>
              <a:gd name="csX97" fmla="*/ 4510810 w 6322475"/>
              <a:gd name="csY97" fmla="*/ 1854786 h 3558627"/>
              <a:gd name="csX98" fmla="*/ 4548165 w 6322475"/>
              <a:gd name="csY98" fmla="*/ 1843417 h 3558627"/>
              <a:gd name="csX99" fmla="*/ 4580648 w 6322475"/>
              <a:gd name="csY99" fmla="*/ 1888894 h 3558627"/>
              <a:gd name="csX100" fmla="*/ 4689467 w 6322475"/>
              <a:gd name="csY100" fmla="*/ 1953860 h 3558627"/>
              <a:gd name="csX101" fmla="*/ 4827520 w 6322475"/>
              <a:gd name="csY101" fmla="*/ 2002585 h 3558627"/>
              <a:gd name="csX102" fmla="*/ 4968822 w 6322475"/>
              <a:gd name="csY102" fmla="*/ 2059430 h 3558627"/>
              <a:gd name="csX103" fmla="*/ 5045157 w 6322475"/>
              <a:gd name="csY103" fmla="*/ 2111403 h 3558627"/>
              <a:gd name="csX104" fmla="*/ 5077640 w 6322475"/>
              <a:gd name="csY104" fmla="*/ 2173121 h 3558627"/>
              <a:gd name="csX105" fmla="*/ 5183210 w 6322475"/>
              <a:gd name="csY105" fmla="*/ 2252705 h 3558627"/>
              <a:gd name="csX106" fmla="*/ 5223814 w 6322475"/>
              <a:gd name="csY106" fmla="*/ 2350154 h 3558627"/>
              <a:gd name="csX107" fmla="*/ 5313143 w 6322475"/>
              <a:gd name="csY107" fmla="*/ 2389134 h 3558627"/>
              <a:gd name="csX108" fmla="*/ 5616860 w 6322475"/>
              <a:gd name="csY108" fmla="*/ 2447604 h 3558627"/>
              <a:gd name="csX109" fmla="*/ 5745169 w 6322475"/>
              <a:gd name="csY109" fmla="*/ 2546677 h 3558627"/>
              <a:gd name="csX110" fmla="*/ 5925450 w 6322475"/>
              <a:gd name="csY110" fmla="*/ 2733455 h 3558627"/>
              <a:gd name="csX111" fmla="*/ 6128469 w 6322475"/>
              <a:gd name="csY111" fmla="*/ 2788676 h 3558627"/>
              <a:gd name="csX112" fmla="*/ 6307903 w 6322475"/>
              <a:gd name="csY112" fmla="*/ 2848236 h 3558627"/>
              <a:gd name="csX113" fmla="*/ 6322475 w 6322475"/>
              <a:gd name="csY113" fmla="*/ 2846415 h 3558627"/>
              <a:gd name="csX114" fmla="*/ 6311546 w 6322475"/>
              <a:gd name="csY114" fmla="*/ 3558627 h 3558627"/>
              <a:gd name="csX115" fmla="*/ 0 w 6322475"/>
              <a:gd name="csY115" fmla="*/ 3551341 h 3558627"/>
              <a:gd name="csX116" fmla="*/ 5400 w 6322475"/>
              <a:gd name="csY116" fmla="*/ 0 h 35586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</a:cxnLst>
            <a:rect l="l" t="t" r="r" b="b"/>
            <a:pathLst>
              <a:path w="6322475" h="3558627">
                <a:moveTo>
                  <a:pt x="5400" y="0"/>
                </a:moveTo>
                <a:lnTo>
                  <a:pt x="804485" y="25986"/>
                </a:lnTo>
                <a:lnTo>
                  <a:pt x="934418" y="38980"/>
                </a:lnTo>
                <a:lnTo>
                  <a:pt x="1028619" y="131557"/>
                </a:lnTo>
                <a:lnTo>
                  <a:pt x="1059478" y="240375"/>
                </a:lnTo>
                <a:lnTo>
                  <a:pt x="1124444" y="282603"/>
                </a:lnTo>
                <a:lnTo>
                  <a:pt x="1359946" y="352442"/>
                </a:lnTo>
                <a:lnTo>
                  <a:pt x="1528859" y="389798"/>
                </a:lnTo>
                <a:lnTo>
                  <a:pt x="1666912" y="440146"/>
                </a:lnTo>
                <a:lnTo>
                  <a:pt x="1723758" y="503488"/>
                </a:lnTo>
                <a:lnTo>
                  <a:pt x="1739999" y="542468"/>
                </a:lnTo>
                <a:lnTo>
                  <a:pt x="1925153" y="641542"/>
                </a:lnTo>
                <a:lnTo>
                  <a:pt x="2072951" y="651287"/>
                </a:lnTo>
                <a:lnTo>
                  <a:pt x="2225622" y="693515"/>
                </a:lnTo>
                <a:lnTo>
                  <a:pt x="2292212" y="711380"/>
                </a:lnTo>
                <a:lnTo>
                  <a:pt x="2379917" y="745488"/>
                </a:lnTo>
                <a:lnTo>
                  <a:pt x="2563446" y="833192"/>
                </a:lnTo>
                <a:lnTo>
                  <a:pt x="3065311" y="1192131"/>
                </a:lnTo>
                <a:lnTo>
                  <a:pt x="3408008" y="1369164"/>
                </a:lnTo>
                <a:lnTo>
                  <a:pt x="3687362" y="1500720"/>
                </a:lnTo>
                <a:lnTo>
                  <a:pt x="3966717" y="1614411"/>
                </a:lnTo>
                <a:lnTo>
                  <a:pt x="4039804" y="1668009"/>
                </a:lnTo>
                <a:lnTo>
                  <a:pt x="4104771" y="1690747"/>
                </a:lnTo>
                <a:lnTo>
                  <a:pt x="4198972" y="1719982"/>
                </a:lnTo>
                <a:lnTo>
                  <a:pt x="4257441" y="1775203"/>
                </a:lnTo>
                <a:cubicBezTo>
                  <a:pt x="4257982" y="1796317"/>
                  <a:pt x="4258524" y="1817431"/>
                  <a:pt x="4259065" y="1838545"/>
                </a:cubicBezTo>
                <a:cubicBezTo>
                  <a:pt x="4258524" y="1859659"/>
                  <a:pt x="4257982" y="1880773"/>
                  <a:pt x="4257441" y="1901887"/>
                </a:cubicBezTo>
                <a:lnTo>
                  <a:pt x="4155119" y="1926249"/>
                </a:lnTo>
                <a:lnTo>
                  <a:pt x="4023563" y="1974974"/>
                </a:lnTo>
                <a:lnTo>
                  <a:pt x="3883885" y="2147135"/>
                </a:lnTo>
                <a:lnTo>
                  <a:pt x="3770194" y="2200732"/>
                </a:lnTo>
                <a:lnTo>
                  <a:pt x="3666248" y="2238087"/>
                </a:lnTo>
                <a:lnTo>
                  <a:pt x="3563927" y="2278691"/>
                </a:lnTo>
                <a:lnTo>
                  <a:pt x="3446987" y="2288436"/>
                </a:lnTo>
                <a:lnTo>
                  <a:pt x="3430746" y="2288436"/>
                </a:lnTo>
                <a:lnTo>
                  <a:pt x="3195243" y="2288436"/>
                </a:lnTo>
                <a:lnTo>
                  <a:pt x="3167632" y="2288436"/>
                </a:lnTo>
                <a:lnTo>
                  <a:pt x="2922385" y="2291685"/>
                </a:lnTo>
                <a:lnTo>
                  <a:pt x="2680386" y="2290060"/>
                </a:lnTo>
                <a:lnTo>
                  <a:pt x="2660896" y="2290060"/>
                </a:lnTo>
                <a:lnTo>
                  <a:pt x="2534212" y="2314423"/>
                </a:lnTo>
                <a:lnTo>
                  <a:pt x="2388037" y="2320919"/>
                </a:lnTo>
                <a:lnTo>
                  <a:pt x="2261353" y="2364772"/>
                </a:lnTo>
                <a:lnTo>
                  <a:pt x="2152535" y="2426490"/>
                </a:lnTo>
                <a:lnTo>
                  <a:pt x="2074575" y="2465469"/>
                </a:lnTo>
                <a:lnTo>
                  <a:pt x="1967381" y="2507697"/>
                </a:lnTo>
                <a:lnTo>
                  <a:pt x="1804965" y="2548301"/>
                </a:lnTo>
                <a:lnTo>
                  <a:pt x="1705892" y="2585657"/>
                </a:lnTo>
                <a:lnTo>
                  <a:pt x="1634429" y="2585657"/>
                </a:lnTo>
                <a:lnTo>
                  <a:pt x="1575959" y="2580784"/>
                </a:lnTo>
                <a:lnTo>
                  <a:pt x="1498000" y="2562919"/>
                </a:lnTo>
                <a:lnTo>
                  <a:pt x="1421664" y="2549925"/>
                </a:lnTo>
                <a:lnTo>
                  <a:pt x="1376188" y="2541805"/>
                </a:lnTo>
                <a:lnTo>
                  <a:pt x="1168296" y="2545053"/>
                </a:lnTo>
                <a:lnTo>
                  <a:pt x="1080592" y="2585657"/>
                </a:lnTo>
                <a:lnTo>
                  <a:pt x="953907" y="2579160"/>
                </a:lnTo>
                <a:lnTo>
                  <a:pt x="828847" y="2584033"/>
                </a:lnTo>
                <a:lnTo>
                  <a:pt x="742767" y="2593778"/>
                </a:lnTo>
                <a:lnTo>
                  <a:pt x="620955" y="2619764"/>
                </a:lnTo>
                <a:lnTo>
                  <a:pt x="612835" y="3011186"/>
                </a:lnTo>
                <a:lnTo>
                  <a:pt x="590096" y="3056662"/>
                </a:lnTo>
                <a:lnTo>
                  <a:pt x="547868" y="3050166"/>
                </a:lnTo>
                <a:lnTo>
                  <a:pt x="499144" y="3024179"/>
                </a:lnTo>
                <a:lnTo>
                  <a:pt x="473157" y="3017682"/>
                </a:lnTo>
                <a:lnTo>
                  <a:pt x="429305" y="3038796"/>
                </a:lnTo>
                <a:lnTo>
                  <a:pt x="408191" y="3055038"/>
                </a:lnTo>
                <a:lnTo>
                  <a:pt x="369211" y="3048541"/>
                </a:lnTo>
                <a:lnTo>
                  <a:pt x="331856" y="3032300"/>
                </a:lnTo>
                <a:lnTo>
                  <a:pt x="292876" y="3032300"/>
                </a:lnTo>
                <a:lnTo>
                  <a:pt x="271762" y="3077776"/>
                </a:lnTo>
                <a:lnTo>
                  <a:pt x="294500" y="3124877"/>
                </a:lnTo>
                <a:lnTo>
                  <a:pt x="318862" y="3139494"/>
                </a:lnTo>
                <a:lnTo>
                  <a:pt x="448795" y="3121628"/>
                </a:lnTo>
                <a:lnTo>
                  <a:pt x="705412" y="3162232"/>
                </a:lnTo>
                <a:lnTo>
                  <a:pt x="978270" y="3072904"/>
                </a:lnTo>
                <a:lnTo>
                  <a:pt x="1230014" y="3048541"/>
                </a:lnTo>
                <a:lnTo>
                  <a:pt x="1450899" y="3071280"/>
                </a:lnTo>
                <a:lnTo>
                  <a:pt x="1483382" y="3115132"/>
                </a:lnTo>
                <a:lnTo>
                  <a:pt x="1629556" y="3116756"/>
                </a:lnTo>
                <a:lnTo>
                  <a:pt x="1694523" y="3085897"/>
                </a:lnTo>
                <a:lnTo>
                  <a:pt x="1769234" y="3081025"/>
                </a:lnTo>
                <a:lnTo>
                  <a:pt x="1860187" y="3085897"/>
                </a:lnTo>
                <a:lnTo>
                  <a:pt x="2016106" y="2946220"/>
                </a:lnTo>
                <a:lnTo>
                  <a:pt x="2173649" y="2921857"/>
                </a:lnTo>
                <a:lnTo>
                  <a:pt x="2353930" y="2788676"/>
                </a:lnTo>
                <a:lnTo>
                  <a:pt x="2469245" y="2715589"/>
                </a:lnTo>
                <a:lnTo>
                  <a:pt x="2617043" y="2681482"/>
                </a:lnTo>
                <a:lnTo>
                  <a:pt x="3572047" y="2653871"/>
                </a:lnTo>
                <a:lnTo>
                  <a:pt x="3654879" y="2631133"/>
                </a:lnTo>
                <a:lnTo>
                  <a:pt x="3807550" y="2527187"/>
                </a:lnTo>
                <a:lnTo>
                  <a:pt x="3948852" y="2351778"/>
                </a:lnTo>
                <a:lnTo>
                  <a:pt x="4135630" y="2238087"/>
                </a:lnTo>
                <a:lnTo>
                  <a:pt x="4223334" y="2150383"/>
                </a:lnTo>
                <a:lnTo>
                  <a:pt x="4263938" y="2077296"/>
                </a:lnTo>
                <a:lnTo>
                  <a:pt x="4387374" y="2036692"/>
                </a:lnTo>
                <a:lnTo>
                  <a:pt x="4452340" y="2030195"/>
                </a:lnTo>
                <a:lnTo>
                  <a:pt x="4520555" y="1910008"/>
                </a:lnTo>
                <a:lnTo>
                  <a:pt x="4510810" y="1854786"/>
                </a:lnTo>
                <a:lnTo>
                  <a:pt x="4548165" y="1843417"/>
                </a:lnTo>
                <a:lnTo>
                  <a:pt x="4580648" y="1888894"/>
                </a:lnTo>
                <a:lnTo>
                  <a:pt x="4689467" y="1953860"/>
                </a:lnTo>
                <a:lnTo>
                  <a:pt x="4827520" y="2002585"/>
                </a:lnTo>
                <a:lnTo>
                  <a:pt x="4968822" y="2059430"/>
                </a:lnTo>
                <a:lnTo>
                  <a:pt x="5045157" y="2111403"/>
                </a:lnTo>
                <a:lnTo>
                  <a:pt x="5077640" y="2173121"/>
                </a:lnTo>
                <a:lnTo>
                  <a:pt x="5183210" y="2252705"/>
                </a:lnTo>
                <a:lnTo>
                  <a:pt x="5223814" y="2350154"/>
                </a:lnTo>
                <a:lnTo>
                  <a:pt x="5313143" y="2389134"/>
                </a:lnTo>
                <a:lnTo>
                  <a:pt x="5616860" y="2447604"/>
                </a:lnTo>
                <a:lnTo>
                  <a:pt x="5745169" y="2546677"/>
                </a:lnTo>
                <a:lnTo>
                  <a:pt x="5925450" y="2733455"/>
                </a:lnTo>
                <a:lnTo>
                  <a:pt x="6128469" y="2788676"/>
                </a:lnTo>
                <a:lnTo>
                  <a:pt x="6307903" y="2848236"/>
                </a:lnTo>
                <a:lnTo>
                  <a:pt x="6322475" y="2846415"/>
                </a:lnTo>
                <a:lnTo>
                  <a:pt x="6311546" y="3558627"/>
                </a:lnTo>
                <a:lnTo>
                  <a:pt x="0" y="3551341"/>
                </a:lnTo>
                <a:cubicBezTo>
                  <a:pt x="2429" y="2369178"/>
                  <a:pt x="4857" y="1187016"/>
                  <a:pt x="540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75000"/>
                  <a:shade val="30000"/>
                  <a:satMod val="115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C9F7D87E-D3A8-3FFC-7BF7-B05751BF362B}"/>
              </a:ext>
            </a:extLst>
          </p:cNvPr>
          <p:cNvSpPr/>
          <p:nvPr/>
        </p:nvSpPr>
        <p:spPr>
          <a:xfrm>
            <a:off x="532536" y="5274725"/>
            <a:ext cx="773043" cy="854257"/>
          </a:xfrm>
          <a:custGeom>
            <a:avLst/>
            <a:gdLst>
              <a:gd name="csX0" fmla="*/ 498764 w 928857"/>
              <a:gd name="csY0" fmla="*/ 126498 h 1026441"/>
              <a:gd name="csX1" fmla="*/ 357809 w 928857"/>
              <a:gd name="csY1" fmla="*/ 524063 h 1026441"/>
              <a:gd name="csX2" fmla="*/ 231311 w 928857"/>
              <a:gd name="csY2" fmla="*/ 701160 h 1026441"/>
              <a:gd name="csX3" fmla="*/ 0 w 928857"/>
              <a:gd name="csY3" fmla="*/ 885486 h 1026441"/>
              <a:gd name="csX4" fmla="*/ 137341 w 928857"/>
              <a:gd name="csY4" fmla="*/ 1026441 h 1026441"/>
              <a:gd name="csX5" fmla="*/ 928857 w 928857"/>
              <a:gd name="csY5" fmla="*/ 997527 h 1026441"/>
              <a:gd name="csX6" fmla="*/ 885486 w 928857"/>
              <a:gd name="csY6" fmla="*/ 0 h 1026441"/>
              <a:gd name="csX7" fmla="*/ 498764 w 928857"/>
              <a:gd name="csY7" fmla="*/ 126498 h 10264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28857" h="1026441">
                <a:moveTo>
                  <a:pt x="498764" y="126498"/>
                </a:moveTo>
                <a:lnTo>
                  <a:pt x="357809" y="524063"/>
                </a:lnTo>
                <a:lnTo>
                  <a:pt x="231311" y="701160"/>
                </a:lnTo>
                <a:lnTo>
                  <a:pt x="0" y="885486"/>
                </a:lnTo>
                <a:lnTo>
                  <a:pt x="137341" y="1026441"/>
                </a:lnTo>
                <a:lnTo>
                  <a:pt x="928857" y="997527"/>
                </a:lnTo>
                <a:lnTo>
                  <a:pt x="885486" y="0"/>
                </a:lnTo>
                <a:lnTo>
                  <a:pt x="498764" y="1264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4" name="Picture 133">
            <a:extLst>
              <a:ext uri="{FF2B5EF4-FFF2-40B4-BE49-F238E27FC236}">
                <a16:creationId xmlns:a16="http://schemas.microsoft.com/office/drawing/2014/main" id="{C90903B5-0749-9718-54B0-2D7269E39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15" t="42664" r="24368" b="35097"/>
          <a:stretch>
            <a:fillRect/>
          </a:stretch>
        </p:blipFill>
        <p:spPr>
          <a:xfrm rot="20195378" flipV="1">
            <a:off x="237967" y="4002408"/>
            <a:ext cx="7536701" cy="2430958"/>
          </a:xfrm>
          <a:prstGeom prst="rect">
            <a:avLst/>
          </a:prstGeom>
        </p:spPr>
      </p:pic>
      <p:sp>
        <p:nvSpPr>
          <p:cNvPr id="135" name="Oval 134">
            <a:extLst>
              <a:ext uri="{FF2B5EF4-FFF2-40B4-BE49-F238E27FC236}">
                <a16:creationId xmlns:a16="http://schemas.microsoft.com/office/drawing/2014/main" id="{9EF5522F-A47D-04D9-86A3-C2D215F8215F}"/>
              </a:ext>
            </a:extLst>
          </p:cNvPr>
          <p:cNvSpPr/>
          <p:nvPr/>
        </p:nvSpPr>
        <p:spPr>
          <a:xfrm>
            <a:off x="5812424" y="4313961"/>
            <a:ext cx="120493" cy="126835"/>
          </a:xfrm>
          <a:prstGeom prst="ellipse">
            <a:avLst/>
          </a:prstGeom>
          <a:solidFill>
            <a:srgbClr val="8C8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410396B3-37BA-FE51-0257-8729C97E3A69}"/>
              </a:ext>
            </a:extLst>
          </p:cNvPr>
          <p:cNvSpPr/>
          <p:nvPr/>
        </p:nvSpPr>
        <p:spPr>
          <a:xfrm>
            <a:off x="4604320" y="4640561"/>
            <a:ext cx="120493" cy="126835"/>
          </a:xfrm>
          <a:prstGeom prst="ellipse">
            <a:avLst/>
          </a:prstGeom>
          <a:solidFill>
            <a:srgbClr val="8686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D6083A6C-CF28-9C60-D26B-E493C5E39159}"/>
              </a:ext>
            </a:extLst>
          </p:cNvPr>
          <p:cNvSpPr/>
          <p:nvPr/>
        </p:nvSpPr>
        <p:spPr>
          <a:xfrm>
            <a:off x="3312631" y="4913256"/>
            <a:ext cx="150173" cy="154963"/>
          </a:xfrm>
          <a:prstGeom prst="ellipse">
            <a:avLst/>
          </a:prstGeom>
          <a:solidFill>
            <a:srgbClr val="8282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AF2C9089-8345-C6A0-8C9B-77C3129FBC95}"/>
              </a:ext>
            </a:extLst>
          </p:cNvPr>
          <p:cNvSpPr/>
          <p:nvPr/>
        </p:nvSpPr>
        <p:spPr>
          <a:xfrm flipH="1">
            <a:off x="6974021" y="3937152"/>
            <a:ext cx="107813" cy="107813"/>
          </a:xfrm>
          <a:prstGeom prst="ellipse">
            <a:avLst/>
          </a:prstGeom>
          <a:solidFill>
            <a:srgbClr val="4A8C3F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81C89823-D02C-54A0-6824-FA602A6A21BB}"/>
              </a:ext>
            </a:extLst>
          </p:cNvPr>
          <p:cNvSpPr/>
          <p:nvPr/>
        </p:nvSpPr>
        <p:spPr>
          <a:xfrm flipH="1">
            <a:off x="7115390" y="4025672"/>
            <a:ext cx="107813" cy="107813"/>
          </a:xfrm>
          <a:prstGeom prst="ellipse">
            <a:avLst/>
          </a:prstGeom>
          <a:solidFill>
            <a:srgbClr val="4A8C3F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7BC290AD-AEAC-69BD-4786-E1BF4B6C9F79}"/>
              </a:ext>
            </a:extLst>
          </p:cNvPr>
          <p:cNvSpPr/>
          <p:nvPr/>
        </p:nvSpPr>
        <p:spPr>
          <a:xfrm flipH="1">
            <a:off x="7081834" y="4221210"/>
            <a:ext cx="107813" cy="107813"/>
          </a:xfrm>
          <a:prstGeom prst="ellipse">
            <a:avLst/>
          </a:prstGeom>
          <a:solidFill>
            <a:srgbClr val="4A8C3F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FCBB7A81-C18E-847C-4397-E846903E0955}"/>
              </a:ext>
            </a:extLst>
          </p:cNvPr>
          <p:cNvSpPr/>
          <p:nvPr/>
        </p:nvSpPr>
        <p:spPr>
          <a:xfrm flipH="1">
            <a:off x="6291447" y="4667459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1BFD7D77-8106-13D7-A4DE-26FDDFE74B2D}"/>
              </a:ext>
            </a:extLst>
          </p:cNvPr>
          <p:cNvSpPr/>
          <p:nvPr/>
        </p:nvSpPr>
        <p:spPr>
          <a:xfrm flipH="1">
            <a:off x="6387664" y="4734578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FF3E458A-DF85-3676-1F15-5B95CEADD7F1}"/>
              </a:ext>
            </a:extLst>
          </p:cNvPr>
          <p:cNvSpPr/>
          <p:nvPr/>
        </p:nvSpPr>
        <p:spPr>
          <a:xfrm flipH="1">
            <a:off x="6399260" y="4909509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FF8E10BB-0618-04D3-AC13-A44DD62EB226}"/>
              </a:ext>
            </a:extLst>
          </p:cNvPr>
          <p:cNvSpPr/>
          <p:nvPr/>
        </p:nvSpPr>
        <p:spPr>
          <a:xfrm flipH="1">
            <a:off x="5130686" y="5017323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B63D17CA-6595-9429-F8C7-F3DA170D4D81}"/>
              </a:ext>
            </a:extLst>
          </p:cNvPr>
          <p:cNvSpPr/>
          <p:nvPr/>
        </p:nvSpPr>
        <p:spPr>
          <a:xfrm flipH="1">
            <a:off x="5301851" y="5110074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BAC517AC-8C1B-6056-BDF3-FA7FB124D8CE}"/>
              </a:ext>
            </a:extLst>
          </p:cNvPr>
          <p:cNvSpPr/>
          <p:nvPr/>
        </p:nvSpPr>
        <p:spPr>
          <a:xfrm flipH="1">
            <a:off x="4995231" y="5160612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A322BE77-2EEE-B483-DFF6-AC15761B072A}"/>
              </a:ext>
            </a:extLst>
          </p:cNvPr>
          <p:cNvSpPr/>
          <p:nvPr/>
        </p:nvSpPr>
        <p:spPr>
          <a:xfrm flipH="1">
            <a:off x="4238079" y="5239586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DF0B2D24-007F-0893-6E10-13822849AB28}"/>
              </a:ext>
            </a:extLst>
          </p:cNvPr>
          <p:cNvSpPr/>
          <p:nvPr/>
        </p:nvSpPr>
        <p:spPr>
          <a:xfrm flipH="1">
            <a:off x="4246039" y="5344349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E02CDC41-CAC4-B228-623B-645B93124BA4}"/>
              </a:ext>
            </a:extLst>
          </p:cNvPr>
          <p:cNvSpPr/>
          <p:nvPr/>
        </p:nvSpPr>
        <p:spPr>
          <a:xfrm flipH="1">
            <a:off x="4441834" y="5293493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EFF6CA0C-AAB6-358E-CA8A-BFB5ECDA06FB}"/>
              </a:ext>
            </a:extLst>
          </p:cNvPr>
          <p:cNvSpPr/>
          <p:nvPr/>
        </p:nvSpPr>
        <p:spPr>
          <a:xfrm flipH="1">
            <a:off x="3114374" y="5522904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A3E72011-E531-E3F9-D700-071DC454A70D}"/>
              </a:ext>
            </a:extLst>
          </p:cNvPr>
          <p:cNvSpPr/>
          <p:nvPr/>
        </p:nvSpPr>
        <p:spPr>
          <a:xfrm flipH="1">
            <a:off x="3312631" y="5844963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54280477-6EBF-ACF8-250C-4C3479590B4D}"/>
              </a:ext>
            </a:extLst>
          </p:cNvPr>
          <p:cNvSpPr/>
          <p:nvPr/>
        </p:nvSpPr>
        <p:spPr>
          <a:xfrm flipH="1">
            <a:off x="2490050" y="5541376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D351BB5B-96F8-FB70-A9F1-BAF6E07F8660}"/>
              </a:ext>
            </a:extLst>
          </p:cNvPr>
          <p:cNvSpPr/>
          <p:nvPr/>
        </p:nvSpPr>
        <p:spPr>
          <a:xfrm flipH="1">
            <a:off x="2436143" y="5898869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9544A9E4-68D3-CE63-43EE-E391F7E129DF}"/>
              </a:ext>
            </a:extLst>
          </p:cNvPr>
          <p:cNvSpPr/>
          <p:nvPr/>
        </p:nvSpPr>
        <p:spPr>
          <a:xfrm flipH="1">
            <a:off x="2270444" y="5800046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3AC2B10B-319C-5F29-1437-DB42F45A188E}"/>
              </a:ext>
            </a:extLst>
          </p:cNvPr>
          <p:cNvSpPr/>
          <p:nvPr/>
        </p:nvSpPr>
        <p:spPr>
          <a:xfrm flipH="1">
            <a:off x="2610109" y="6006682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26244927-BBAF-ABBE-F2EE-AB1275755B49}"/>
              </a:ext>
            </a:extLst>
          </p:cNvPr>
          <p:cNvSpPr/>
          <p:nvPr/>
        </p:nvSpPr>
        <p:spPr>
          <a:xfrm flipH="1">
            <a:off x="1315782" y="5313639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8D14CF48-B162-DCD5-C20E-42B2BF8CBA73}"/>
              </a:ext>
            </a:extLst>
          </p:cNvPr>
          <p:cNvSpPr/>
          <p:nvPr/>
        </p:nvSpPr>
        <p:spPr>
          <a:xfrm flipH="1">
            <a:off x="1119076" y="5522904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C7ABCC2C-8106-1F55-6159-A5B3179D44F5}"/>
              </a:ext>
            </a:extLst>
          </p:cNvPr>
          <p:cNvSpPr/>
          <p:nvPr/>
        </p:nvSpPr>
        <p:spPr>
          <a:xfrm flipH="1">
            <a:off x="838315" y="5907859"/>
            <a:ext cx="107813" cy="107813"/>
          </a:xfrm>
          <a:prstGeom prst="ellipse">
            <a:avLst/>
          </a:prstGeom>
          <a:solidFill>
            <a:srgbClr val="3B1F6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7416B1AB-EFA8-F9A3-1932-EED30B9F3724}"/>
              </a:ext>
            </a:extLst>
          </p:cNvPr>
          <p:cNvSpPr/>
          <p:nvPr/>
        </p:nvSpPr>
        <p:spPr>
          <a:xfrm flipH="1">
            <a:off x="3258724" y="5980904"/>
            <a:ext cx="107813" cy="107813"/>
          </a:xfrm>
          <a:prstGeom prst="ellipse">
            <a:avLst/>
          </a:prstGeom>
          <a:solidFill>
            <a:srgbClr val="4A90C4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9EC5E3C7-FF53-27F6-2941-938D64A74FE1}"/>
              </a:ext>
            </a:extLst>
          </p:cNvPr>
          <p:cNvSpPr/>
          <p:nvPr/>
        </p:nvSpPr>
        <p:spPr>
          <a:xfrm flipH="1">
            <a:off x="968024" y="5508393"/>
            <a:ext cx="107813" cy="107813"/>
          </a:xfrm>
          <a:prstGeom prst="ellipse">
            <a:avLst/>
          </a:prstGeom>
          <a:solidFill>
            <a:srgbClr val="4A90C4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2FF705DE-BD3E-AFD4-0BF0-75F804A709D7}"/>
              </a:ext>
            </a:extLst>
          </p:cNvPr>
          <p:cNvSpPr/>
          <p:nvPr/>
        </p:nvSpPr>
        <p:spPr>
          <a:xfrm flipH="1">
            <a:off x="2680588" y="6128982"/>
            <a:ext cx="107813" cy="107813"/>
          </a:xfrm>
          <a:prstGeom prst="ellipse">
            <a:avLst/>
          </a:prstGeom>
          <a:solidFill>
            <a:srgbClr val="4A90C4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54CEB7E-A6A0-93BE-AF60-FE3FAC145CE9}"/>
              </a:ext>
            </a:extLst>
          </p:cNvPr>
          <p:cNvSpPr/>
          <p:nvPr/>
        </p:nvSpPr>
        <p:spPr>
          <a:xfrm>
            <a:off x="1776161" y="5160612"/>
            <a:ext cx="924839" cy="131083"/>
          </a:xfrm>
          <a:prstGeom prst="rect">
            <a:avLst/>
          </a:prstGeom>
          <a:solidFill>
            <a:srgbClr val="7E7E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9D8B40B2-6C28-22A9-1DD2-40F53535860A}"/>
              </a:ext>
            </a:extLst>
          </p:cNvPr>
          <p:cNvSpPr/>
          <p:nvPr/>
        </p:nvSpPr>
        <p:spPr>
          <a:xfrm flipH="1">
            <a:off x="5835029" y="3370355"/>
            <a:ext cx="107813" cy="107813"/>
          </a:xfrm>
          <a:prstGeom prst="ellipse">
            <a:avLst/>
          </a:prstGeom>
          <a:solidFill>
            <a:srgbClr val="4A8C3F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6D1F5291-A513-1AB0-BD1E-B81EE4BBF9F0}"/>
              </a:ext>
            </a:extLst>
          </p:cNvPr>
          <p:cNvSpPr/>
          <p:nvPr/>
        </p:nvSpPr>
        <p:spPr>
          <a:xfrm flipH="1">
            <a:off x="4549647" y="2660053"/>
            <a:ext cx="107813" cy="107813"/>
          </a:xfrm>
          <a:prstGeom prst="ellipse">
            <a:avLst/>
          </a:prstGeom>
          <a:solidFill>
            <a:srgbClr val="4A8C3F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C32FE3D9-2989-9AEE-FAC8-E247DC446FFA}"/>
              </a:ext>
            </a:extLst>
          </p:cNvPr>
          <p:cNvSpPr/>
          <p:nvPr/>
        </p:nvSpPr>
        <p:spPr>
          <a:xfrm flipH="1">
            <a:off x="3366537" y="2111202"/>
            <a:ext cx="107813" cy="107813"/>
          </a:xfrm>
          <a:prstGeom prst="ellipse">
            <a:avLst/>
          </a:prstGeom>
          <a:solidFill>
            <a:srgbClr val="4A8C3F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A89B3066-1E60-1A15-8CFF-92D0BC4AB9C7}"/>
              </a:ext>
            </a:extLst>
          </p:cNvPr>
          <p:cNvSpPr/>
          <p:nvPr/>
        </p:nvSpPr>
        <p:spPr>
          <a:xfrm flipH="1">
            <a:off x="2130768" y="1586268"/>
            <a:ext cx="107813" cy="107813"/>
          </a:xfrm>
          <a:prstGeom prst="ellipse">
            <a:avLst/>
          </a:prstGeom>
          <a:solidFill>
            <a:srgbClr val="4A8C3F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Arrow: Right 166">
            <a:extLst>
              <a:ext uri="{FF2B5EF4-FFF2-40B4-BE49-F238E27FC236}">
                <a16:creationId xmlns:a16="http://schemas.microsoft.com/office/drawing/2014/main" id="{4BA1960E-4E64-316E-5869-4D573C0F9E3E}"/>
              </a:ext>
            </a:extLst>
          </p:cNvPr>
          <p:cNvSpPr/>
          <p:nvPr/>
        </p:nvSpPr>
        <p:spPr>
          <a:xfrm rot="5400000">
            <a:off x="-1160508" y="3067235"/>
            <a:ext cx="3636296" cy="5595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Depth from Surface</a:t>
            </a:r>
          </a:p>
        </p:txBody>
      </p:sp>
      <p:sp>
        <p:nvSpPr>
          <p:cNvPr id="168" name="Arrow: Right 167">
            <a:extLst>
              <a:ext uri="{FF2B5EF4-FFF2-40B4-BE49-F238E27FC236}">
                <a16:creationId xmlns:a16="http://schemas.microsoft.com/office/drawing/2014/main" id="{76E014FE-15CB-3D5A-F015-5EEA087B101E}"/>
              </a:ext>
            </a:extLst>
          </p:cNvPr>
          <p:cNvSpPr/>
          <p:nvPr/>
        </p:nvSpPr>
        <p:spPr>
          <a:xfrm flipH="1">
            <a:off x="3972872" y="5699198"/>
            <a:ext cx="3636296" cy="5595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Distance from Cave Entrance</a:t>
            </a:r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85BA80CE-03C2-72FD-F597-ECAD3DF59F89}"/>
              </a:ext>
            </a:extLst>
          </p:cNvPr>
          <p:cNvGrpSpPr/>
          <p:nvPr/>
        </p:nvGrpSpPr>
        <p:grpSpPr>
          <a:xfrm>
            <a:off x="3981933" y="2040699"/>
            <a:ext cx="371919" cy="512164"/>
            <a:chOff x="7507052" y="1870275"/>
            <a:chExt cx="894756" cy="816912"/>
          </a:xfrm>
        </p:grpSpPr>
        <p:sp>
          <p:nvSpPr>
            <p:cNvPr id="201" name="Isosceles Triangle 200">
              <a:extLst>
                <a:ext uri="{FF2B5EF4-FFF2-40B4-BE49-F238E27FC236}">
                  <a16:creationId xmlns:a16="http://schemas.microsoft.com/office/drawing/2014/main" id="{72BABA44-4F49-3917-B3A4-3EBC378A381B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Isosceles Triangle 201">
              <a:extLst>
                <a:ext uri="{FF2B5EF4-FFF2-40B4-BE49-F238E27FC236}">
                  <a16:creationId xmlns:a16="http://schemas.microsoft.com/office/drawing/2014/main" id="{D2C5775B-8461-D697-2130-62C37967E734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Isosceles Triangle 202">
              <a:extLst>
                <a:ext uri="{FF2B5EF4-FFF2-40B4-BE49-F238E27FC236}">
                  <a16:creationId xmlns:a16="http://schemas.microsoft.com/office/drawing/2014/main" id="{B805ADB9-C475-F455-6EDB-026EEA182EF2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19033FE0-E9DE-B3D2-07E3-08BBA8C0644A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55F9AC5B-E62B-EC30-B269-D18048A096DB}"/>
              </a:ext>
            </a:extLst>
          </p:cNvPr>
          <p:cNvGrpSpPr/>
          <p:nvPr/>
        </p:nvGrpSpPr>
        <p:grpSpPr>
          <a:xfrm>
            <a:off x="5130686" y="2700143"/>
            <a:ext cx="371919" cy="512164"/>
            <a:chOff x="7507052" y="1870275"/>
            <a:chExt cx="894756" cy="816912"/>
          </a:xfrm>
        </p:grpSpPr>
        <p:sp>
          <p:nvSpPr>
            <p:cNvPr id="197" name="Isosceles Triangle 196">
              <a:extLst>
                <a:ext uri="{FF2B5EF4-FFF2-40B4-BE49-F238E27FC236}">
                  <a16:creationId xmlns:a16="http://schemas.microsoft.com/office/drawing/2014/main" id="{809C964A-D15B-3A68-4F7A-64695B100CD4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Isosceles Triangle 197">
              <a:extLst>
                <a:ext uri="{FF2B5EF4-FFF2-40B4-BE49-F238E27FC236}">
                  <a16:creationId xmlns:a16="http://schemas.microsoft.com/office/drawing/2014/main" id="{29B4CAFA-BB21-642C-1442-E90E4286FAD7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Isosceles Triangle 198">
              <a:extLst>
                <a:ext uri="{FF2B5EF4-FFF2-40B4-BE49-F238E27FC236}">
                  <a16:creationId xmlns:a16="http://schemas.microsoft.com/office/drawing/2014/main" id="{D4F6C658-DD04-0B31-BCF6-4C56DFDA2812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4FC03C8A-89F3-A8A6-2E02-8339E5A5FA53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57886B75-C9AF-1278-6106-F37885B7CAB4}"/>
              </a:ext>
            </a:extLst>
          </p:cNvPr>
          <p:cNvGrpSpPr/>
          <p:nvPr/>
        </p:nvGrpSpPr>
        <p:grpSpPr>
          <a:xfrm>
            <a:off x="2662140" y="1554899"/>
            <a:ext cx="371919" cy="512164"/>
            <a:chOff x="7507052" y="1870275"/>
            <a:chExt cx="894756" cy="816912"/>
          </a:xfrm>
        </p:grpSpPr>
        <p:sp>
          <p:nvSpPr>
            <p:cNvPr id="193" name="Isosceles Triangle 192">
              <a:extLst>
                <a:ext uri="{FF2B5EF4-FFF2-40B4-BE49-F238E27FC236}">
                  <a16:creationId xmlns:a16="http://schemas.microsoft.com/office/drawing/2014/main" id="{0BB5CEF3-BEA7-9A41-724A-B6D87F7ED163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Isosceles Triangle 193">
              <a:extLst>
                <a:ext uri="{FF2B5EF4-FFF2-40B4-BE49-F238E27FC236}">
                  <a16:creationId xmlns:a16="http://schemas.microsoft.com/office/drawing/2014/main" id="{901F942D-A189-1A0D-14C3-6FA94C93816A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Isosceles Triangle 194">
              <a:extLst>
                <a:ext uri="{FF2B5EF4-FFF2-40B4-BE49-F238E27FC236}">
                  <a16:creationId xmlns:a16="http://schemas.microsoft.com/office/drawing/2014/main" id="{E0B3BB28-0E35-70FB-6B16-E49C9A702AB0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926E58A8-8150-17EC-B72B-1596ACE24593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5512700B-46BF-C9DD-144C-4A65EC8AF8C8}"/>
              </a:ext>
            </a:extLst>
          </p:cNvPr>
          <p:cNvGrpSpPr/>
          <p:nvPr/>
        </p:nvGrpSpPr>
        <p:grpSpPr>
          <a:xfrm>
            <a:off x="1075837" y="758340"/>
            <a:ext cx="371919" cy="512164"/>
            <a:chOff x="7507052" y="1870275"/>
            <a:chExt cx="894756" cy="816912"/>
          </a:xfrm>
        </p:grpSpPr>
        <p:sp>
          <p:nvSpPr>
            <p:cNvPr id="189" name="Isosceles Triangle 188">
              <a:extLst>
                <a:ext uri="{FF2B5EF4-FFF2-40B4-BE49-F238E27FC236}">
                  <a16:creationId xmlns:a16="http://schemas.microsoft.com/office/drawing/2014/main" id="{B509523C-6237-3678-07B8-2E143B428A4E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Isosceles Triangle 189">
              <a:extLst>
                <a:ext uri="{FF2B5EF4-FFF2-40B4-BE49-F238E27FC236}">
                  <a16:creationId xmlns:a16="http://schemas.microsoft.com/office/drawing/2014/main" id="{2D798A15-5A6E-0384-F4EF-30D5BE287F5F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Isosceles Triangle 190">
              <a:extLst>
                <a:ext uri="{FF2B5EF4-FFF2-40B4-BE49-F238E27FC236}">
                  <a16:creationId xmlns:a16="http://schemas.microsoft.com/office/drawing/2014/main" id="{138FDE9F-A909-9D0E-1DD6-207BE2A63F67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869AED7B-2620-73D1-87A5-A0DE4E60A960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C3B3F1F4-BCF4-9CFB-B023-03F17446F89C}"/>
              </a:ext>
            </a:extLst>
          </p:cNvPr>
          <p:cNvGrpSpPr/>
          <p:nvPr/>
        </p:nvGrpSpPr>
        <p:grpSpPr>
          <a:xfrm>
            <a:off x="7916385" y="4018251"/>
            <a:ext cx="371919" cy="512164"/>
            <a:chOff x="7507052" y="1870275"/>
            <a:chExt cx="894756" cy="816912"/>
          </a:xfrm>
        </p:grpSpPr>
        <p:sp>
          <p:nvSpPr>
            <p:cNvPr id="185" name="Isosceles Triangle 184">
              <a:extLst>
                <a:ext uri="{FF2B5EF4-FFF2-40B4-BE49-F238E27FC236}">
                  <a16:creationId xmlns:a16="http://schemas.microsoft.com/office/drawing/2014/main" id="{C70C3D3D-E0FF-E909-8E77-DFA1ED5CB789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Isosceles Triangle 185">
              <a:extLst>
                <a:ext uri="{FF2B5EF4-FFF2-40B4-BE49-F238E27FC236}">
                  <a16:creationId xmlns:a16="http://schemas.microsoft.com/office/drawing/2014/main" id="{27838F81-0E9D-A057-191E-E9F8FFA7D651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Isosceles Triangle 186">
              <a:extLst>
                <a:ext uri="{FF2B5EF4-FFF2-40B4-BE49-F238E27FC236}">
                  <a16:creationId xmlns:a16="http://schemas.microsoft.com/office/drawing/2014/main" id="{78F74849-88B8-5E4D-0424-E37123FD2E84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4955040F-75A4-BC0E-EB86-6A8D57A1900E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5B2EE521-DF04-9CFD-5609-12C64C89C5C7}"/>
              </a:ext>
            </a:extLst>
          </p:cNvPr>
          <p:cNvGrpSpPr/>
          <p:nvPr/>
        </p:nvGrpSpPr>
        <p:grpSpPr>
          <a:xfrm>
            <a:off x="9588122" y="5110074"/>
            <a:ext cx="371919" cy="512164"/>
            <a:chOff x="7507052" y="1870275"/>
            <a:chExt cx="894756" cy="816912"/>
          </a:xfrm>
        </p:grpSpPr>
        <p:sp>
          <p:nvSpPr>
            <p:cNvPr id="181" name="Isosceles Triangle 180">
              <a:extLst>
                <a:ext uri="{FF2B5EF4-FFF2-40B4-BE49-F238E27FC236}">
                  <a16:creationId xmlns:a16="http://schemas.microsoft.com/office/drawing/2014/main" id="{900D110B-5EFE-5050-2B63-23A5FFD43A9F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Isosceles Triangle 181">
              <a:extLst>
                <a:ext uri="{FF2B5EF4-FFF2-40B4-BE49-F238E27FC236}">
                  <a16:creationId xmlns:a16="http://schemas.microsoft.com/office/drawing/2014/main" id="{61FFAC92-F713-0770-F64D-C03811E1352D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Isosceles Triangle 182">
              <a:extLst>
                <a:ext uri="{FF2B5EF4-FFF2-40B4-BE49-F238E27FC236}">
                  <a16:creationId xmlns:a16="http://schemas.microsoft.com/office/drawing/2014/main" id="{8EFC834E-D284-7884-3ECB-BB69CE08FEF9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290C7C2B-F5A1-AD61-3B9C-98274D69E113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5" name="Picture 174">
            <a:extLst>
              <a:ext uri="{FF2B5EF4-FFF2-40B4-BE49-F238E27FC236}">
                <a16:creationId xmlns:a16="http://schemas.microsoft.com/office/drawing/2014/main" id="{D6E8E173-7E8D-ED9A-F8DA-69FEC79752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50" t="60713" r="-1023" b="31581"/>
          <a:stretch>
            <a:fillRect/>
          </a:stretch>
        </p:blipFill>
        <p:spPr>
          <a:xfrm rot="10800000" flipH="1" flipV="1">
            <a:off x="7506502" y="5479710"/>
            <a:ext cx="3631806" cy="842274"/>
          </a:xfrm>
          <a:prstGeom prst="rect">
            <a:avLst/>
          </a:prstGeom>
        </p:spPr>
      </p:pic>
      <p:grpSp>
        <p:nvGrpSpPr>
          <p:cNvPr id="176" name="Group 175">
            <a:extLst>
              <a:ext uri="{FF2B5EF4-FFF2-40B4-BE49-F238E27FC236}">
                <a16:creationId xmlns:a16="http://schemas.microsoft.com/office/drawing/2014/main" id="{D3935D7D-8FF3-2D7D-AE71-AFB4FEEE20E8}"/>
              </a:ext>
            </a:extLst>
          </p:cNvPr>
          <p:cNvGrpSpPr/>
          <p:nvPr/>
        </p:nvGrpSpPr>
        <p:grpSpPr>
          <a:xfrm>
            <a:off x="10136103" y="3213130"/>
            <a:ext cx="1835046" cy="1625084"/>
            <a:chOff x="9054437" y="1443497"/>
            <a:chExt cx="2204918" cy="1952635"/>
          </a:xfrm>
        </p:grpSpPr>
        <p:pic>
          <p:nvPicPr>
            <p:cNvPr id="177" name="Picture 176">
              <a:extLst>
                <a:ext uri="{FF2B5EF4-FFF2-40B4-BE49-F238E27FC236}">
                  <a16:creationId xmlns:a16="http://schemas.microsoft.com/office/drawing/2014/main" id="{E3A814BA-00F9-2535-A84F-D72F8E666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981" t="42664" r="7189" b="40327"/>
            <a:stretch>
              <a:fillRect/>
            </a:stretch>
          </p:blipFill>
          <p:spPr>
            <a:xfrm rot="10800000" flipH="1" flipV="1">
              <a:off x="9054437" y="1443497"/>
              <a:ext cx="2204918" cy="1952635"/>
            </a:xfrm>
            <a:prstGeom prst="rect">
              <a:avLst/>
            </a:prstGeom>
          </p:spPr>
        </p:pic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D1B35FF6-65DB-EA98-E329-2B08E0A657B7}"/>
                </a:ext>
              </a:extLst>
            </p:cNvPr>
            <p:cNvSpPr/>
            <p:nvPr/>
          </p:nvSpPr>
          <p:spPr>
            <a:xfrm flipH="1">
              <a:off x="9309956" y="2356876"/>
              <a:ext cx="129544" cy="129544"/>
            </a:xfrm>
            <a:prstGeom prst="ellipse">
              <a:avLst/>
            </a:prstGeom>
            <a:solidFill>
              <a:srgbClr val="3B1F6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4FB1330C-2D8B-44D8-B0A8-8CC27AC4A39F}"/>
                </a:ext>
              </a:extLst>
            </p:cNvPr>
            <p:cNvSpPr/>
            <p:nvPr/>
          </p:nvSpPr>
          <p:spPr>
            <a:xfrm flipH="1">
              <a:off x="9309956" y="2031715"/>
              <a:ext cx="129544" cy="129544"/>
            </a:xfrm>
            <a:prstGeom prst="ellipse">
              <a:avLst/>
            </a:prstGeom>
            <a:solidFill>
              <a:srgbClr val="4A8C3F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0CA21780-F32E-7CA6-2971-287E4A620C97}"/>
                </a:ext>
              </a:extLst>
            </p:cNvPr>
            <p:cNvSpPr/>
            <p:nvPr/>
          </p:nvSpPr>
          <p:spPr>
            <a:xfrm flipH="1">
              <a:off x="9308198" y="2730822"/>
              <a:ext cx="129544" cy="129544"/>
            </a:xfrm>
            <a:prstGeom prst="ellipse">
              <a:avLst/>
            </a:prstGeom>
            <a:solidFill>
              <a:srgbClr val="4A90C4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B90E0073-A8AD-0458-693C-E07DF53A5F0B}"/>
              </a:ext>
            </a:extLst>
          </p:cNvPr>
          <p:cNvSpPr/>
          <p:nvPr/>
        </p:nvSpPr>
        <p:spPr>
          <a:xfrm>
            <a:off x="0" y="0"/>
            <a:ext cx="12192000" cy="13495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80F32F-D8E9-B747-005B-0FA5F4CD8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36"/>
            <a:ext cx="10515600" cy="1320537"/>
          </a:xfrm>
        </p:spPr>
        <p:txBody>
          <a:bodyPr/>
          <a:lstStyle/>
          <a:p>
            <a:r>
              <a:rPr lang="en-US" dirty="0"/>
              <a:t>Moonshiner Cave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2672D32D-573D-CC21-1720-9E885B3F1D05}"/>
              </a:ext>
            </a:extLst>
          </p:cNvPr>
          <p:cNvSpPr/>
          <p:nvPr/>
        </p:nvSpPr>
        <p:spPr>
          <a:xfrm>
            <a:off x="10103556" y="5699198"/>
            <a:ext cx="2128154" cy="1158802"/>
          </a:xfrm>
          <a:prstGeom prst="rect">
            <a:avLst/>
          </a:prstGeom>
          <a:gradFill flip="none" rotWithShape="1">
            <a:gsLst>
              <a:gs pos="0">
                <a:srgbClr val="646464"/>
              </a:gs>
              <a:gs pos="100000">
                <a:srgbClr val="777777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ED9A163F-B922-4169-4894-0D969F214880}"/>
              </a:ext>
            </a:extLst>
          </p:cNvPr>
          <p:cNvGrpSpPr/>
          <p:nvPr/>
        </p:nvGrpSpPr>
        <p:grpSpPr>
          <a:xfrm>
            <a:off x="10664001" y="5212720"/>
            <a:ext cx="371919" cy="512164"/>
            <a:chOff x="7507052" y="1870275"/>
            <a:chExt cx="894756" cy="816912"/>
          </a:xfrm>
        </p:grpSpPr>
        <p:sp>
          <p:nvSpPr>
            <p:cNvPr id="207" name="Isosceles Triangle 206">
              <a:extLst>
                <a:ext uri="{FF2B5EF4-FFF2-40B4-BE49-F238E27FC236}">
                  <a16:creationId xmlns:a16="http://schemas.microsoft.com/office/drawing/2014/main" id="{FA23F6E0-5AAF-8FE1-A97A-D2DF3B45E016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Isosceles Triangle 207">
              <a:extLst>
                <a:ext uri="{FF2B5EF4-FFF2-40B4-BE49-F238E27FC236}">
                  <a16:creationId xmlns:a16="http://schemas.microsoft.com/office/drawing/2014/main" id="{9D70E274-6F7D-E06E-95BC-D4B0CCCA171A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Isosceles Triangle 208">
              <a:extLst>
                <a:ext uri="{FF2B5EF4-FFF2-40B4-BE49-F238E27FC236}">
                  <a16:creationId xmlns:a16="http://schemas.microsoft.com/office/drawing/2014/main" id="{B8D1344B-8A95-90FA-D02D-BCC43B2CB4D3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DE2799F8-C746-FD16-E47F-69221ABE77C6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BF1455F7-F975-1EC1-510D-19371DB0C578}"/>
              </a:ext>
            </a:extLst>
          </p:cNvPr>
          <p:cNvGrpSpPr/>
          <p:nvPr/>
        </p:nvGrpSpPr>
        <p:grpSpPr>
          <a:xfrm>
            <a:off x="11600488" y="5197223"/>
            <a:ext cx="371919" cy="512164"/>
            <a:chOff x="7507052" y="1870275"/>
            <a:chExt cx="894756" cy="816912"/>
          </a:xfrm>
        </p:grpSpPr>
        <p:sp>
          <p:nvSpPr>
            <p:cNvPr id="212" name="Isosceles Triangle 211">
              <a:extLst>
                <a:ext uri="{FF2B5EF4-FFF2-40B4-BE49-F238E27FC236}">
                  <a16:creationId xmlns:a16="http://schemas.microsoft.com/office/drawing/2014/main" id="{7D25FA29-8036-2010-350B-6C457536263C}"/>
                </a:ext>
              </a:extLst>
            </p:cNvPr>
            <p:cNvSpPr/>
            <p:nvPr/>
          </p:nvSpPr>
          <p:spPr>
            <a:xfrm>
              <a:off x="7507052" y="2021744"/>
              <a:ext cx="894756" cy="522568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Isosceles Triangle 212">
              <a:extLst>
                <a:ext uri="{FF2B5EF4-FFF2-40B4-BE49-F238E27FC236}">
                  <a16:creationId xmlns:a16="http://schemas.microsoft.com/office/drawing/2014/main" id="{64EE229F-2634-FAF0-C85F-0F7F0236417C}"/>
                </a:ext>
              </a:extLst>
            </p:cNvPr>
            <p:cNvSpPr/>
            <p:nvPr/>
          </p:nvSpPr>
          <p:spPr>
            <a:xfrm>
              <a:off x="7574924" y="1920170"/>
              <a:ext cx="738518" cy="46758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Isosceles Triangle 213">
              <a:extLst>
                <a:ext uri="{FF2B5EF4-FFF2-40B4-BE49-F238E27FC236}">
                  <a16:creationId xmlns:a16="http://schemas.microsoft.com/office/drawing/2014/main" id="{4F8F7D9F-63B9-5B55-7F54-BCFFDD71452E}"/>
                </a:ext>
              </a:extLst>
            </p:cNvPr>
            <p:cNvSpPr/>
            <p:nvPr/>
          </p:nvSpPr>
          <p:spPr>
            <a:xfrm>
              <a:off x="7677067" y="1870275"/>
              <a:ext cx="534232" cy="332502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DA8FBAF1-6E8F-847F-B82B-773BAF01B5BA}"/>
                </a:ext>
              </a:extLst>
            </p:cNvPr>
            <p:cNvSpPr/>
            <p:nvPr/>
          </p:nvSpPr>
          <p:spPr>
            <a:xfrm>
              <a:off x="7896225" y="2544312"/>
              <a:ext cx="117475" cy="142875"/>
            </a:xfrm>
            <a:prstGeom prst="rect">
              <a:avLst/>
            </a:prstGeom>
            <a:solidFill>
              <a:srgbClr val="8652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6" name="TextBox 215">
            <a:extLst>
              <a:ext uri="{FF2B5EF4-FFF2-40B4-BE49-F238E27FC236}">
                <a16:creationId xmlns:a16="http://schemas.microsoft.com/office/drawing/2014/main" id="{7431C9F6-6C21-D012-F4F5-92EBD1A37B45}"/>
              </a:ext>
            </a:extLst>
          </p:cNvPr>
          <p:cNvSpPr txBox="1"/>
          <p:nvPr/>
        </p:nvSpPr>
        <p:spPr>
          <a:xfrm>
            <a:off x="6560949" y="4784531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15m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DB2D9BA8-14EC-3480-07C8-F6D15742BE6F}"/>
              </a:ext>
            </a:extLst>
          </p:cNvPr>
          <p:cNvSpPr txBox="1"/>
          <p:nvPr/>
        </p:nvSpPr>
        <p:spPr>
          <a:xfrm>
            <a:off x="4821173" y="4677543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30m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8C0D8556-BFD2-F7B1-D949-25E567F4C83D}"/>
              </a:ext>
            </a:extLst>
          </p:cNvPr>
          <p:cNvSpPr txBox="1"/>
          <p:nvPr/>
        </p:nvSpPr>
        <p:spPr>
          <a:xfrm>
            <a:off x="4013140" y="4893441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45m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AC837371-F59B-41F2-C217-292CF7F693EF}"/>
              </a:ext>
            </a:extLst>
          </p:cNvPr>
          <p:cNvSpPr txBox="1"/>
          <p:nvPr/>
        </p:nvSpPr>
        <p:spPr>
          <a:xfrm>
            <a:off x="2850349" y="5179368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60m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540D3D29-33A9-2C87-B114-0E7EA7A0F690}"/>
              </a:ext>
            </a:extLst>
          </p:cNvPr>
          <p:cNvSpPr txBox="1"/>
          <p:nvPr/>
        </p:nvSpPr>
        <p:spPr>
          <a:xfrm>
            <a:off x="1981411" y="5434615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75m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B6B1BD1B-97BB-ED91-F5DF-894E69BE68D3}"/>
              </a:ext>
            </a:extLst>
          </p:cNvPr>
          <p:cNvSpPr txBox="1"/>
          <p:nvPr/>
        </p:nvSpPr>
        <p:spPr>
          <a:xfrm>
            <a:off x="968024" y="4969197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90m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C145222B-85F2-0001-CD3F-0997E933EC0A}"/>
              </a:ext>
            </a:extLst>
          </p:cNvPr>
          <p:cNvSpPr txBox="1"/>
          <p:nvPr/>
        </p:nvSpPr>
        <p:spPr>
          <a:xfrm>
            <a:off x="7267537" y="3295775"/>
            <a:ext cx="1632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Cave Entrance</a:t>
            </a:r>
          </a:p>
        </p:txBody>
      </p: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EBB62F39-C9A6-75BF-E1F8-7B7FC22C963A}"/>
              </a:ext>
            </a:extLst>
          </p:cNvPr>
          <p:cNvCxnSpPr>
            <a:cxnSpLocks/>
          </p:cNvCxnSpPr>
          <p:nvPr/>
        </p:nvCxnSpPr>
        <p:spPr>
          <a:xfrm flipH="1">
            <a:off x="7359563" y="3699278"/>
            <a:ext cx="573116" cy="32639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9" name="Content Placeholder 44">
            <a:extLst>
              <a:ext uri="{FF2B5EF4-FFF2-40B4-BE49-F238E27FC236}">
                <a16:creationId xmlns:a16="http://schemas.microsoft.com/office/drawing/2014/main" id="{05A34992-A0CB-16A6-19FD-94E9A55F61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93" t="897" r="6554" b="3321"/>
          <a:stretch>
            <a:fillRect/>
          </a:stretch>
        </p:blipFill>
        <p:spPr>
          <a:xfrm>
            <a:off x="8754832" y="1498299"/>
            <a:ext cx="3297654" cy="5210975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</p:pic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C6063760-7729-6108-F6E7-92FC93B35E87}"/>
              </a:ext>
            </a:extLst>
          </p:cNvPr>
          <p:cNvCxnSpPr>
            <a:cxnSpLocks/>
          </p:cNvCxnSpPr>
          <p:nvPr/>
        </p:nvCxnSpPr>
        <p:spPr>
          <a:xfrm flipH="1">
            <a:off x="7359563" y="3884595"/>
            <a:ext cx="1216045" cy="14107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7" name="Picture 226">
            <a:extLst>
              <a:ext uri="{FF2B5EF4-FFF2-40B4-BE49-F238E27FC236}">
                <a16:creationId xmlns:a16="http://schemas.microsoft.com/office/drawing/2014/main" id="{EEA34018-41D1-96D6-3CBD-E718D97A73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09" t="703" r="3017" b="8676"/>
          <a:stretch>
            <a:fillRect/>
          </a:stretch>
        </p:blipFill>
        <p:spPr>
          <a:xfrm>
            <a:off x="8769240" y="1498299"/>
            <a:ext cx="3308077" cy="5210973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</p:pic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3B5FFE1B-D73E-4510-D44E-EA23FBD3440E}"/>
              </a:ext>
            </a:extLst>
          </p:cNvPr>
          <p:cNvCxnSpPr>
            <a:cxnSpLocks/>
          </p:cNvCxnSpPr>
          <p:nvPr/>
        </p:nvCxnSpPr>
        <p:spPr>
          <a:xfrm flipH="1">
            <a:off x="4411004" y="3970387"/>
            <a:ext cx="4318997" cy="132904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8" name="Picture 227">
            <a:extLst>
              <a:ext uri="{FF2B5EF4-FFF2-40B4-BE49-F238E27FC236}">
                <a16:creationId xmlns:a16="http://schemas.microsoft.com/office/drawing/2014/main" id="{61BF2CEF-A3D4-B987-BCA7-B3B4E8C874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3" t="2277" r="9097" b="992"/>
          <a:stretch>
            <a:fillRect/>
          </a:stretch>
        </p:blipFill>
        <p:spPr>
          <a:xfrm>
            <a:off x="8769240" y="1527998"/>
            <a:ext cx="3278899" cy="5210973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</p:pic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12086155-574A-8486-CA2D-32FC6EB187E6}"/>
              </a:ext>
            </a:extLst>
          </p:cNvPr>
          <p:cNvCxnSpPr>
            <a:cxnSpLocks/>
          </p:cNvCxnSpPr>
          <p:nvPr/>
        </p:nvCxnSpPr>
        <p:spPr>
          <a:xfrm flipH="1">
            <a:off x="2821171" y="4056179"/>
            <a:ext cx="5947620" cy="209831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39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nimBg="1"/>
      <p:bldP spid="168" grpId="0" animBg="1"/>
      <p:bldP spid="216" grpId="0"/>
      <p:bldP spid="217" grpId="0"/>
      <p:bldP spid="218" grpId="0"/>
      <p:bldP spid="219" grpId="0"/>
      <p:bldP spid="220" grpId="0"/>
      <p:bldP spid="221" grpId="0"/>
      <p:bldP spid="223" grpId="0"/>
      <p:bldP spid="223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>
            <a:extLst>
              <a:ext uri="{FF2B5EF4-FFF2-40B4-BE49-F238E27FC236}">
                <a16:creationId xmlns:a16="http://schemas.microsoft.com/office/drawing/2014/main" id="{99A228B1-E997-4870-3E98-EC30DA12249C}"/>
              </a:ext>
            </a:extLst>
          </p:cNvPr>
          <p:cNvGrpSpPr/>
          <p:nvPr/>
        </p:nvGrpSpPr>
        <p:grpSpPr>
          <a:xfrm>
            <a:off x="-68826" y="200649"/>
            <a:ext cx="13383344" cy="7329106"/>
            <a:chOff x="-68826" y="200649"/>
            <a:chExt cx="13383344" cy="7329106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971E8C2-1BCD-3406-7987-44E1E67DCF50}"/>
                </a:ext>
              </a:extLst>
            </p:cNvPr>
            <p:cNvSpPr/>
            <p:nvPr/>
          </p:nvSpPr>
          <p:spPr>
            <a:xfrm>
              <a:off x="-68826" y="590476"/>
              <a:ext cx="12270390" cy="6939279"/>
            </a:xfrm>
            <a:custGeom>
              <a:avLst/>
              <a:gdLst>
                <a:gd name="csX0" fmla="*/ 5400 w 6322475"/>
                <a:gd name="csY0" fmla="*/ 0 h 3558627"/>
                <a:gd name="csX1" fmla="*/ 804485 w 6322475"/>
                <a:gd name="csY1" fmla="*/ 25986 h 3558627"/>
                <a:gd name="csX2" fmla="*/ 934418 w 6322475"/>
                <a:gd name="csY2" fmla="*/ 38980 h 3558627"/>
                <a:gd name="csX3" fmla="*/ 1028619 w 6322475"/>
                <a:gd name="csY3" fmla="*/ 131557 h 3558627"/>
                <a:gd name="csX4" fmla="*/ 1059478 w 6322475"/>
                <a:gd name="csY4" fmla="*/ 240375 h 3558627"/>
                <a:gd name="csX5" fmla="*/ 1124444 w 6322475"/>
                <a:gd name="csY5" fmla="*/ 282603 h 3558627"/>
                <a:gd name="csX6" fmla="*/ 1359946 w 6322475"/>
                <a:gd name="csY6" fmla="*/ 352442 h 3558627"/>
                <a:gd name="csX7" fmla="*/ 1528859 w 6322475"/>
                <a:gd name="csY7" fmla="*/ 389798 h 3558627"/>
                <a:gd name="csX8" fmla="*/ 1666912 w 6322475"/>
                <a:gd name="csY8" fmla="*/ 440146 h 3558627"/>
                <a:gd name="csX9" fmla="*/ 1723758 w 6322475"/>
                <a:gd name="csY9" fmla="*/ 503488 h 3558627"/>
                <a:gd name="csX10" fmla="*/ 1739999 w 6322475"/>
                <a:gd name="csY10" fmla="*/ 542468 h 3558627"/>
                <a:gd name="csX11" fmla="*/ 1925153 w 6322475"/>
                <a:gd name="csY11" fmla="*/ 641542 h 3558627"/>
                <a:gd name="csX12" fmla="*/ 2072951 w 6322475"/>
                <a:gd name="csY12" fmla="*/ 651287 h 3558627"/>
                <a:gd name="csX13" fmla="*/ 2225622 w 6322475"/>
                <a:gd name="csY13" fmla="*/ 693515 h 3558627"/>
                <a:gd name="csX14" fmla="*/ 2292212 w 6322475"/>
                <a:gd name="csY14" fmla="*/ 711380 h 3558627"/>
                <a:gd name="csX15" fmla="*/ 2379917 w 6322475"/>
                <a:gd name="csY15" fmla="*/ 745488 h 3558627"/>
                <a:gd name="csX16" fmla="*/ 2563446 w 6322475"/>
                <a:gd name="csY16" fmla="*/ 833192 h 3558627"/>
                <a:gd name="csX17" fmla="*/ 3065311 w 6322475"/>
                <a:gd name="csY17" fmla="*/ 1192131 h 3558627"/>
                <a:gd name="csX18" fmla="*/ 3408008 w 6322475"/>
                <a:gd name="csY18" fmla="*/ 1369164 h 3558627"/>
                <a:gd name="csX19" fmla="*/ 3687362 w 6322475"/>
                <a:gd name="csY19" fmla="*/ 1500720 h 3558627"/>
                <a:gd name="csX20" fmla="*/ 3966717 w 6322475"/>
                <a:gd name="csY20" fmla="*/ 1614411 h 3558627"/>
                <a:gd name="csX21" fmla="*/ 4039804 w 6322475"/>
                <a:gd name="csY21" fmla="*/ 1668009 h 3558627"/>
                <a:gd name="csX22" fmla="*/ 4104771 w 6322475"/>
                <a:gd name="csY22" fmla="*/ 1690747 h 3558627"/>
                <a:gd name="csX23" fmla="*/ 4198972 w 6322475"/>
                <a:gd name="csY23" fmla="*/ 1719982 h 3558627"/>
                <a:gd name="csX24" fmla="*/ 4257441 w 6322475"/>
                <a:gd name="csY24" fmla="*/ 1775203 h 3558627"/>
                <a:gd name="csX25" fmla="*/ 4259065 w 6322475"/>
                <a:gd name="csY25" fmla="*/ 1838545 h 3558627"/>
                <a:gd name="csX26" fmla="*/ 4257441 w 6322475"/>
                <a:gd name="csY26" fmla="*/ 1901887 h 3558627"/>
                <a:gd name="csX27" fmla="*/ 4155119 w 6322475"/>
                <a:gd name="csY27" fmla="*/ 1926249 h 3558627"/>
                <a:gd name="csX28" fmla="*/ 4023563 w 6322475"/>
                <a:gd name="csY28" fmla="*/ 1974974 h 3558627"/>
                <a:gd name="csX29" fmla="*/ 3883885 w 6322475"/>
                <a:gd name="csY29" fmla="*/ 2147135 h 3558627"/>
                <a:gd name="csX30" fmla="*/ 3770194 w 6322475"/>
                <a:gd name="csY30" fmla="*/ 2200732 h 3558627"/>
                <a:gd name="csX31" fmla="*/ 3666248 w 6322475"/>
                <a:gd name="csY31" fmla="*/ 2238087 h 3558627"/>
                <a:gd name="csX32" fmla="*/ 3563927 w 6322475"/>
                <a:gd name="csY32" fmla="*/ 2278691 h 3558627"/>
                <a:gd name="csX33" fmla="*/ 3446987 w 6322475"/>
                <a:gd name="csY33" fmla="*/ 2288436 h 3558627"/>
                <a:gd name="csX34" fmla="*/ 3430746 w 6322475"/>
                <a:gd name="csY34" fmla="*/ 2288436 h 3558627"/>
                <a:gd name="csX35" fmla="*/ 3195243 w 6322475"/>
                <a:gd name="csY35" fmla="*/ 2288436 h 3558627"/>
                <a:gd name="csX36" fmla="*/ 3167632 w 6322475"/>
                <a:gd name="csY36" fmla="*/ 2288436 h 3558627"/>
                <a:gd name="csX37" fmla="*/ 2922385 w 6322475"/>
                <a:gd name="csY37" fmla="*/ 2291685 h 3558627"/>
                <a:gd name="csX38" fmla="*/ 2680386 w 6322475"/>
                <a:gd name="csY38" fmla="*/ 2290060 h 3558627"/>
                <a:gd name="csX39" fmla="*/ 2660896 w 6322475"/>
                <a:gd name="csY39" fmla="*/ 2290060 h 3558627"/>
                <a:gd name="csX40" fmla="*/ 2534212 w 6322475"/>
                <a:gd name="csY40" fmla="*/ 2314423 h 3558627"/>
                <a:gd name="csX41" fmla="*/ 2388037 w 6322475"/>
                <a:gd name="csY41" fmla="*/ 2320919 h 3558627"/>
                <a:gd name="csX42" fmla="*/ 2261353 w 6322475"/>
                <a:gd name="csY42" fmla="*/ 2364772 h 3558627"/>
                <a:gd name="csX43" fmla="*/ 2152535 w 6322475"/>
                <a:gd name="csY43" fmla="*/ 2426490 h 3558627"/>
                <a:gd name="csX44" fmla="*/ 2074575 w 6322475"/>
                <a:gd name="csY44" fmla="*/ 2465469 h 3558627"/>
                <a:gd name="csX45" fmla="*/ 1967381 w 6322475"/>
                <a:gd name="csY45" fmla="*/ 2507697 h 3558627"/>
                <a:gd name="csX46" fmla="*/ 1804965 w 6322475"/>
                <a:gd name="csY46" fmla="*/ 2548301 h 3558627"/>
                <a:gd name="csX47" fmla="*/ 1705892 w 6322475"/>
                <a:gd name="csY47" fmla="*/ 2585657 h 3558627"/>
                <a:gd name="csX48" fmla="*/ 1634429 w 6322475"/>
                <a:gd name="csY48" fmla="*/ 2585657 h 3558627"/>
                <a:gd name="csX49" fmla="*/ 1575959 w 6322475"/>
                <a:gd name="csY49" fmla="*/ 2580784 h 3558627"/>
                <a:gd name="csX50" fmla="*/ 1498000 w 6322475"/>
                <a:gd name="csY50" fmla="*/ 2562919 h 3558627"/>
                <a:gd name="csX51" fmla="*/ 1421664 w 6322475"/>
                <a:gd name="csY51" fmla="*/ 2549925 h 3558627"/>
                <a:gd name="csX52" fmla="*/ 1376188 w 6322475"/>
                <a:gd name="csY52" fmla="*/ 2541805 h 3558627"/>
                <a:gd name="csX53" fmla="*/ 1168296 w 6322475"/>
                <a:gd name="csY53" fmla="*/ 2545053 h 3558627"/>
                <a:gd name="csX54" fmla="*/ 1080592 w 6322475"/>
                <a:gd name="csY54" fmla="*/ 2585657 h 3558627"/>
                <a:gd name="csX55" fmla="*/ 953907 w 6322475"/>
                <a:gd name="csY55" fmla="*/ 2579160 h 3558627"/>
                <a:gd name="csX56" fmla="*/ 828847 w 6322475"/>
                <a:gd name="csY56" fmla="*/ 2584033 h 3558627"/>
                <a:gd name="csX57" fmla="*/ 742767 w 6322475"/>
                <a:gd name="csY57" fmla="*/ 2593778 h 3558627"/>
                <a:gd name="csX58" fmla="*/ 620955 w 6322475"/>
                <a:gd name="csY58" fmla="*/ 2619764 h 3558627"/>
                <a:gd name="csX59" fmla="*/ 612835 w 6322475"/>
                <a:gd name="csY59" fmla="*/ 3011186 h 3558627"/>
                <a:gd name="csX60" fmla="*/ 590096 w 6322475"/>
                <a:gd name="csY60" fmla="*/ 3056662 h 3558627"/>
                <a:gd name="csX61" fmla="*/ 547868 w 6322475"/>
                <a:gd name="csY61" fmla="*/ 3050166 h 3558627"/>
                <a:gd name="csX62" fmla="*/ 499144 w 6322475"/>
                <a:gd name="csY62" fmla="*/ 3024179 h 3558627"/>
                <a:gd name="csX63" fmla="*/ 473157 w 6322475"/>
                <a:gd name="csY63" fmla="*/ 3017682 h 3558627"/>
                <a:gd name="csX64" fmla="*/ 429305 w 6322475"/>
                <a:gd name="csY64" fmla="*/ 3038796 h 3558627"/>
                <a:gd name="csX65" fmla="*/ 408191 w 6322475"/>
                <a:gd name="csY65" fmla="*/ 3055038 h 3558627"/>
                <a:gd name="csX66" fmla="*/ 369211 w 6322475"/>
                <a:gd name="csY66" fmla="*/ 3048541 h 3558627"/>
                <a:gd name="csX67" fmla="*/ 331856 w 6322475"/>
                <a:gd name="csY67" fmla="*/ 3032300 h 3558627"/>
                <a:gd name="csX68" fmla="*/ 292876 w 6322475"/>
                <a:gd name="csY68" fmla="*/ 3032300 h 3558627"/>
                <a:gd name="csX69" fmla="*/ 271762 w 6322475"/>
                <a:gd name="csY69" fmla="*/ 3077776 h 3558627"/>
                <a:gd name="csX70" fmla="*/ 294500 w 6322475"/>
                <a:gd name="csY70" fmla="*/ 3124877 h 3558627"/>
                <a:gd name="csX71" fmla="*/ 318862 w 6322475"/>
                <a:gd name="csY71" fmla="*/ 3139494 h 3558627"/>
                <a:gd name="csX72" fmla="*/ 448795 w 6322475"/>
                <a:gd name="csY72" fmla="*/ 3121628 h 3558627"/>
                <a:gd name="csX73" fmla="*/ 705412 w 6322475"/>
                <a:gd name="csY73" fmla="*/ 3162232 h 3558627"/>
                <a:gd name="csX74" fmla="*/ 978270 w 6322475"/>
                <a:gd name="csY74" fmla="*/ 3072904 h 3558627"/>
                <a:gd name="csX75" fmla="*/ 1230014 w 6322475"/>
                <a:gd name="csY75" fmla="*/ 3048541 h 3558627"/>
                <a:gd name="csX76" fmla="*/ 1450899 w 6322475"/>
                <a:gd name="csY76" fmla="*/ 3071280 h 3558627"/>
                <a:gd name="csX77" fmla="*/ 1483382 w 6322475"/>
                <a:gd name="csY77" fmla="*/ 3115132 h 3558627"/>
                <a:gd name="csX78" fmla="*/ 1629556 w 6322475"/>
                <a:gd name="csY78" fmla="*/ 3116756 h 3558627"/>
                <a:gd name="csX79" fmla="*/ 1694523 w 6322475"/>
                <a:gd name="csY79" fmla="*/ 3085897 h 3558627"/>
                <a:gd name="csX80" fmla="*/ 1769234 w 6322475"/>
                <a:gd name="csY80" fmla="*/ 3081025 h 3558627"/>
                <a:gd name="csX81" fmla="*/ 1860187 w 6322475"/>
                <a:gd name="csY81" fmla="*/ 3085897 h 3558627"/>
                <a:gd name="csX82" fmla="*/ 2016106 w 6322475"/>
                <a:gd name="csY82" fmla="*/ 2946220 h 3558627"/>
                <a:gd name="csX83" fmla="*/ 2173649 w 6322475"/>
                <a:gd name="csY83" fmla="*/ 2921857 h 3558627"/>
                <a:gd name="csX84" fmla="*/ 2353930 w 6322475"/>
                <a:gd name="csY84" fmla="*/ 2788676 h 3558627"/>
                <a:gd name="csX85" fmla="*/ 2469245 w 6322475"/>
                <a:gd name="csY85" fmla="*/ 2715589 h 3558627"/>
                <a:gd name="csX86" fmla="*/ 2617043 w 6322475"/>
                <a:gd name="csY86" fmla="*/ 2681482 h 3558627"/>
                <a:gd name="csX87" fmla="*/ 3572047 w 6322475"/>
                <a:gd name="csY87" fmla="*/ 2653871 h 3558627"/>
                <a:gd name="csX88" fmla="*/ 3654879 w 6322475"/>
                <a:gd name="csY88" fmla="*/ 2631133 h 3558627"/>
                <a:gd name="csX89" fmla="*/ 3807550 w 6322475"/>
                <a:gd name="csY89" fmla="*/ 2527187 h 3558627"/>
                <a:gd name="csX90" fmla="*/ 3948852 w 6322475"/>
                <a:gd name="csY90" fmla="*/ 2351778 h 3558627"/>
                <a:gd name="csX91" fmla="*/ 4135630 w 6322475"/>
                <a:gd name="csY91" fmla="*/ 2238087 h 3558627"/>
                <a:gd name="csX92" fmla="*/ 4223334 w 6322475"/>
                <a:gd name="csY92" fmla="*/ 2150383 h 3558627"/>
                <a:gd name="csX93" fmla="*/ 4263938 w 6322475"/>
                <a:gd name="csY93" fmla="*/ 2077296 h 3558627"/>
                <a:gd name="csX94" fmla="*/ 4387374 w 6322475"/>
                <a:gd name="csY94" fmla="*/ 2036692 h 3558627"/>
                <a:gd name="csX95" fmla="*/ 4452340 w 6322475"/>
                <a:gd name="csY95" fmla="*/ 2030195 h 3558627"/>
                <a:gd name="csX96" fmla="*/ 4520555 w 6322475"/>
                <a:gd name="csY96" fmla="*/ 1910008 h 3558627"/>
                <a:gd name="csX97" fmla="*/ 4510810 w 6322475"/>
                <a:gd name="csY97" fmla="*/ 1854786 h 3558627"/>
                <a:gd name="csX98" fmla="*/ 4548165 w 6322475"/>
                <a:gd name="csY98" fmla="*/ 1843417 h 3558627"/>
                <a:gd name="csX99" fmla="*/ 4580648 w 6322475"/>
                <a:gd name="csY99" fmla="*/ 1888894 h 3558627"/>
                <a:gd name="csX100" fmla="*/ 4689467 w 6322475"/>
                <a:gd name="csY100" fmla="*/ 1953860 h 3558627"/>
                <a:gd name="csX101" fmla="*/ 4827520 w 6322475"/>
                <a:gd name="csY101" fmla="*/ 2002585 h 3558627"/>
                <a:gd name="csX102" fmla="*/ 4968822 w 6322475"/>
                <a:gd name="csY102" fmla="*/ 2059430 h 3558627"/>
                <a:gd name="csX103" fmla="*/ 5045157 w 6322475"/>
                <a:gd name="csY103" fmla="*/ 2111403 h 3558627"/>
                <a:gd name="csX104" fmla="*/ 5077640 w 6322475"/>
                <a:gd name="csY104" fmla="*/ 2173121 h 3558627"/>
                <a:gd name="csX105" fmla="*/ 5183210 w 6322475"/>
                <a:gd name="csY105" fmla="*/ 2252705 h 3558627"/>
                <a:gd name="csX106" fmla="*/ 5223814 w 6322475"/>
                <a:gd name="csY106" fmla="*/ 2350154 h 3558627"/>
                <a:gd name="csX107" fmla="*/ 5313143 w 6322475"/>
                <a:gd name="csY107" fmla="*/ 2389134 h 3558627"/>
                <a:gd name="csX108" fmla="*/ 5616860 w 6322475"/>
                <a:gd name="csY108" fmla="*/ 2447604 h 3558627"/>
                <a:gd name="csX109" fmla="*/ 5745169 w 6322475"/>
                <a:gd name="csY109" fmla="*/ 2546677 h 3558627"/>
                <a:gd name="csX110" fmla="*/ 5925450 w 6322475"/>
                <a:gd name="csY110" fmla="*/ 2733455 h 3558627"/>
                <a:gd name="csX111" fmla="*/ 6128469 w 6322475"/>
                <a:gd name="csY111" fmla="*/ 2788676 h 3558627"/>
                <a:gd name="csX112" fmla="*/ 6307903 w 6322475"/>
                <a:gd name="csY112" fmla="*/ 2848236 h 3558627"/>
                <a:gd name="csX113" fmla="*/ 6322475 w 6322475"/>
                <a:gd name="csY113" fmla="*/ 2846415 h 3558627"/>
                <a:gd name="csX114" fmla="*/ 6311546 w 6322475"/>
                <a:gd name="csY114" fmla="*/ 3558627 h 3558627"/>
                <a:gd name="csX115" fmla="*/ 0 w 6322475"/>
                <a:gd name="csY115" fmla="*/ 3551341 h 3558627"/>
                <a:gd name="csX116" fmla="*/ 5400 w 6322475"/>
                <a:gd name="csY116" fmla="*/ 0 h 35586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</a:cxnLst>
              <a:rect l="l" t="t" r="r" b="b"/>
              <a:pathLst>
                <a:path w="6322475" h="3558627">
                  <a:moveTo>
                    <a:pt x="5400" y="0"/>
                  </a:moveTo>
                  <a:lnTo>
                    <a:pt x="804485" y="25986"/>
                  </a:lnTo>
                  <a:lnTo>
                    <a:pt x="934418" y="38980"/>
                  </a:lnTo>
                  <a:lnTo>
                    <a:pt x="1028619" y="131557"/>
                  </a:lnTo>
                  <a:lnTo>
                    <a:pt x="1059478" y="240375"/>
                  </a:lnTo>
                  <a:lnTo>
                    <a:pt x="1124444" y="282603"/>
                  </a:lnTo>
                  <a:lnTo>
                    <a:pt x="1359946" y="352442"/>
                  </a:lnTo>
                  <a:lnTo>
                    <a:pt x="1528859" y="389798"/>
                  </a:lnTo>
                  <a:lnTo>
                    <a:pt x="1666912" y="440146"/>
                  </a:lnTo>
                  <a:lnTo>
                    <a:pt x="1723758" y="503488"/>
                  </a:lnTo>
                  <a:lnTo>
                    <a:pt x="1739999" y="542468"/>
                  </a:lnTo>
                  <a:lnTo>
                    <a:pt x="1925153" y="641542"/>
                  </a:lnTo>
                  <a:lnTo>
                    <a:pt x="2072951" y="651287"/>
                  </a:lnTo>
                  <a:lnTo>
                    <a:pt x="2225622" y="693515"/>
                  </a:lnTo>
                  <a:lnTo>
                    <a:pt x="2292212" y="711380"/>
                  </a:lnTo>
                  <a:lnTo>
                    <a:pt x="2379917" y="745488"/>
                  </a:lnTo>
                  <a:lnTo>
                    <a:pt x="2563446" y="833192"/>
                  </a:lnTo>
                  <a:lnTo>
                    <a:pt x="3065311" y="1192131"/>
                  </a:lnTo>
                  <a:lnTo>
                    <a:pt x="3408008" y="1369164"/>
                  </a:lnTo>
                  <a:lnTo>
                    <a:pt x="3687362" y="1500720"/>
                  </a:lnTo>
                  <a:lnTo>
                    <a:pt x="3966717" y="1614411"/>
                  </a:lnTo>
                  <a:lnTo>
                    <a:pt x="4039804" y="1668009"/>
                  </a:lnTo>
                  <a:lnTo>
                    <a:pt x="4104771" y="1690747"/>
                  </a:lnTo>
                  <a:lnTo>
                    <a:pt x="4198972" y="1719982"/>
                  </a:lnTo>
                  <a:lnTo>
                    <a:pt x="4257441" y="1775203"/>
                  </a:lnTo>
                  <a:cubicBezTo>
                    <a:pt x="4257982" y="1796317"/>
                    <a:pt x="4258524" y="1817431"/>
                    <a:pt x="4259065" y="1838545"/>
                  </a:cubicBezTo>
                  <a:cubicBezTo>
                    <a:pt x="4258524" y="1859659"/>
                    <a:pt x="4257982" y="1880773"/>
                    <a:pt x="4257441" y="1901887"/>
                  </a:cubicBezTo>
                  <a:lnTo>
                    <a:pt x="4155119" y="1926249"/>
                  </a:lnTo>
                  <a:lnTo>
                    <a:pt x="4023563" y="1974974"/>
                  </a:lnTo>
                  <a:lnTo>
                    <a:pt x="3883885" y="2147135"/>
                  </a:lnTo>
                  <a:lnTo>
                    <a:pt x="3770194" y="2200732"/>
                  </a:lnTo>
                  <a:lnTo>
                    <a:pt x="3666248" y="2238087"/>
                  </a:lnTo>
                  <a:lnTo>
                    <a:pt x="3563927" y="2278691"/>
                  </a:lnTo>
                  <a:lnTo>
                    <a:pt x="3446987" y="2288436"/>
                  </a:lnTo>
                  <a:lnTo>
                    <a:pt x="3430746" y="2288436"/>
                  </a:lnTo>
                  <a:lnTo>
                    <a:pt x="3195243" y="2288436"/>
                  </a:lnTo>
                  <a:lnTo>
                    <a:pt x="3167632" y="2288436"/>
                  </a:lnTo>
                  <a:lnTo>
                    <a:pt x="2922385" y="2291685"/>
                  </a:lnTo>
                  <a:lnTo>
                    <a:pt x="2680386" y="2290060"/>
                  </a:lnTo>
                  <a:lnTo>
                    <a:pt x="2660896" y="2290060"/>
                  </a:lnTo>
                  <a:lnTo>
                    <a:pt x="2534212" y="2314423"/>
                  </a:lnTo>
                  <a:lnTo>
                    <a:pt x="2388037" y="2320919"/>
                  </a:lnTo>
                  <a:lnTo>
                    <a:pt x="2261353" y="2364772"/>
                  </a:lnTo>
                  <a:lnTo>
                    <a:pt x="2152535" y="2426490"/>
                  </a:lnTo>
                  <a:lnTo>
                    <a:pt x="2074575" y="2465469"/>
                  </a:lnTo>
                  <a:lnTo>
                    <a:pt x="1967381" y="2507697"/>
                  </a:lnTo>
                  <a:lnTo>
                    <a:pt x="1804965" y="2548301"/>
                  </a:lnTo>
                  <a:lnTo>
                    <a:pt x="1705892" y="2585657"/>
                  </a:lnTo>
                  <a:lnTo>
                    <a:pt x="1634429" y="2585657"/>
                  </a:lnTo>
                  <a:lnTo>
                    <a:pt x="1575959" y="2580784"/>
                  </a:lnTo>
                  <a:lnTo>
                    <a:pt x="1498000" y="2562919"/>
                  </a:lnTo>
                  <a:lnTo>
                    <a:pt x="1421664" y="2549925"/>
                  </a:lnTo>
                  <a:lnTo>
                    <a:pt x="1376188" y="2541805"/>
                  </a:lnTo>
                  <a:lnTo>
                    <a:pt x="1168296" y="2545053"/>
                  </a:lnTo>
                  <a:lnTo>
                    <a:pt x="1080592" y="2585657"/>
                  </a:lnTo>
                  <a:lnTo>
                    <a:pt x="953907" y="2579160"/>
                  </a:lnTo>
                  <a:lnTo>
                    <a:pt x="828847" y="2584033"/>
                  </a:lnTo>
                  <a:lnTo>
                    <a:pt x="742767" y="2593778"/>
                  </a:lnTo>
                  <a:lnTo>
                    <a:pt x="620955" y="2619764"/>
                  </a:lnTo>
                  <a:lnTo>
                    <a:pt x="612835" y="3011186"/>
                  </a:lnTo>
                  <a:lnTo>
                    <a:pt x="590096" y="3056662"/>
                  </a:lnTo>
                  <a:lnTo>
                    <a:pt x="547868" y="3050166"/>
                  </a:lnTo>
                  <a:lnTo>
                    <a:pt x="499144" y="3024179"/>
                  </a:lnTo>
                  <a:lnTo>
                    <a:pt x="473157" y="3017682"/>
                  </a:lnTo>
                  <a:lnTo>
                    <a:pt x="429305" y="3038796"/>
                  </a:lnTo>
                  <a:lnTo>
                    <a:pt x="408191" y="3055038"/>
                  </a:lnTo>
                  <a:lnTo>
                    <a:pt x="369211" y="3048541"/>
                  </a:lnTo>
                  <a:lnTo>
                    <a:pt x="331856" y="3032300"/>
                  </a:lnTo>
                  <a:lnTo>
                    <a:pt x="292876" y="3032300"/>
                  </a:lnTo>
                  <a:lnTo>
                    <a:pt x="271762" y="3077776"/>
                  </a:lnTo>
                  <a:lnTo>
                    <a:pt x="294500" y="3124877"/>
                  </a:lnTo>
                  <a:lnTo>
                    <a:pt x="318862" y="3139494"/>
                  </a:lnTo>
                  <a:lnTo>
                    <a:pt x="448795" y="3121628"/>
                  </a:lnTo>
                  <a:lnTo>
                    <a:pt x="705412" y="3162232"/>
                  </a:lnTo>
                  <a:lnTo>
                    <a:pt x="978270" y="3072904"/>
                  </a:lnTo>
                  <a:lnTo>
                    <a:pt x="1230014" y="3048541"/>
                  </a:lnTo>
                  <a:lnTo>
                    <a:pt x="1450899" y="3071280"/>
                  </a:lnTo>
                  <a:lnTo>
                    <a:pt x="1483382" y="3115132"/>
                  </a:lnTo>
                  <a:lnTo>
                    <a:pt x="1629556" y="3116756"/>
                  </a:lnTo>
                  <a:lnTo>
                    <a:pt x="1694523" y="3085897"/>
                  </a:lnTo>
                  <a:lnTo>
                    <a:pt x="1769234" y="3081025"/>
                  </a:lnTo>
                  <a:lnTo>
                    <a:pt x="1860187" y="3085897"/>
                  </a:lnTo>
                  <a:lnTo>
                    <a:pt x="2016106" y="2946220"/>
                  </a:lnTo>
                  <a:lnTo>
                    <a:pt x="2173649" y="2921857"/>
                  </a:lnTo>
                  <a:lnTo>
                    <a:pt x="2353930" y="2788676"/>
                  </a:lnTo>
                  <a:lnTo>
                    <a:pt x="2469245" y="2715589"/>
                  </a:lnTo>
                  <a:lnTo>
                    <a:pt x="2617043" y="2681482"/>
                  </a:lnTo>
                  <a:lnTo>
                    <a:pt x="3572047" y="2653871"/>
                  </a:lnTo>
                  <a:lnTo>
                    <a:pt x="3654879" y="2631133"/>
                  </a:lnTo>
                  <a:lnTo>
                    <a:pt x="3807550" y="2527187"/>
                  </a:lnTo>
                  <a:lnTo>
                    <a:pt x="3948852" y="2351778"/>
                  </a:lnTo>
                  <a:lnTo>
                    <a:pt x="4135630" y="2238087"/>
                  </a:lnTo>
                  <a:lnTo>
                    <a:pt x="4223334" y="2150383"/>
                  </a:lnTo>
                  <a:lnTo>
                    <a:pt x="4263938" y="2077296"/>
                  </a:lnTo>
                  <a:lnTo>
                    <a:pt x="4387374" y="2036692"/>
                  </a:lnTo>
                  <a:lnTo>
                    <a:pt x="4452340" y="2030195"/>
                  </a:lnTo>
                  <a:lnTo>
                    <a:pt x="4520555" y="1910008"/>
                  </a:lnTo>
                  <a:lnTo>
                    <a:pt x="4510810" y="1854786"/>
                  </a:lnTo>
                  <a:lnTo>
                    <a:pt x="4548165" y="1843417"/>
                  </a:lnTo>
                  <a:lnTo>
                    <a:pt x="4580648" y="1888894"/>
                  </a:lnTo>
                  <a:lnTo>
                    <a:pt x="4689467" y="1953860"/>
                  </a:lnTo>
                  <a:lnTo>
                    <a:pt x="4827520" y="2002585"/>
                  </a:lnTo>
                  <a:lnTo>
                    <a:pt x="4968822" y="2059430"/>
                  </a:lnTo>
                  <a:lnTo>
                    <a:pt x="5045157" y="2111403"/>
                  </a:lnTo>
                  <a:lnTo>
                    <a:pt x="5077640" y="2173121"/>
                  </a:lnTo>
                  <a:lnTo>
                    <a:pt x="5183210" y="2252705"/>
                  </a:lnTo>
                  <a:lnTo>
                    <a:pt x="5223814" y="2350154"/>
                  </a:lnTo>
                  <a:lnTo>
                    <a:pt x="5313143" y="2389134"/>
                  </a:lnTo>
                  <a:lnTo>
                    <a:pt x="5616860" y="2447604"/>
                  </a:lnTo>
                  <a:lnTo>
                    <a:pt x="5745169" y="2546677"/>
                  </a:lnTo>
                  <a:lnTo>
                    <a:pt x="5925450" y="2733455"/>
                  </a:lnTo>
                  <a:lnTo>
                    <a:pt x="6128469" y="2788676"/>
                  </a:lnTo>
                  <a:lnTo>
                    <a:pt x="6307903" y="2848236"/>
                  </a:lnTo>
                  <a:lnTo>
                    <a:pt x="6322475" y="2846415"/>
                  </a:lnTo>
                  <a:lnTo>
                    <a:pt x="6311546" y="3558627"/>
                  </a:lnTo>
                  <a:lnTo>
                    <a:pt x="0" y="3551341"/>
                  </a:lnTo>
                  <a:cubicBezTo>
                    <a:pt x="2429" y="2369178"/>
                    <a:pt x="4857" y="1187016"/>
                    <a:pt x="54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A67B800-BE45-0DBB-3F1D-8294C4C02FAA}"/>
                </a:ext>
              </a:extLst>
            </p:cNvPr>
            <p:cNvSpPr/>
            <p:nvPr/>
          </p:nvSpPr>
          <p:spPr>
            <a:xfrm>
              <a:off x="571048" y="5627355"/>
              <a:ext cx="928857" cy="1026441"/>
            </a:xfrm>
            <a:custGeom>
              <a:avLst/>
              <a:gdLst>
                <a:gd name="csX0" fmla="*/ 498764 w 928857"/>
                <a:gd name="csY0" fmla="*/ 126498 h 1026441"/>
                <a:gd name="csX1" fmla="*/ 357809 w 928857"/>
                <a:gd name="csY1" fmla="*/ 524063 h 1026441"/>
                <a:gd name="csX2" fmla="*/ 231311 w 928857"/>
                <a:gd name="csY2" fmla="*/ 701160 h 1026441"/>
                <a:gd name="csX3" fmla="*/ 0 w 928857"/>
                <a:gd name="csY3" fmla="*/ 885486 h 1026441"/>
                <a:gd name="csX4" fmla="*/ 137341 w 928857"/>
                <a:gd name="csY4" fmla="*/ 1026441 h 1026441"/>
                <a:gd name="csX5" fmla="*/ 928857 w 928857"/>
                <a:gd name="csY5" fmla="*/ 997527 h 1026441"/>
                <a:gd name="csX6" fmla="*/ 885486 w 928857"/>
                <a:gd name="csY6" fmla="*/ 0 h 1026441"/>
                <a:gd name="csX7" fmla="*/ 498764 w 928857"/>
                <a:gd name="csY7" fmla="*/ 126498 h 1026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928857" h="1026441">
                  <a:moveTo>
                    <a:pt x="498764" y="126498"/>
                  </a:moveTo>
                  <a:lnTo>
                    <a:pt x="357809" y="524063"/>
                  </a:lnTo>
                  <a:lnTo>
                    <a:pt x="231311" y="701160"/>
                  </a:lnTo>
                  <a:lnTo>
                    <a:pt x="0" y="885486"/>
                  </a:lnTo>
                  <a:lnTo>
                    <a:pt x="137341" y="1026441"/>
                  </a:lnTo>
                  <a:lnTo>
                    <a:pt x="928857" y="997527"/>
                  </a:lnTo>
                  <a:lnTo>
                    <a:pt x="885486" y="0"/>
                  </a:lnTo>
                  <a:lnTo>
                    <a:pt x="498764" y="126498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8E0A483-52B6-17AF-AA0E-050F742CB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415" t="42664" r="24368" b="35097"/>
            <a:stretch>
              <a:fillRect/>
            </a:stretch>
          </p:blipFill>
          <p:spPr>
            <a:xfrm rot="20195378" flipV="1">
              <a:off x="217106" y="4098591"/>
              <a:ext cx="9055798" cy="2920941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5A18BD9-CFF9-9B49-9509-7154887DD8EE}"/>
                </a:ext>
              </a:extLst>
            </p:cNvPr>
            <p:cNvSpPr/>
            <p:nvPr/>
          </p:nvSpPr>
          <p:spPr>
            <a:xfrm>
              <a:off x="6915150" y="4472940"/>
              <a:ext cx="144780" cy="152400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4056A62-F031-78C2-DA31-CA4E4DFBC0BC}"/>
                </a:ext>
              </a:extLst>
            </p:cNvPr>
            <p:cNvSpPr/>
            <p:nvPr/>
          </p:nvSpPr>
          <p:spPr>
            <a:xfrm>
              <a:off x="5463540" y="4865370"/>
              <a:ext cx="144780" cy="152400"/>
            </a:xfrm>
            <a:prstGeom prst="ellipse">
              <a:avLst/>
            </a:prstGeom>
            <a:solidFill>
              <a:srgbClr val="8686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5C3237F-4746-A8A6-AF4E-54E19D3EFD40}"/>
                </a:ext>
              </a:extLst>
            </p:cNvPr>
            <p:cNvSpPr/>
            <p:nvPr/>
          </p:nvSpPr>
          <p:spPr>
            <a:xfrm>
              <a:off x="3911498" y="5193029"/>
              <a:ext cx="180442" cy="186197"/>
            </a:xfrm>
            <a:prstGeom prst="ellipse">
              <a:avLst/>
            </a:prstGeom>
            <a:solidFill>
              <a:srgbClr val="8282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1088299-8754-C2C8-FFE1-727985D821C7}"/>
                </a:ext>
              </a:extLst>
            </p:cNvPr>
            <p:cNvSpPr/>
            <p:nvPr/>
          </p:nvSpPr>
          <p:spPr>
            <a:xfrm flipH="1">
              <a:off x="8310878" y="4020182"/>
              <a:ext cx="129544" cy="129544"/>
            </a:xfrm>
            <a:prstGeom prst="ellipse">
              <a:avLst/>
            </a:prstGeom>
            <a:solidFill>
              <a:srgbClr val="4A8C3F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D916E5B-AD05-C832-12DF-C3F8C05AF37B}"/>
                </a:ext>
              </a:extLst>
            </p:cNvPr>
            <p:cNvSpPr/>
            <p:nvPr/>
          </p:nvSpPr>
          <p:spPr>
            <a:xfrm flipH="1">
              <a:off x="8480741" y="4126544"/>
              <a:ext cx="129544" cy="129544"/>
            </a:xfrm>
            <a:prstGeom prst="ellipse">
              <a:avLst/>
            </a:prstGeom>
            <a:solidFill>
              <a:srgbClr val="4A8C3F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8056814-0ACD-93A6-5ADD-5283E82BF66F}"/>
                </a:ext>
              </a:extLst>
            </p:cNvPr>
            <p:cNvSpPr/>
            <p:nvPr/>
          </p:nvSpPr>
          <p:spPr>
            <a:xfrm flipH="1">
              <a:off x="8440422" y="4361494"/>
              <a:ext cx="129544" cy="129544"/>
            </a:xfrm>
            <a:prstGeom prst="ellipse">
              <a:avLst/>
            </a:prstGeom>
            <a:solidFill>
              <a:srgbClr val="4A8C3F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26102DB-38AB-F896-CC63-6C5282164DD9}"/>
                </a:ext>
              </a:extLst>
            </p:cNvPr>
            <p:cNvSpPr/>
            <p:nvPr/>
          </p:nvSpPr>
          <p:spPr>
            <a:xfrm flipH="1">
              <a:off x="7490724" y="4897689"/>
              <a:ext cx="129544" cy="129544"/>
            </a:xfrm>
            <a:prstGeom prst="ellipse">
              <a:avLst/>
            </a:prstGeom>
            <a:solidFill>
              <a:srgbClr val="3B1F6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C2BA6AA-3220-B1D7-C32E-F9349FE56788}"/>
                </a:ext>
              </a:extLst>
            </p:cNvPr>
            <p:cNvSpPr/>
            <p:nvPr/>
          </p:nvSpPr>
          <p:spPr>
            <a:xfrm flipH="1">
              <a:off x="7606335" y="4978336"/>
              <a:ext cx="129544" cy="129544"/>
            </a:xfrm>
            <a:prstGeom prst="ellipse">
              <a:avLst/>
            </a:prstGeom>
            <a:solidFill>
              <a:srgbClr val="3B1F6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4AB0B74-E342-56ED-0D58-5EA0BA398E1D}"/>
                </a:ext>
              </a:extLst>
            </p:cNvPr>
            <p:cNvSpPr/>
            <p:nvPr/>
          </p:nvSpPr>
          <p:spPr>
            <a:xfrm flipH="1">
              <a:off x="7620268" y="5188527"/>
              <a:ext cx="129544" cy="129544"/>
            </a:xfrm>
            <a:prstGeom prst="ellipse">
              <a:avLst/>
            </a:prstGeom>
            <a:solidFill>
              <a:srgbClr val="3B1F6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5EB3EEC-0C9C-67CD-0BA9-0E4E2E8400FA}"/>
                </a:ext>
              </a:extLst>
            </p:cNvPr>
            <p:cNvSpPr/>
            <p:nvPr/>
          </p:nvSpPr>
          <p:spPr>
            <a:xfrm flipH="1">
              <a:off x="6096000" y="5318071"/>
              <a:ext cx="129544" cy="129544"/>
            </a:xfrm>
            <a:prstGeom prst="ellipse">
              <a:avLst/>
            </a:prstGeom>
            <a:solidFill>
              <a:srgbClr val="3B1F6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BA199F3-28B2-3A7E-15E7-8CD168DCD99F}"/>
                </a:ext>
              </a:extLst>
            </p:cNvPr>
            <p:cNvSpPr/>
            <p:nvPr/>
          </p:nvSpPr>
          <p:spPr>
            <a:xfrm flipH="1">
              <a:off x="6301666" y="5429517"/>
              <a:ext cx="129544" cy="129544"/>
            </a:xfrm>
            <a:prstGeom prst="ellipse">
              <a:avLst/>
            </a:prstGeom>
            <a:solidFill>
              <a:srgbClr val="3B1F6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5BDB40A-106D-8AE9-298F-2DD1FFBFCABC}"/>
                </a:ext>
              </a:extLst>
            </p:cNvPr>
            <p:cNvSpPr/>
            <p:nvPr/>
          </p:nvSpPr>
          <p:spPr>
            <a:xfrm flipH="1">
              <a:off x="5933243" y="5490242"/>
              <a:ext cx="129544" cy="129544"/>
            </a:xfrm>
            <a:prstGeom prst="ellipse">
              <a:avLst/>
            </a:prstGeom>
            <a:solidFill>
              <a:srgbClr val="3B1F6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4CDB982-7956-5143-6376-5FD92986E2FA}"/>
                </a:ext>
              </a:extLst>
            </p:cNvPr>
            <p:cNvSpPr/>
            <p:nvPr/>
          </p:nvSpPr>
          <p:spPr>
            <a:xfrm flipH="1">
              <a:off x="5023480" y="5585134"/>
              <a:ext cx="129544" cy="129544"/>
            </a:xfrm>
            <a:prstGeom prst="ellipse">
              <a:avLst/>
            </a:prstGeom>
            <a:solidFill>
              <a:srgbClr val="3B1F6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A2234D2-A305-923F-67A6-8B82C18B5FBC}"/>
                </a:ext>
              </a:extLst>
            </p:cNvPr>
            <p:cNvSpPr/>
            <p:nvPr/>
          </p:nvSpPr>
          <p:spPr>
            <a:xfrm flipH="1">
              <a:off x="5033044" y="5711013"/>
              <a:ext cx="129544" cy="129544"/>
            </a:xfrm>
            <a:prstGeom prst="ellipse">
              <a:avLst/>
            </a:prstGeom>
            <a:solidFill>
              <a:srgbClr val="3B1F6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8D50A0A-1E8C-E30C-BD92-4ADBDDC29746}"/>
                </a:ext>
              </a:extLst>
            </p:cNvPr>
            <p:cNvSpPr/>
            <p:nvPr/>
          </p:nvSpPr>
          <p:spPr>
            <a:xfrm flipH="1">
              <a:off x="5268303" y="5649906"/>
              <a:ext cx="129544" cy="129544"/>
            </a:xfrm>
            <a:prstGeom prst="ellipse">
              <a:avLst/>
            </a:prstGeom>
            <a:solidFill>
              <a:srgbClr val="3B1F6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E618747-E024-6024-8AB0-6A6EEC95FFE7}"/>
                </a:ext>
              </a:extLst>
            </p:cNvPr>
            <p:cNvSpPr/>
            <p:nvPr/>
          </p:nvSpPr>
          <p:spPr>
            <a:xfrm flipH="1">
              <a:off x="3673281" y="5925557"/>
              <a:ext cx="129544" cy="129544"/>
            </a:xfrm>
            <a:prstGeom prst="ellipse">
              <a:avLst/>
            </a:prstGeom>
            <a:solidFill>
              <a:srgbClr val="3B1F6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49F2C4F-5CE4-A005-E72D-33C9842771E8}"/>
                </a:ext>
              </a:extLst>
            </p:cNvPr>
            <p:cNvSpPr/>
            <p:nvPr/>
          </p:nvSpPr>
          <p:spPr>
            <a:xfrm flipH="1">
              <a:off x="3911498" y="6312530"/>
              <a:ext cx="129544" cy="129544"/>
            </a:xfrm>
            <a:prstGeom prst="ellipse">
              <a:avLst/>
            </a:prstGeom>
            <a:solidFill>
              <a:srgbClr val="3B1F6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D4E8B54-2987-D3DD-42B5-AA619D664A54}"/>
                </a:ext>
              </a:extLst>
            </p:cNvPr>
            <p:cNvSpPr/>
            <p:nvPr/>
          </p:nvSpPr>
          <p:spPr>
            <a:xfrm flipH="1">
              <a:off x="2923118" y="5947752"/>
              <a:ext cx="129544" cy="129544"/>
            </a:xfrm>
            <a:prstGeom prst="ellipse">
              <a:avLst/>
            </a:prstGeom>
            <a:solidFill>
              <a:srgbClr val="3B1F6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ED43A11-6869-8316-AEA7-E8F80A96ECA9}"/>
                </a:ext>
              </a:extLst>
            </p:cNvPr>
            <p:cNvSpPr/>
            <p:nvPr/>
          </p:nvSpPr>
          <p:spPr>
            <a:xfrm flipH="1">
              <a:off x="2858346" y="6377302"/>
              <a:ext cx="129544" cy="129544"/>
            </a:xfrm>
            <a:prstGeom prst="ellipse">
              <a:avLst/>
            </a:prstGeom>
            <a:solidFill>
              <a:srgbClr val="3B1F6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96DE826-C5F0-FD16-991C-6432FE19B939}"/>
                </a:ext>
              </a:extLst>
            </p:cNvPr>
            <p:cNvSpPr/>
            <p:nvPr/>
          </p:nvSpPr>
          <p:spPr>
            <a:xfrm flipH="1">
              <a:off x="2659248" y="6258560"/>
              <a:ext cx="129544" cy="129544"/>
            </a:xfrm>
            <a:prstGeom prst="ellipse">
              <a:avLst/>
            </a:prstGeom>
            <a:solidFill>
              <a:srgbClr val="3B1F6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4AF0E63-F173-244D-8B3E-BB238C10C3CF}"/>
                </a:ext>
              </a:extLst>
            </p:cNvPr>
            <p:cNvSpPr/>
            <p:nvPr/>
          </p:nvSpPr>
          <p:spPr>
            <a:xfrm flipH="1">
              <a:off x="3067376" y="6506846"/>
              <a:ext cx="129544" cy="129544"/>
            </a:xfrm>
            <a:prstGeom prst="ellipse">
              <a:avLst/>
            </a:prstGeom>
            <a:solidFill>
              <a:srgbClr val="3B1F6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0B7CDA9-344B-232B-E2FA-DA2C463A31BF}"/>
                </a:ext>
              </a:extLst>
            </p:cNvPr>
            <p:cNvSpPr/>
            <p:nvPr/>
          </p:nvSpPr>
          <p:spPr>
            <a:xfrm flipH="1">
              <a:off x="1512165" y="5674113"/>
              <a:ext cx="129544" cy="129544"/>
            </a:xfrm>
            <a:prstGeom prst="ellipse">
              <a:avLst/>
            </a:prstGeom>
            <a:solidFill>
              <a:srgbClr val="3B1F6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1257154-1DEB-D580-385D-C4EEE4CD3D68}"/>
                </a:ext>
              </a:extLst>
            </p:cNvPr>
            <p:cNvSpPr/>
            <p:nvPr/>
          </p:nvSpPr>
          <p:spPr>
            <a:xfrm flipH="1">
              <a:off x="1275811" y="5925557"/>
              <a:ext cx="129544" cy="129544"/>
            </a:xfrm>
            <a:prstGeom prst="ellipse">
              <a:avLst/>
            </a:prstGeom>
            <a:solidFill>
              <a:srgbClr val="3B1F6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40C8E25-F90F-0D1B-7F8C-7ECAEF0F27AC}"/>
                </a:ext>
              </a:extLst>
            </p:cNvPr>
            <p:cNvSpPr/>
            <p:nvPr/>
          </p:nvSpPr>
          <p:spPr>
            <a:xfrm flipH="1">
              <a:off x="938460" y="6388104"/>
              <a:ext cx="129544" cy="129544"/>
            </a:xfrm>
            <a:prstGeom prst="ellipse">
              <a:avLst/>
            </a:prstGeom>
            <a:solidFill>
              <a:srgbClr val="3B1F6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FA7584E-65F5-A52E-EB65-2161F8BAA4C5}"/>
                </a:ext>
              </a:extLst>
            </p:cNvPr>
            <p:cNvSpPr/>
            <p:nvPr/>
          </p:nvSpPr>
          <p:spPr>
            <a:xfrm flipH="1">
              <a:off x="3846726" y="6475872"/>
              <a:ext cx="129544" cy="129544"/>
            </a:xfrm>
            <a:prstGeom prst="ellipse">
              <a:avLst/>
            </a:prstGeom>
            <a:solidFill>
              <a:srgbClr val="4A90C4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4D0CC3D-9C2E-01F6-FE22-3F3BA454930E}"/>
                </a:ext>
              </a:extLst>
            </p:cNvPr>
            <p:cNvSpPr/>
            <p:nvPr/>
          </p:nvSpPr>
          <p:spPr>
            <a:xfrm flipH="1">
              <a:off x="1094313" y="5908121"/>
              <a:ext cx="129544" cy="129544"/>
            </a:xfrm>
            <a:prstGeom prst="ellipse">
              <a:avLst/>
            </a:prstGeom>
            <a:solidFill>
              <a:srgbClr val="4A90C4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C85955A-161A-83D6-EB41-6DDB6A49F162}"/>
                </a:ext>
              </a:extLst>
            </p:cNvPr>
            <p:cNvSpPr/>
            <p:nvPr/>
          </p:nvSpPr>
          <p:spPr>
            <a:xfrm flipH="1">
              <a:off x="3152061" y="6653796"/>
              <a:ext cx="129544" cy="129544"/>
            </a:xfrm>
            <a:prstGeom prst="ellipse">
              <a:avLst/>
            </a:prstGeom>
            <a:solidFill>
              <a:srgbClr val="4A90C4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502B782-C166-EACC-C4C1-E8F9E6289ACD}"/>
                </a:ext>
              </a:extLst>
            </p:cNvPr>
            <p:cNvSpPr/>
            <p:nvPr/>
          </p:nvSpPr>
          <p:spPr>
            <a:xfrm>
              <a:off x="2065338" y="5490242"/>
              <a:ext cx="1111250" cy="157504"/>
            </a:xfrm>
            <a:prstGeom prst="rect">
              <a:avLst/>
            </a:prstGeom>
            <a:solidFill>
              <a:srgbClr val="7E7E7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658C240-266D-7DCB-7EFB-5BFCF9E79694}"/>
                </a:ext>
              </a:extLst>
            </p:cNvPr>
            <p:cNvSpPr/>
            <p:nvPr/>
          </p:nvSpPr>
          <p:spPr>
            <a:xfrm flipH="1">
              <a:off x="6942311" y="3339141"/>
              <a:ext cx="129544" cy="129544"/>
            </a:xfrm>
            <a:prstGeom prst="ellipse">
              <a:avLst/>
            </a:prstGeom>
            <a:solidFill>
              <a:srgbClr val="4A8C3F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E6A51A1-AAFF-A4CF-E1C3-7AFD5AE37170}"/>
                </a:ext>
              </a:extLst>
            </p:cNvPr>
            <p:cNvSpPr/>
            <p:nvPr/>
          </p:nvSpPr>
          <p:spPr>
            <a:xfrm flipH="1">
              <a:off x="5397847" y="2485671"/>
              <a:ext cx="129544" cy="129544"/>
            </a:xfrm>
            <a:prstGeom prst="ellipse">
              <a:avLst/>
            </a:prstGeom>
            <a:solidFill>
              <a:srgbClr val="4A8C3F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57FD9F0-50EB-506E-2DD9-B4B2EEA32DF5}"/>
                </a:ext>
              </a:extLst>
            </p:cNvPr>
            <p:cNvSpPr/>
            <p:nvPr/>
          </p:nvSpPr>
          <p:spPr>
            <a:xfrm flipH="1">
              <a:off x="3976270" y="1826194"/>
              <a:ext cx="129544" cy="129544"/>
            </a:xfrm>
            <a:prstGeom prst="ellipse">
              <a:avLst/>
            </a:prstGeom>
            <a:solidFill>
              <a:srgbClr val="4A8C3F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215FCC04-6C8E-883D-B09F-E415322987FB}"/>
                </a:ext>
              </a:extLst>
            </p:cNvPr>
            <p:cNvSpPr/>
            <p:nvPr/>
          </p:nvSpPr>
          <p:spPr>
            <a:xfrm flipH="1">
              <a:off x="2491419" y="1195454"/>
              <a:ext cx="129544" cy="129544"/>
            </a:xfrm>
            <a:prstGeom prst="ellipse">
              <a:avLst/>
            </a:prstGeom>
            <a:solidFill>
              <a:srgbClr val="4A8C3F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Arrow: Right 44">
              <a:extLst>
                <a:ext uri="{FF2B5EF4-FFF2-40B4-BE49-F238E27FC236}">
                  <a16:creationId xmlns:a16="http://schemas.microsoft.com/office/drawing/2014/main" id="{2E9E5192-6FB4-742B-48C4-46DB485C4C58}"/>
                </a:ext>
              </a:extLst>
            </p:cNvPr>
            <p:cNvSpPr/>
            <p:nvPr/>
          </p:nvSpPr>
          <p:spPr>
            <a:xfrm rot="5400000">
              <a:off x="-1463246" y="2974924"/>
              <a:ext cx="4369227" cy="67237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Depth from Surface</a:t>
              </a:r>
            </a:p>
          </p:txBody>
        </p:sp>
        <p:sp>
          <p:nvSpPr>
            <p:cNvPr id="46" name="Arrow: Right 45">
              <a:extLst>
                <a:ext uri="{FF2B5EF4-FFF2-40B4-BE49-F238E27FC236}">
                  <a16:creationId xmlns:a16="http://schemas.microsoft.com/office/drawing/2014/main" id="{257B28BE-3CAB-09E5-0FCA-425063B32B37}"/>
                </a:ext>
              </a:extLst>
            </p:cNvPr>
            <p:cNvSpPr/>
            <p:nvPr/>
          </p:nvSpPr>
          <p:spPr>
            <a:xfrm flipH="1">
              <a:off x="4704818" y="6137385"/>
              <a:ext cx="4369227" cy="67237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Distance from Cave Entrance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5EE93F9-C9D0-B3FE-9958-38C3540CDA38}"/>
                </a:ext>
              </a:extLst>
            </p:cNvPr>
            <p:cNvGrpSpPr/>
            <p:nvPr/>
          </p:nvGrpSpPr>
          <p:grpSpPr>
            <a:xfrm>
              <a:off x="4715705" y="1741480"/>
              <a:ext cx="446883" cy="615396"/>
              <a:chOff x="7507052" y="1870275"/>
              <a:chExt cx="894756" cy="816912"/>
            </a:xfrm>
          </p:grpSpPr>
          <p:sp>
            <p:nvSpPr>
              <p:cNvPr id="47" name="Isosceles Triangle 46">
                <a:extLst>
                  <a:ext uri="{FF2B5EF4-FFF2-40B4-BE49-F238E27FC236}">
                    <a16:creationId xmlns:a16="http://schemas.microsoft.com/office/drawing/2014/main" id="{D2993542-E602-8697-17FC-8938D0D1E0DA}"/>
                  </a:ext>
                </a:extLst>
              </p:cNvPr>
              <p:cNvSpPr/>
              <p:nvPr/>
            </p:nvSpPr>
            <p:spPr>
              <a:xfrm>
                <a:off x="7507052" y="2021744"/>
                <a:ext cx="894756" cy="522568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Isosceles Triangle 47">
                <a:extLst>
                  <a:ext uri="{FF2B5EF4-FFF2-40B4-BE49-F238E27FC236}">
                    <a16:creationId xmlns:a16="http://schemas.microsoft.com/office/drawing/2014/main" id="{BE793017-7A38-8911-E0FB-6299E8B679F0}"/>
                  </a:ext>
                </a:extLst>
              </p:cNvPr>
              <p:cNvSpPr/>
              <p:nvPr/>
            </p:nvSpPr>
            <p:spPr>
              <a:xfrm>
                <a:off x="7574924" y="1920170"/>
                <a:ext cx="738518" cy="467584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Isosceles Triangle 48">
                <a:extLst>
                  <a:ext uri="{FF2B5EF4-FFF2-40B4-BE49-F238E27FC236}">
                    <a16:creationId xmlns:a16="http://schemas.microsoft.com/office/drawing/2014/main" id="{2D0E4CAE-2123-DC8E-D18B-3311168446A2}"/>
                  </a:ext>
                </a:extLst>
              </p:cNvPr>
              <p:cNvSpPr/>
              <p:nvPr/>
            </p:nvSpPr>
            <p:spPr>
              <a:xfrm>
                <a:off x="7677067" y="1870275"/>
                <a:ext cx="534232" cy="332502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0E8A9F05-A743-D0CC-DCA1-9531596BAA4C}"/>
                  </a:ext>
                </a:extLst>
              </p:cNvPr>
              <p:cNvSpPr/>
              <p:nvPr/>
            </p:nvSpPr>
            <p:spPr>
              <a:xfrm>
                <a:off x="7896225" y="2544312"/>
                <a:ext cx="117475" cy="142875"/>
              </a:xfrm>
              <a:prstGeom prst="rect">
                <a:avLst/>
              </a:prstGeom>
              <a:solidFill>
                <a:srgbClr val="86523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90EBD39-F102-825B-86CC-F33F4324F5DA}"/>
                </a:ext>
              </a:extLst>
            </p:cNvPr>
            <p:cNvGrpSpPr/>
            <p:nvPr/>
          </p:nvGrpSpPr>
          <p:grpSpPr>
            <a:xfrm>
              <a:off x="6096000" y="2533841"/>
              <a:ext cx="446883" cy="615396"/>
              <a:chOff x="7507052" y="1870275"/>
              <a:chExt cx="894756" cy="816912"/>
            </a:xfrm>
          </p:grpSpPr>
          <p:sp>
            <p:nvSpPr>
              <p:cNvPr id="53" name="Isosceles Triangle 52">
                <a:extLst>
                  <a:ext uri="{FF2B5EF4-FFF2-40B4-BE49-F238E27FC236}">
                    <a16:creationId xmlns:a16="http://schemas.microsoft.com/office/drawing/2014/main" id="{A08E98D2-5CE8-27E7-8E96-561F98E1218F}"/>
                  </a:ext>
                </a:extLst>
              </p:cNvPr>
              <p:cNvSpPr/>
              <p:nvPr/>
            </p:nvSpPr>
            <p:spPr>
              <a:xfrm>
                <a:off x="7507052" y="2021744"/>
                <a:ext cx="894756" cy="522568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Isosceles Triangle 53">
                <a:extLst>
                  <a:ext uri="{FF2B5EF4-FFF2-40B4-BE49-F238E27FC236}">
                    <a16:creationId xmlns:a16="http://schemas.microsoft.com/office/drawing/2014/main" id="{3D1EC36B-BED0-9F15-A7FA-3E4712AAAFF8}"/>
                  </a:ext>
                </a:extLst>
              </p:cNvPr>
              <p:cNvSpPr/>
              <p:nvPr/>
            </p:nvSpPr>
            <p:spPr>
              <a:xfrm>
                <a:off x="7574924" y="1920170"/>
                <a:ext cx="738518" cy="467584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Isosceles Triangle 54">
                <a:extLst>
                  <a:ext uri="{FF2B5EF4-FFF2-40B4-BE49-F238E27FC236}">
                    <a16:creationId xmlns:a16="http://schemas.microsoft.com/office/drawing/2014/main" id="{1AEB14CB-33DF-D10B-BA5D-4FE5A20990ED}"/>
                  </a:ext>
                </a:extLst>
              </p:cNvPr>
              <p:cNvSpPr/>
              <p:nvPr/>
            </p:nvSpPr>
            <p:spPr>
              <a:xfrm>
                <a:off x="7677067" y="1870275"/>
                <a:ext cx="534232" cy="332502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6AD08E54-56FB-BA2A-8516-969FC6E693F2}"/>
                  </a:ext>
                </a:extLst>
              </p:cNvPr>
              <p:cNvSpPr/>
              <p:nvPr/>
            </p:nvSpPr>
            <p:spPr>
              <a:xfrm>
                <a:off x="7896225" y="2544312"/>
                <a:ext cx="117475" cy="142875"/>
              </a:xfrm>
              <a:prstGeom prst="rect">
                <a:avLst/>
              </a:prstGeom>
              <a:solidFill>
                <a:srgbClr val="86523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92689E6-6C69-B311-65F7-D4FA26FF3479}"/>
                </a:ext>
              </a:extLst>
            </p:cNvPr>
            <p:cNvGrpSpPr/>
            <p:nvPr/>
          </p:nvGrpSpPr>
          <p:grpSpPr>
            <a:xfrm>
              <a:off x="3129895" y="1157762"/>
              <a:ext cx="446883" cy="615396"/>
              <a:chOff x="7507052" y="1870275"/>
              <a:chExt cx="894756" cy="816912"/>
            </a:xfrm>
          </p:grpSpPr>
          <p:sp>
            <p:nvSpPr>
              <p:cNvPr id="58" name="Isosceles Triangle 57">
                <a:extLst>
                  <a:ext uri="{FF2B5EF4-FFF2-40B4-BE49-F238E27FC236}">
                    <a16:creationId xmlns:a16="http://schemas.microsoft.com/office/drawing/2014/main" id="{1975EB28-BD23-17FF-FBB0-395C10D458D0}"/>
                  </a:ext>
                </a:extLst>
              </p:cNvPr>
              <p:cNvSpPr/>
              <p:nvPr/>
            </p:nvSpPr>
            <p:spPr>
              <a:xfrm>
                <a:off x="7507052" y="2021744"/>
                <a:ext cx="894756" cy="522568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Isosceles Triangle 58">
                <a:extLst>
                  <a:ext uri="{FF2B5EF4-FFF2-40B4-BE49-F238E27FC236}">
                    <a16:creationId xmlns:a16="http://schemas.microsoft.com/office/drawing/2014/main" id="{53E17DF6-E0B1-F799-1AE5-DFBFDB85C78D}"/>
                  </a:ext>
                </a:extLst>
              </p:cNvPr>
              <p:cNvSpPr/>
              <p:nvPr/>
            </p:nvSpPr>
            <p:spPr>
              <a:xfrm>
                <a:off x="7574924" y="1920170"/>
                <a:ext cx="738518" cy="467584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Isosceles Triangle 59">
                <a:extLst>
                  <a:ext uri="{FF2B5EF4-FFF2-40B4-BE49-F238E27FC236}">
                    <a16:creationId xmlns:a16="http://schemas.microsoft.com/office/drawing/2014/main" id="{DE09FE44-5576-A426-7B85-B1FE6DE02A21}"/>
                  </a:ext>
                </a:extLst>
              </p:cNvPr>
              <p:cNvSpPr/>
              <p:nvPr/>
            </p:nvSpPr>
            <p:spPr>
              <a:xfrm>
                <a:off x="7677067" y="1870275"/>
                <a:ext cx="534232" cy="332502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4FDC664B-249C-D8D3-E380-7FE7AAC4181F}"/>
                  </a:ext>
                </a:extLst>
              </p:cNvPr>
              <p:cNvSpPr/>
              <p:nvPr/>
            </p:nvSpPr>
            <p:spPr>
              <a:xfrm>
                <a:off x="7896225" y="2544312"/>
                <a:ext cx="117475" cy="142875"/>
              </a:xfrm>
              <a:prstGeom prst="rect">
                <a:avLst/>
              </a:prstGeom>
              <a:solidFill>
                <a:srgbClr val="86523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0F3C678-4B3E-8859-3DAC-8A388DEACD04}"/>
                </a:ext>
              </a:extLst>
            </p:cNvPr>
            <p:cNvGrpSpPr/>
            <p:nvPr/>
          </p:nvGrpSpPr>
          <p:grpSpPr>
            <a:xfrm>
              <a:off x="1223857" y="200649"/>
              <a:ext cx="446883" cy="615396"/>
              <a:chOff x="7507052" y="1870275"/>
              <a:chExt cx="894756" cy="816912"/>
            </a:xfrm>
          </p:grpSpPr>
          <p:sp>
            <p:nvSpPr>
              <p:cNvPr id="63" name="Isosceles Triangle 62">
                <a:extLst>
                  <a:ext uri="{FF2B5EF4-FFF2-40B4-BE49-F238E27FC236}">
                    <a16:creationId xmlns:a16="http://schemas.microsoft.com/office/drawing/2014/main" id="{B6727138-614B-BED6-C40F-561E914C21AE}"/>
                  </a:ext>
                </a:extLst>
              </p:cNvPr>
              <p:cNvSpPr/>
              <p:nvPr/>
            </p:nvSpPr>
            <p:spPr>
              <a:xfrm>
                <a:off x="7507052" y="2021744"/>
                <a:ext cx="894756" cy="522568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Isosceles Triangle 63">
                <a:extLst>
                  <a:ext uri="{FF2B5EF4-FFF2-40B4-BE49-F238E27FC236}">
                    <a16:creationId xmlns:a16="http://schemas.microsoft.com/office/drawing/2014/main" id="{3813B4FA-D25E-EE6D-B667-D8D060F786BD}"/>
                  </a:ext>
                </a:extLst>
              </p:cNvPr>
              <p:cNvSpPr/>
              <p:nvPr/>
            </p:nvSpPr>
            <p:spPr>
              <a:xfrm>
                <a:off x="7574924" y="1920170"/>
                <a:ext cx="738518" cy="467584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Isosceles Triangle 64">
                <a:extLst>
                  <a:ext uri="{FF2B5EF4-FFF2-40B4-BE49-F238E27FC236}">
                    <a16:creationId xmlns:a16="http://schemas.microsoft.com/office/drawing/2014/main" id="{3B44330B-FA98-EE71-63E2-9FA3255EF89C}"/>
                  </a:ext>
                </a:extLst>
              </p:cNvPr>
              <p:cNvSpPr/>
              <p:nvPr/>
            </p:nvSpPr>
            <p:spPr>
              <a:xfrm>
                <a:off x="7677067" y="1870275"/>
                <a:ext cx="534232" cy="332502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4A37A524-EAB4-CEEC-7E29-4083D08A3570}"/>
                  </a:ext>
                </a:extLst>
              </p:cNvPr>
              <p:cNvSpPr/>
              <p:nvPr/>
            </p:nvSpPr>
            <p:spPr>
              <a:xfrm>
                <a:off x="7896225" y="2544312"/>
                <a:ext cx="117475" cy="142875"/>
              </a:xfrm>
              <a:prstGeom prst="rect">
                <a:avLst/>
              </a:prstGeom>
              <a:solidFill>
                <a:srgbClr val="86523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DDB97DE-8C31-2EB5-E6A5-DACF2D6B7B0D}"/>
                </a:ext>
              </a:extLst>
            </p:cNvPr>
            <p:cNvGrpSpPr/>
            <p:nvPr/>
          </p:nvGrpSpPr>
          <p:grpSpPr>
            <a:xfrm>
              <a:off x="9443185" y="4117627"/>
              <a:ext cx="446883" cy="615396"/>
              <a:chOff x="7507052" y="1870275"/>
              <a:chExt cx="894756" cy="816912"/>
            </a:xfrm>
          </p:grpSpPr>
          <p:sp>
            <p:nvSpPr>
              <p:cNvPr id="68" name="Isosceles Triangle 67">
                <a:extLst>
                  <a:ext uri="{FF2B5EF4-FFF2-40B4-BE49-F238E27FC236}">
                    <a16:creationId xmlns:a16="http://schemas.microsoft.com/office/drawing/2014/main" id="{8432EDFC-B00B-BBA4-358D-ACC46985EB1F}"/>
                  </a:ext>
                </a:extLst>
              </p:cNvPr>
              <p:cNvSpPr/>
              <p:nvPr/>
            </p:nvSpPr>
            <p:spPr>
              <a:xfrm>
                <a:off x="7507052" y="2021744"/>
                <a:ext cx="894756" cy="522568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Isosceles Triangle 68">
                <a:extLst>
                  <a:ext uri="{FF2B5EF4-FFF2-40B4-BE49-F238E27FC236}">
                    <a16:creationId xmlns:a16="http://schemas.microsoft.com/office/drawing/2014/main" id="{07032795-6599-C7BF-BBA8-90AA8D257345}"/>
                  </a:ext>
                </a:extLst>
              </p:cNvPr>
              <p:cNvSpPr/>
              <p:nvPr/>
            </p:nvSpPr>
            <p:spPr>
              <a:xfrm>
                <a:off x="7574924" y="1920170"/>
                <a:ext cx="738518" cy="467584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Isosceles Triangle 69">
                <a:extLst>
                  <a:ext uri="{FF2B5EF4-FFF2-40B4-BE49-F238E27FC236}">
                    <a16:creationId xmlns:a16="http://schemas.microsoft.com/office/drawing/2014/main" id="{48563F2D-7D0A-4E29-8B1B-15FC26543596}"/>
                  </a:ext>
                </a:extLst>
              </p:cNvPr>
              <p:cNvSpPr/>
              <p:nvPr/>
            </p:nvSpPr>
            <p:spPr>
              <a:xfrm>
                <a:off x="7677067" y="1870275"/>
                <a:ext cx="534232" cy="332502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D417742D-B7EC-C2D4-F978-9CA765FC2F5A}"/>
                  </a:ext>
                </a:extLst>
              </p:cNvPr>
              <p:cNvSpPr/>
              <p:nvPr/>
            </p:nvSpPr>
            <p:spPr>
              <a:xfrm>
                <a:off x="7896225" y="2544312"/>
                <a:ext cx="117475" cy="142875"/>
              </a:xfrm>
              <a:prstGeom prst="rect">
                <a:avLst/>
              </a:prstGeom>
              <a:solidFill>
                <a:srgbClr val="86523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7487E129-6C58-DDA7-399C-C0D041DCE23B}"/>
                </a:ext>
              </a:extLst>
            </p:cNvPr>
            <p:cNvGrpSpPr/>
            <p:nvPr/>
          </p:nvGrpSpPr>
          <p:grpSpPr>
            <a:xfrm>
              <a:off x="11451877" y="5429517"/>
              <a:ext cx="446883" cy="615396"/>
              <a:chOff x="7507052" y="1870275"/>
              <a:chExt cx="894756" cy="816912"/>
            </a:xfrm>
          </p:grpSpPr>
          <p:sp>
            <p:nvSpPr>
              <p:cNvPr id="73" name="Isosceles Triangle 72">
                <a:extLst>
                  <a:ext uri="{FF2B5EF4-FFF2-40B4-BE49-F238E27FC236}">
                    <a16:creationId xmlns:a16="http://schemas.microsoft.com/office/drawing/2014/main" id="{811F316C-6241-00B8-B66D-D4DC072AD669}"/>
                  </a:ext>
                </a:extLst>
              </p:cNvPr>
              <p:cNvSpPr/>
              <p:nvPr/>
            </p:nvSpPr>
            <p:spPr>
              <a:xfrm>
                <a:off x="7507052" y="2021744"/>
                <a:ext cx="894756" cy="522568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Isosceles Triangle 73">
                <a:extLst>
                  <a:ext uri="{FF2B5EF4-FFF2-40B4-BE49-F238E27FC236}">
                    <a16:creationId xmlns:a16="http://schemas.microsoft.com/office/drawing/2014/main" id="{E03FC60E-3AB3-47CF-82A6-B146F7C9E8DA}"/>
                  </a:ext>
                </a:extLst>
              </p:cNvPr>
              <p:cNvSpPr/>
              <p:nvPr/>
            </p:nvSpPr>
            <p:spPr>
              <a:xfrm>
                <a:off x="7574924" y="1920170"/>
                <a:ext cx="738518" cy="467584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Isosceles Triangle 74">
                <a:extLst>
                  <a:ext uri="{FF2B5EF4-FFF2-40B4-BE49-F238E27FC236}">
                    <a16:creationId xmlns:a16="http://schemas.microsoft.com/office/drawing/2014/main" id="{F9603227-2677-E268-5D41-C54BC9644CBC}"/>
                  </a:ext>
                </a:extLst>
              </p:cNvPr>
              <p:cNvSpPr/>
              <p:nvPr/>
            </p:nvSpPr>
            <p:spPr>
              <a:xfrm>
                <a:off x="7677067" y="1870275"/>
                <a:ext cx="534232" cy="332502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C702921C-33F3-17CD-6CFC-D4E6A27FCB5B}"/>
                  </a:ext>
                </a:extLst>
              </p:cNvPr>
              <p:cNvSpPr/>
              <p:nvPr/>
            </p:nvSpPr>
            <p:spPr>
              <a:xfrm>
                <a:off x="7896225" y="2544312"/>
                <a:ext cx="117475" cy="142875"/>
              </a:xfrm>
              <a:prstGeom prst="rect">
                <a:avLst/>
              </a:prstGeom>
              <a:solidFill>
                <a:srgbClr val="86523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D757AA9B-C739-9FFC-61BC-7E85F467E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850" t="60713" r="-1023" b="31581"/>
            <a:stretch>
              <a:fillRect/>
            </a:stretch>
          </p:blipFill>
          <p:spPr>
            <a:xfrm rot="10800000" flipH="1" flipV="1">
              <a:off x="8950686" y="5873657"/>
              <a:ext cx="4363832" cy="1012043"/>
            </a:xfrm>
            <a:prstGeom prst="rect">
              <a:avLst/>
            </a:prstGeom>
          </p:spPr>
        </p:pic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850B5AE2-E79E-AF7D-60F6-6120A7EEA1D6}"/>
                </a:ext>
              </a:extLst>
            </p:cNvPr>
            <p:cNvGrpSpPr/>
            <p:nvPr/>
          </p:nvGrpSpPr>
          <p:grpSpPr>
            <a:xfrm>
              <a:off x="9054437" y="1443497"/>
              <a:ext cx="2204918" cy="1952635"/>
              <a:chOff x="9054437" y="1443497"/>
              <a:chExt cx="2204918" cy="1952635"/>
            </a:xfrm>
          </p:grpSpPr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885CB0B0-1859-FDEF-7611-DAFBABA5D6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5981" t="42664" r="7189" b="40327"/>
              <a:stretch>
                <a:fillRect/>
              </a:stretch>
            </p:blipFill>
            <p:spPr>
              <a:xfrm rot="10800000" flipH="1" flipV="1">
                <a:off x="9054437" y="1443497"/>
                <a:ext cx="2204918" cy="1952635"/>
              </a:xfrm>
              <a:prstGeom prst="rect">
                <a:avLst/>
              </a:prstGeom>
            </p:spPr>
          </p:pic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0A3AA94A-5539-5F49-E9A9-2DCC7BBECAE5}"/>
                  </a:ext>
                </a:extLst>
              </p:cNvPr>
              <p:cNvSpPr/>
              <p:nvPr/>
            </p:nvSpPr>
            <p:spPr>
              <a:xfrm flipH="1">
                <a:off x="9309956" y="2356876"/>
                <a:ext cx="129544" cy="129544"/>
              </a:xfrm>
              <a:prstGeom prst="ellipse">
                <a:avLst/>
              </a:prstGeom>
              <a:solidFill>
                <a:srgbClr val="3B1F6B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6A1A5668-33FB-C644-E894-6BA8182A68C0}"/>
                  </a:ext>
                </a:extLst>
              </p:cNvPr>
              <p:cNvSpPr/>
              <p:nvPr/>
            </p:nvSpPr>
            <p:spPr>
              <a:xfrm flipH="1">
                <a:off x="9309956" y="2031715"/>
                <a:ext cx="129544" cy="129544"/>
              </a:xfrm>
              <a:prstGeom prst="ellipse">
                <a:avLst/>
              </a:prstGeom>
              <a:solidFill>
                <a:srgbClr val="4A8C3F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B16A02BC-4B03-125F-78E2-41071CB9A5F1}"/>
                  </a:ext>
                </a:extLst>
              </p:cNvPr>
              <p:cNvSpPr/>
              <p:nvPr/>
            </p:nvSpPr>
            <p:spPr>
              <a:xfrm flipH="1">
                <a:off x="9308198" y="2730822"/>
                <a:ext cx="129544" cy="129544"/>
              </a:xfrm>
              <a:prstGeom prst="ellipse">
                <a:avLst/>
              </a:prstGeom>
              <a:solidFill>
                <a:srgbClr val="4A90C4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381195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87A558-4B1D-9401-564A-81CD3BD38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60" y="882284"/>
            <a:ext cx="4095245" cy="1638377"/>
          </a:xfrm>
        </p:spPr>
        <p:txBody>
          <a:bodyPr anchor="b">
            <a:normAutofit/>
          </a:bodyPr>
          <a:lstStyle/>
          <a:p>
            <a:r>
              <a:rPr lang="en-US" sz="3600" dirty="0"/>
              <a:t>Functional Differences Between Environments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DAE2C6-FB57-AF3D-DFD5-67A227000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2" y="2703080"/>
            <a:ext cx="2977598" cy="3473883"/>
          </a:xfrm>
        </p:spPr>
        <p:txBody>
          <a:bodyPr anchor="ctr">
            <a:normAutofit lnSpcReduction="10000"/>
          </a:bodyPr>
          <a:lstStyle/>
          <a:p>
            <a:r>
              <a:rPr lang="en-US" sz="2000" dirty="0"/>
              <a:t>Surface dominated by chemoheterotrophy, denitrification, Ureolysis</a:t>
            </a:r>
          </a:p>
          <a:p>
            <a:r>
              <a:rPr lang="en-US" sz="2000" dirty="0"/>
              <a:t>Cave switches to ammonia oxidation and nitrification</a:t>
            </a:r>
          </a:p>
          <a:p>
            <a:r>
              <a:rPr lang="en-US" sz="2000" dirty="0"/>
              <a:t>Cave water dominated by fermentation and sulfate respiration</a:t>
            </a:r>
          </a:p>
          <a:p>
            <a:r>
              <a:rPr lang="en-US" sz="2000" dirty="0"/>
              <a:t>Taxonomy and function tell same story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5C6A86-CAE6-7965-55D0-DC948FE10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8" t="15346" r="4560" b="17987"/>
          <a:stretch>
            <a:fillRect/>
          </a:stretch>
        </p:blipFill>
        <p:spPr>
          <a:xfrm>
            <a:off x="3631721" y="2154020"/>
            <a:ext cx="8393502" cy="45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992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2977</TotalTime>
  <Words>649</Words>
  <Application>Microsoft Office PowerPoint</Application>
  <PresentationFormat>Widescreen</PresentationFormat>
  <Paragraphs>150</Paragraphs>
  <Slides>22</Slides>
  <Notes>5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Verdana</vt:lpstr>
      <vt:lpstr>Office Theme</vt:lpstr>
      <vt:lpstr>Cave Microbial Ecology: A Study of Moonshiner Cave, Kentucky</vt:lpstr>
      <vt:lpstr>Caves and Karst</vt:lpstr>
      <vt:lpstr>Caves vs. Surface </vt:lpstr>
      <vt:lpstr>Ecology </vt:lpstr>
      <vt:lpstr>Cave as Microbial Sinks</vt:lpstr>
      <vt:lpstr>Moonshiner Cave</vt:lpstr>
      <vt:lpstr>Methods</vt:lpstr>
      <vt:lpstr>Cave Communities are Distinct </vt:lpstr>
      <vt:lpstr>Distinct Cave Communities</vt:lpstr>
      <vt:lpstr>Distance From Cave Entrance</vt:lpstr>
      <vt:lpstr>Tracing Cave Communities Sources</vt:lpstr>
      <vt:lpstr>Microbial Source: Cave Groundwater</vt:lpstr>
      <vt:lpstr>Predicted Microbial Function</vt:lpstr>
      <vt:lpstr>Predicted Function within the Cave</vt:lpstr>
      <vt:lpstr>Enzyme Data</vt:lpstr>
      <vt:lpstr>Summing It Up</vt:lpstr>
      <vt:lpstr>Acknowledgments </vt:lpstr>
      <vt:lpstr>PowerPoint Presentation</vt:lpstr>
      <vt:lpstr>PowerPoint Presentation</vt:lpstr>
      <vt:lpstr>Moonshiner Cave</vt:lpstr>
      <vt:lpstr>PowerPoint Presentation</vt:lpstr>
      <vt:lpstr>Functional Differences Between Environments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Dilley, Diego</dc:creator>
  <cp:lastModifiedBy>Dilley, Diego</cp:lastModifiedBy>
  <cp:revision>16</cp:revision>
  <dcterms:created xsi:type="dcterms:W3CDTF">2026-04-08T00:28:21Z</dcterms:created>
  <dcterms:modified xsi:type="dcterms:W3CDTF">2026-04-17T15:18:32Z</dcterms:modified>
</cp:coreProperties>
</file>