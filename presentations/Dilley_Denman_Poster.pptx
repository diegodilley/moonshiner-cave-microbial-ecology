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43891200" cy="32918400"/>
  <p:notesSz cx="20104100" cy="15087600"/>
  <p:defaultTextStyle>
    <a:defPPr>
      <a:defRPr lang="en-US"/>
    </a:defPPr>
    <a:lvl1pPr marL="0" algn="l" defTabSz="997885" rtl="0" eaLnBrk="1" latinLnBrk="0" hangingPunct="1">
      <a:defRPr sz="3900" kern="1200">
        <a:solidFill>
          <a:schemeClr val="tx1"/>
        </a:solidFill>
        <a:latin typeface="+mn-lt"/>
        <a:ea typeface="+mn-ea"/>
        <a:cs typeface="+mn-cs"/>
      </a:defRPr>
    </a:lvl1pPr>
    <a:lvl2pPr marL="997885" algn="l" defTabSz="997885" rtl="0" eaLnBrk="1" latinLnBrk="0" hangingPunct="1">
      <a:defRPr sz="3900" kern="1200">
        <a:solidFill>
          <a:schemeClr val="tx1"/>
        </a:solidFill>
        <a:latin typeface="+mn-lt"/>
        <a:ea typeface="+mn-ea"/>
        <a:cs typeface="+mn-cs"/>
      </a:defRPr>
    </a:lvl2pPr>
    <a:lvl3pPr marL="1995769" algn="l" defTabSz="997885" rtl="0" eaLnBrk="1" latinLnBrk="0" hangingPunct="1">
      <a:defRPr sz="3900" kern="1200">
        <a:solidFill>
          <a:schemeClr val="tx1"/>
        </a:solidFill>
        <a:latin typeface="+mn-lt"/>
        <a:ea typeface="+mn-ea"/>
        <a:cs typeface="+mn-cs"/>
      </a:defRPr>
    </a:lvl3pPr>
    <a:lvl4pPr marL="2993654" algn="l" defTabSz="997885" rtl="0" eaLnBrk="1" latinLnBrk="0" hangingPunct="1">
      <a:defRPr sz="3900" kern="1200">
        <a:solidFill>
          <a:schemeClr val="tx1"/>
        </a:solidFill>
        <a:latin typeface="+mn-lt"/>
        <a:ea typeface="+mn-ea"/>
        <a:cs typeface="+mn-cs"/>
      </a:defRPr>
    </a:lvl4pPr>
    <a:lvl5pPr marL="3991539" algn="l" defTabSz="997885" rtl="0" eaLnBrk="1" latinLnBrk="0" hangingPunct="1">
      <a:defRPr sz="3900" kern="1200">
        <a:solidFill>
          <a:schemeClr val="tx1"/>
        </a:solidFill>
        <a:latin typeface="+mn-lt"/>
        <a:ea typeface="+mn-ea"/>
        <a:cs typeface="+mn-cs"/>
      </a:defRPr>
    </a:lvl5pPr>
    <a:lvl6pPr marL="4989424" algn="l" defTabSz="997885" rtl="0" eaLnBrk="1" latinLnBrk="0" hangingPunct="1">
      <a:defRPr sz="3900" kern="1200">
        <a:solidFill>
          <a:schemeClr val="tx1"/>
        </a:solidFill>
        <a:latin typeface="+mn-lt"/>
        <a:ea typeface="+mn-ea"/>
        <a:cs typeface="+mn-cs"/>
      </a:defRPr>
    </a:lvl6pPr>
    <a:lvl7pPr marL="5987308" algn="l" defTabSz="997885" rtl="0" eaLnBrk="1" latinLnBrk="0" hangingPunct="1">
      <a:defRPr sz="3900" kern="1200">
        <a:solidFill>
          <a:schemeClr val="tx1"/>
        </a:solidFill>
        <a:latin typeface="+mn-lt"/>
        <a:ea typeface="+mn-ea"/>
        <a:cs typeface="+mn-cs"/>
      </a:defRPr>
    </a:lvl7pPr>
    <a:lvl8pPr marL="6985193" algn="l" defTabSz="997885" rtl="0" eaLnBrk="1" latinLnBrk="0" hangingPunct="1">
      <a:defRPr sz="3900" kern="1200">
        <a:solidFill>
          <a:schemeClr val="tx1"/>
        </a:solidFill>
        <a:latin typeface="+mn-lt"/>
        <a:ea typeface="+mn-ea"/>
        <a:cs typeface="+mn-cs"/>
      </a:defRPr>
    </a:lvl8pPr>
    <a:lvl9pPr marL="7983078" algn="l" defTabSz="997885" rtl="0" eaLnBrk="1" latinLnBrk="0" hangingPunct="1">
      <a:defRPr sz="3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734">
          <p15:clr>
            <a:srgbClr val="A4A3A4"/>
          </p15:clr>
        </p15:guide>
        <p15:guide id="2" pos="2764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3F5E"/>
    <a:srgbClr val="2E5F8A"/>
    <a:srgbClr val="BB003E"/>
    <a:srgbClr val="BD003A"/>
    <a:srgbClr val="4C566C"/>
    <a:srgbClr val="414042"/>
    <a:srgbClr val="B80012"/>
    <a:srgbClr val="666666"/>
    <a:srgbClr val="777877"/>
    <a:srgbClr val="BB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88" autoAdjust="0"/>
    <p:restoredTop sz="99492" autoAdjust="0"/>
  </p:normalViewPr>
  <p:slideViewPr>
    <p:cSldViewPr>
      <p:cViewPr>
        <p:scale>
          <a:sx n="25" d="100"/>
          <a:sy n="25" d="100"/>
        </p:scale>
        <p:origin x="480" y="12"/>
      </p:cViewPr>
      <p:guideLst>
        <p:guide orient="horz" pos="20734"/>
        <p:guide pos="2764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291839" y="10204704"/>
            <a:ext cx="37307522" cy="10233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583680" y="18434304"/>
            <a:ext cx="3072384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572471" y="2467087"/>
            <a:ext cx="40746253" cy="2231380"/>
          </a:xfrm>
        </p:spPr>
        <p:txBody>
          <a:bodyPr lIns="0" tIns="0" rIns="0" bIns="0"/>
          <a:lstStyle>
            <a:lvl1pPr>
              <a:defRPr sz="14500" b="1">
                <a:solidFill>
                  <a:srgbClr val="41404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572471" y="2467087"/>
            <a:ext cx="40746253" cy="2231380"/>
          </a:xfrm>
        </p:spPr>
        <p:txBody>
          <a:bodyPr lIns="0" tIns="0" rIns="0" bIns="0"/>
          <a:lstStyle>
            <a:lvl1pPr>
              <a:defRPr sz="14500" b="1">
                <a:solidFill>
                  <a:srgbClr val="414042"/>
                </a:solidFill>
                <a:latin typeface="Arial"/>
                <a:cs typeface="Arial"/>
              </a:defRPr>
            </a:lvl1pPr>
          </a:lstStyle>
          <a:p>
            <a:endParaRPr/>
          </a:p>
        </p:txBody>
      </p:sp>
      <p:sp>
        <p:nvSpPr>
          <p:cNvPr id="3" name="Holder 3"/>
          <p:cNvSpPr>
            <a:spLocks noGrp="1"/>
          </p:cNvSpPr>
          <p:nvPr>
            <p:ph sz="half" idx="2"/>
          </p:nvPr>
        </p:nvSpPr>
        <p:spPr>
          <a:xfrm>
            <a:off x="2194560" y="7571232"/>
            <a:ext cx="19092673"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2603967" y="7571232"/>
            <a:ext cx="19092673"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572471" y="2467087"/>
            <a:ext cx="40746253" cy="2231380"/>
          </a:xfrm>
        </p:spPr>
        <p:txBody>
          <a:bodyPr lIns="0" tIns="0" rIns="0" bIns="0"/>
          <a:lstStyle>
            <a:lvl1pPr>
              <a:defRPr sz="14500" b="1">
                <a:solidFill>
                  <a:srgbClr val="41404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572471" y="2467087"/>
            <a:ext cx="40746253" cy="1023357"/>
          </a:xfrm>
          <a:prstGeom prst="rect">
            <a:avLst/>
          </a:prstGeom>
        </p:spPr>
        <p:txBody>
          <a:bodyPr wrap="square" lIns="0" tIns="0" rIns="0" bIns="0">
            <a:spAutoFit/>
          </a:bodyPr>
          <a:lstStyle>
            <a:lvl1pPr>
              <a:defRPr sz="6650" b="1">
                <a:solidFill>
                  <a:srgbClr val="414042"/>
                </a:solidFill>
                <a:latin typeface="Arial"/>
                <a:cs typeface="Arial"/>
              </a:defRPr>
            </a:lvl1pPr>
          </a:lstStyle>
          <a:p>
            <a:endParaRPr/>
          </a:p>
        </p:txBody>
      </p:sp>
      <p:sp>
        <p:nvSpPr>
          <p:cNvPr id="3" name="Holder 3"/>
          <p:cNvSpPr>
            <a:spLocks noGrp="1"/>
          </p:cNvSpPr>
          <p:nvPr>
            <p:ph type="body" idx="1"/>
          </p:nvPr>
        </p:nvSpPr>
        <p:spPr>
          <a:xfrm>
            <a:off x="2194560" y="7571232"/>
            <a:ext cx="3950208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4923008" y="30614112"/>
            <a:ext cx="14045184" cy="600164"/>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194561" y="30614112"/>
            <a:ext cx="10094976" cy="600164"/>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3/9/2026</a:t>
            </a:fld>
            <a:endParaRPr lang="en-US"/>
          </a:p>
        </p:txBody>
      </p:sp>
      <p:sp>
        <p:nvSpPr>
          <p:cNvPr id="6" name="Holder 6"/>
          <p:cNvSpPr>
            <a:spLocks noGrp="1"/>
          </p:cNvSpPr>
          <p:nvPr>
            <p:ph type="sldNum" sz="quarter" idx="7"/>
          </p:nvPr>
        </p:nvSpPr>
        <p:spPr>
          <a:xfrm>
            <a:off x="31601667" y="30614112"/>
            <a:ext cx="10094976" cy="600164"/>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997885">
        <a:defRPr>
          <a:latin typeface="+mn-lt"/>
          <a:ea typeface="+mn-ea"/>
          <a:cs typeface="+mn-cs"/>
        </a:defRPr>
      </a:lvl2pPr>
      <a:lvl3pPr marL="1995769">
        <a:defRPr>
          <a:latin typeface="+mn-lt"/>
          <a:ea typeface="+mn-ea"/>
          <a:cs typeface="+mn-cs"/>
        </a:defRPr>
      </a:lvl3pPr>
      <a:lvl4pPr marL="2993654">
        <a:defRPr>
          <a:latin typeface="+mn-lt"/>
          <a:ea typeface="+mn-ea"/>
          <a:cs typeface="+mn-cs"/>
        </a:defRPr>
      </a:lvl4pPr>
      <a:lvl5pPr marL="3991539">
        <a:defRPr>
          <a:latin typeface="+mn-lt"/>
          <a:ea typeface="+mn-ea"/>
          <a:cs typeface="+mn-cs"/>
        </a:defRPr>
      </a:lvl5pPr>
      <a:lvl6pPr marL="4989424">
        <a:defRPr>
          <a:latin typeface="+mn-lt"/>
          <a:ea typeface="+mn-ea"/>
          <a:cs typeface="+mn-cs"/>
        </a:defRPr>
      </a:lvl6pPr>
      <a:lvl7pPr marL="5987308">
        <a:defRPr>
          <a:latin typeface="+mn-lt"/>
          <a:ea typeface="+mn-ea"/>
          <a:cs typeface="+mn-cs"/>
        </a:defRPr>
      </a:lvl7pPr>
      <a:lvl8pPr marL="6985193">
        <a:defRPr>
          <a:latin typeface="+mn-lt"/>
          <a:ea typeface="+mn-ea"/>
          <a:cs typeface="+mn-cs"/>
        </a:defRPr>
      </a:lvl8pPr>
      <a:lvl9pPr marL="7983078">
        <a:defRPr>
          <a:latin typeface="+mn-lt"/>
          <a:ea typeface="+mn-ea"/>
          <a:cs typeface="+mn-cs"/>
        </a:defRPr>
      </a:lvl9pPr>
    </p:bodyStyle>
    <p:otherStyle>
      <a:lvl1pPr marL="0">
        <a:defRPr>
          <a:latin typeface="+mn-lt"/>
          <a:ea typeface="+mn-ea"/>
          <a:cs typeface="+mn-cs"/>
        </a:defRPr>
      </a:lvl1pPr>
      <a:lvl2pPr marL="997885">
        <a:defRPr>
          <a:latin typeface="+mn-lt"/>
          <a:ea typeface="+mn-ea"/>
          <a:cs typeface="+mn-cs"/>
        </a:defRPr>
      </a:lvl2pPr>
      <a:lvl3pPr marL="1995769">
        <a:defRPr>
          <a:latin typeface="+mn-lt"/>
          <a:ea typeface="+mn-ea"/>
          <a:cs typeface="+mn-cs"/>
        </a:defRPr>
      </a:lvl3pPr>
      <a:lvl4pPr marL="2993654">
        <a:defRPr>
          <a:latin typeface="+mn-lt"/>
          <a:ea typeface="+mn-ea"/>
          <a:cs typeface="+mn-cs"/>
        </a:defRPr>
      </a:lvl4pPr>
      <a:lvl5pPr marL="3991539">
        <a:defRPr>
          <a:latin typeface="+mn-lt"/>
          <a:ea typeface="+mn-ea"/>
          <a:cs typeface="+mn-cs"/>
        </a:defRPr>
      </a:lvl5pPr>
      <a:lvl6pPr marL="4989424">
        <a:defRPr>
          <a:latin typeface="+mn-lt"/>
          <a:ea typeface="+mn-ea"/>
          <a:cs typeface="+mn-cs"/>
        </a:defRPr>
      </a:lvl6pPr>
      <a:lvl7pPr marL="5987308">
        <a:defRPr>
          <a:latin typeface="+mn-lt"/>
          <a:ea typeface="+mn-ea"/>
          <a:cs typeface="+mn-cs"/>
        </a:defRPr>
      </a:lvl7pPr>
      <a:lvl8pPr marL="6985193">
        <a:defRPr>
          <a:latin typeface="+mn-lt"/>
          <a:ea typeface="+mn-ea"/>
          <a:cs typeface="+mn-cs"/>
        </a:defRPr>
      </a:lvl8pPr>
      <a:lvl9pPr marL="7983078">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emf"/><Relationship Id="rId7" Type="http://schemas.openxmlformats.org/officeDocument/2006/relationships/image" Target="../media/image6.jp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5.jpg"/><Relationship Id="rId11" Type="http://schemas.openxmlformats.org/officeDocument/2006/relationships/image" Target="../media/image10.png"/><Relationship Id="rId5" Type="http://schemas.openxmlformats.org/officeDocument/2006/relationships/image" Target="../media/image4.jpg"/><Relationship Id="rId10" Type="http://schemas.openxmlformats.org/officeDocument/2006/relationships/image" Target="../media/image9.png"/><Relationship Id="rId4" Type="http://schemas.openxmlformats.org/officeDocument/2006/relationships/image" Target="../media/image3.jp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F0D27D2-2922-4B6E-D5AE-F7C51BFA10C4}"/>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00DCE35-E957-C12F-75EE-691306DE9D9F}"/>
              </a:ext>
            </a:extLst>
          </p:cNvPr>
          <p:cNvPicPr>
            <a:picLocks noChangeAspect="1"/>
          </p:cNvPicPr>
          <p:nvPr/>
        </p:nvPicPr>
        <p:blipFill>
          <a:blip r:embed="rId2">
            <a:extLst>
              <a:ext uri="{28A0092B-C50C-407E-A947-70E740481C1C}">
                <a14:useLocalDpi xmlns:a14="http://schemas.microsoft.com/office/drawing/2010/main" val="0"/>
              </a:ext>
            </a:extLst>
          </a:blip>
          <a:srcRect r="13262" b="14807"/>
          <a:stretch>
            <a:fillRect/>
          </a:stretch>
        </p:blipFill>
        <p:spPr>
          <a:xfrm>
            <a:off x="29212102" y="6063599"/>
            <a:ext cx="12503548" cy="6880731"/>
          </a:xfrm>
          <a:prstGeom prst="rect">
            <a:avLst/>
          </a:prstGeom>
        </p:spPr>
      </p:pic>
      <p:sp>
        <p:nvSpPr>
          <p:cNvPr id="107" name="Rectangle 106">
            <a:extLst>
              <a:ext uri="{FF2B5EF4-FFF2-40B4-BE49-F238E27FC236}">
                <a16:creationId xmlns:a16="http://schemas.microsoft.com/office/drawing/2014/main" id="{9AD4DF33-A9FB-AA96-1774-F43048CB17C5}"/>
              </a:ext>
            </a:extLst>
          </p:cNvPr>
          <p:cNvSpPr/>
          <p:nvPr/>
        </p:nvSpPr>
        <p:spPr>
          <a:xfrm>
            <a:off x="0" y="30592803"/>
            <a:ext cx="43891200" cy="2325597"/>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F60DD99C-19A4-669E-86B9-57C46E368836}"/>
              </a:ext>
            </a:extLst>
          </p:cNvPr>
          <p:cNvSpPr/>
          <p:nvPr/>
        </p:nvSpPr>
        <p:spPr>
          <a:xfrm>
            <a:off x="0" y="0"/>
            <a:ext cx="43891200" cy="3951713"/>
          </a:xfrm>
          <a:prstGeom prst="rect">
            <a:avLst/>
          </a:prstGeom>
          <a:solidFill>
            <a:schemeClr val="accent1"/>
          </a:solidFill>
          <a:ln>
            <a:solidFill>
              <a:srgbClr val="BB003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a:extLst>
              <a:ext uri="{FF2B5EF4-FFF2-40B4-BE49-F238E27FC236}">
                <a16:creationId xmlns:a16="http://schemas.microsoft.com/office/drawing/2014/main" id="{B5AEF75F-B0AD-5B2B-5C34-837B3BBA303E}"/>
              </a:ext>
            </a:extLst>
          </p:cNvPr>
          <p:cNvSpPr txBox="1">
            <a:spLocks noGrp="1"/>
          </p:cNvSpPr>
          <p:nvPr>
            <p:ph type="title"/>
          </p:nvPr>
        </p:nvSpPr>
        <p:spPr>
          <a:xfrm>
            <a:off x="1523593" y="13267"/>
            <a:ext cx="40746253" cy="2225481"/>
          </a:xfrm>
          <a:prstGeom prst="rect">
            <a:avLst/>
          </a:prstGeom>
        </p:spPr>
        <p:txBody>
          <a:bodyPr vert="horz" wrap="square" lIns="0" tIns="0" rIns="0" bIns="0" rtlCol="0">
            <a:spAutoFit/>
          </a:bodyPr>
          <a:lstStyle/>
          <a:p>
            <a:pPr marL="27719" algn="ctr">
              <a:lnSpc>
                <a:spcPct val="150000"/>
              </a:lnSpc>
              <a:spcAft>
                <a:spcPts val="1310"/>
              </a:spcAft>
            </a:pPr>
            <a:r>
              <a:rPr lang="en-US" sz="11000" spc="-513" dirty="0">
                <a:solidFill>
                  <a:schemeClr val="tx1"/>
                </a:solidFill>
              </a:rPr>
              <a:t>Cave-Surface Connectivity Influences Cave Microbiome Ecology</a:t>
            </a:r>
            <a:endParaRPr sz="10000" b="0" spc="-87" dirty="0">
              <a:solidFill>
                <a:schemeClr val="tx1"/>
              </a:solidFill>
            </a:endParaRPr>
          </a:p>
        </p:txBody>
      </p:sp>
      <p:pic>
        <p:nvPicPr>
          <p:cNvPr id="43" name="Picture 42" descr="TheOhioStateUniversity-2C-HorizK-PANTONE.eps">
            <a:extLst>
              <a:ext uri="{FF2B5EF4-FFF2-40B4-BE49-F238E27FC236}">
                <a16:creationId xmlns:a16="http://schemas.microsoft.com/office/drawing/2014/main" id="{52AFB319-5318-CF8C-0A79-3B78F52AAF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18859" y="31164583"/>
            <a:ext cx="7492178" cy="1085335"/>
          </a:xfrm>
          <a:prstGeom prst="rect">
            <a:avLst/>
          </a:prstGeom>
        </p:spPr>
      </p:pic>
      <p:sp>
        <p:nvSpPr>
          <p:cNvPr id="49" name="object 15">
            <a:extLst>
              <a:ext uri="{FF2B5EF4-FFF2-40B4-BE49-F238E27FC236}">
                <a16:creationId xmlns:a16="http://schemas.microsoft.com/office/drawing/2014/main" id="{03D70F2C-ED8E-1CF6-2099-B1BDBD9BBF06}"/>
              </a:ext>
            </a:extLst>
          </p:cNvPr>
          <p:cNvSpPr txBox="1"/>
          <p:nvPr/>
        </p:nvSpPr>
        <p:spPr>
          <a:xfrm>
            <a:off x="15929262" y="11868723"/>
            <a:ext cx="12592752" cy="492443"/>
          </a:xfrm>
          <a:prstGeom prst="rect">
            <a:avLst/>
          </a:prstGeom>
        </p:spPr>
        <p:txBody>
          <a:bodyPr vert="horz" wrap="square" lIns="0" tIns="0" rIns="0" bIns="0" rtlCol="0">
            <a:spAutoFit/>
          </a:bodyPr>
          <a:lstStyle/>
          <a:p>
            <a:pPr marL="27719"/>
            <a:r>
              <a:rPr lang="en-US" sz="3200" b="1" spc="33" dirty="0">
                <a:solidFill>
                  <a:srgbClr val="1B3F5E"/>
                </a:solidFill>
                <a:latin typeface="Arial"/>
                <a:cs typeface="Arial"/>
              </a:rPr>
              <a:t>Environment Type Drives Community Structure</a:t>
            </a:r>
            <a:endParaRPr lang="en-US" sz="3200" dirty="0">
              <a:solidFill>
                <a:srgbClr val="1B3F5E"/>
              </a:solidFill>
              <a:latin typeface="Arial"/>
              <a:cs typeface="Arial"/>
            </a:endParaRPr>
          </a:p>
        </p:txBody>
      </p:sp>
      <p:sp>
        <p:nvSpPr>
          <p:cNvPr id="66" name="object 16">
            <a:extLst>
              <a:ext uri="{FF2B5EF4-FFF2-40B4-BE49-F238E27FC236}">
                <a16:creationId xmlns:a16="http://schemas.microsoft.com/office/drawing/2014/main" id="{59726A08-FC62-6378-87FD-56A5068B238F}"/>
              </a:ext>
            </a:extLst>
          </p:cNvPr>
          <p:cNvSpPr txBox="1"/>
          <p:nvPr/>
        </p:nvSpPr>
        <p:spPr>
          <a:xfrm>
            <a:off x="16121572" y="21909756"/>
            <a:ext cx="10892610" cy="492443"/>
          </a:xfrm>
          <a:prstGeom prst="rect">
            <a:avLst/>
          </a:prstGeom>
        </p:spPr>
        <p:txBody>
          <a:bodyPr vert="horz" wrap="square" lIns="0" tIns="0" rIns="0" bIns="0" rtlCol="0">
            <a:spAutoFit/>
          </a:bodyPr>
          <a:lstStyle/>
          <a:p>
            <a:pPr marL="27719"/>
            <a:r>
              <a:rPr lang="en-US" sz="3200" b="1" spc="33" dirty="0">
                <a:solidFill>
                  <a:srgbClr val="1B3F5E"/>
                </a:solidFill>
                <a:latin typeface="Arial"/>
                <a:cs typeface="Arial"/>
              </a:rPr>
              <a:t>Source Contributions to Cave Samples</a:t>
            </a:r>
            <a:endParaRPr lang="en-US" sz="3200" dirty="0">
              <a:solidFill>
                <a:srgbClr val="1B3F5E"/>
              </a:solidFill>
              <a:latin typeface="Arial"/>
              <a:cs typeface="Arial"/>
            </a:endParaRPr>
          </a:p>
        </p:txBody>
      </p:sp>
      <p:sp>
        <p:nvSpPr>
          <p:cNvPr id="86" name="Rectangle 85">
            <a:extLst>
              <a:ext uri="{FF2B5EF4-FFF2-40B4-BE49-F238E27FC236}">
                <a16:creationId xmlns:a16="http://schemas.microsoft.com/office/drawing/2014/main" id="{2A6EF1F8-1086-5420-BD33-0115CE04E7A1}"/>
              </a:ext>
            </a:extLst>
          </p:cNvPr>
          <p:cNvSpPr/>
          <p:nvPr/>
        </p:nvSpPr>
        <p:spPr>
          <a:xfrm>
            <a:off x="1143000" y="4572000"/>
            <a:ext cx="12801600" cy="72960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0" dirty="0">
                <a:latin typeface="Arial" panose="020B0604020202020204" pitchFamily="34" charset="0"/>
                <a:cs typeface="Arial" panose="020B0604020202020204" pitchFamily="34" charset="0"/>
              </a:rPr>
              <a:t>Introduction</a:t>
            </a:r>
          </a:p>
        </p:txBody>
      </p:sp>
      <p:sp>
        <p:nvSpPr>
          <p:cNvPr id="87" name="object 3">
            <a:extLst>
              <a:ext uri="{FF2B5EF4-FFF2-40B4-BE49-F238E27FC236}">
                <a16:creationId xmlns:a16="http://schemas.microsoft.com/office/drawing/2014/main" id="{EAEAD8FF-924B-7916-E96A-7B9E0F5FF0AF}"/>
              </a:ext>
            </a:extLst>
          </p:cNvPr>
          <p:cNvSpPr txBox="1"/>
          <p:nvPr/>
        </p:nvSpPr>
        <p:spPr>
          <a:xfrm>
            <a:off x="1173536" y="5785406"/>
            <a:ext cx="12801600" cy="5213928"/>
          </a:xfrm>
          <a:prstGeom prst="rect">
            <a:avLst/>
          </a:prstGeom>
        </p:spPr>
        <p:txBody>
          <a:bodyPr vert="horz" wrap="square" lIns="0" tIns="0" rIns="0" bIns="0" rtlCol="0">
            <a:spAutoFit/>
          </a:bodyPr>
          <a:lstStyle/>
          <a:p>
            <a:pPr marL="342900" marR="0" lvl="0" indent="-342900">
              <a:lnSpc>
                <a:spcPct val="115000"/>
              </a:lnSpc>
              <a:buFont typeface="Symbol" panose="05050102010706020507" pitchFamily="18" charset="2"/>
              <a:buChar char=""/>
              <a:tabLst>
                <a:tab pos="1701800" algn="l"/>
              </a:tabLst>
            </a:pPr>
            <a:r>
              <a:rPr lang="en-US" sz="3000" b="1" dirty="0">
                <a:latin typeface="Arial" panose="020B0604020202020204" pitchFamily="34" charset="0"/>
                <a:cs typeface="Arial" panose="020B0604020202020204" pitchFamily="34" charset="0"/>
              </a:rPr>
              <a:t>How do microbial community structure and function shift with increasing isolation from surface inputs in a karst cave system?</a:t>
            </a:r>
          </a:p>
          <a:p>
            <a:pPr marR="0" lvl="0">
              <a:lnSpc>
                <a:spcPct val="115000"/>
              </a:lnSpc>
              <a:tabLst>
                <a:tab pos="1701800" algn="l"/>
              </a:tabLst>
            </a:pPr>
            <a:endParaRPr lang="en-US" sz="3000" b="1" dirty="0">
              <a:latin typeface="Arial" panose="020B0604020202020204" pitchFamily="34" charset="0"/>
              <a:cs typeface="Arial" panose="020B0604020202020204" pitchFamily="34" charset="0"/>
            </a:endParaRPr>
          </a:p>
          <a:p>
            <a:pPr marL="1340785" lvl="1" indent="-342900">
              <a:lnSpc>
                <a:spcPct val="115000"/>
              </a:lnSpc>
              <a:buFont typeface="Symbol" panose="05050102010706020507" pitchFamily="18" charset="2"/>
              <a:buChar char=""/>
              <a:tabLst>
                <a:tab pos="1701800" algn="l"/>
              </a:tabLst>
            </a:pPr>
            <a:r>
              <a:rPr lang="en-US" sz="3000" dirty="0">
                <a:latin typeface="Arial" panose="020B0604020202020204" pitchFamily="34" charset="0"/>
                <a:cs typeface="Arial" panose="020B0604020202020204" pitchFamily="34" charset="0"/>
              </a:rPr>
              <a:t>Caves are nutrient limited systems, yet they host diverse microbial communities.</a:t>
            </a:r>
          </a:p>
          <a:p>
            <a:pPr lvl="1">
              <a:lnSpc>
                <a:spcPct val="115000"/>
              </a:lnSpc>
              <a:tabLst>
                <a:tab pos="1701800" algn="l"/>
              </a:tabLst>
            </a:pPr>
            <a:endParaRPr lang="en-US" sz="3000" dirty="0">
              <a:latin typeface="Arial" panose="020B0604020202020204" pitchFamily="34" charset="0"/>
              <a:cs typeface="Arial" panose="020B0604020202020204" pitchFamily="34" charset="0"/>
            </a:endParaRPr>
          </a:p>
          <a:p>
            <a:pPr marL="1340785" lvl="1" indent="-342900">
              <a:lnSpc>
                <a:spcPct val="115000"/>
              </a:lnSpc>
              <a:buFont typeface="Symbol" panose="05050102010706020507" pitchFamily="18" charset="2"/>
              <a:buChar char=""/>
              <a:tabLst>
                <a:tab pos="1701800" algn="l"/>
              </a:tabLst>
            </a:pPr>
            <a:r>
              <a:rPr lang="en-US" sz="3000" dirty="0">
                <a:latin typeface="Arial" panose="020B0604020202020204" pitchFamily="34" charset="0"/>
                <a:cs typeface="Arial" panose="020B0604020202020204" pitchFamily="34" charset="0"/>
              </a:rPr>
              <a:t>Karst systems are porous, enabling surface water, organic matter, and microbes to percolate or stream into the system.</a:t>
            </a:r>
          </a:p>
          <a:p>
            <a:pPr marL="1340785" lvl="1" indent="-342900">
              <a:lnSpc>
                <a:spcPct val="115000"/>
              </a:lnSpc>
              <a:buFont typeface="Symbol" panose="05050102010706020507" pitchFamily="18" charset="2"/>
              <a:buChar char=""/>
              <a:tabLst>
                <a:tab pos="1701800" algn="l"/>
              </a:tabLst>
            </a:pPr>
            <a:endParaRPr lang="en-US" sz="2800" dirty="0"/>
          </a:p>
          <a:p>
            <a:pPr marL="342900" marR="0" lvl="0" indent="-342900">
              <a:lnSpc>
                <a:spcPct val="115000"/>
              </a:lnSpc>
              <a:buFont typeface="Symbol" panose="05050102010706020507" pitchFamily="18" charset="2"/>
              <a:buChar char=""/>
              <a:tabLst>
                <a:tab pos="1701800" algn="l"/>
              </a:tabLst>
            </a:pPr>
            <a:endParaRPr lang="en-US" sz="2800"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95" name="object 3">
            <a:extLst>
              <a:ext uri="{FF2B5EF4-FFF2-40B4-BE49-F238E27FC236}">
                <a16:creationId xmlns:a16="http://schemas.microsoft.com/office/drawing/2014/main" id="{91DCE3F5-B726-936B-8F61-87AFE1CD8EEB}"/>
              </a:ext>
            </a:extLst>
          </p:cNvPr>
          <p:cNvSpPr txBox="1"/>
          <p:nvPr/>
        </p:nvSpPr>
        <p:spPr>
          <a:xfrm>
            <a:off x="1173535" y="11836128"/>
            <a:ext cx="12801601" cy="4938211"/>
          </a:xfrm>
          <a:prstGeom prst="rect">
            <a:avLst/>
          </a:prstGeom>
        </p:spPr>
        <p:txBody>
          <a:bodyPr vert="horz" wrap="square" lIns="0" tIns="0" rIns="0" bIns="0" rtlCol="0">
            <a:spAutoFit/>
          </a:bodyPr>
          <a:lstStyle/>
          <a:p>
            <a:pPr marL="0" marR="0">
              <a:lnSpc>
                <a:spcPct val="115000"/>
              </a:lnSpc>
              <a:spcAft>
                <a:spcPts val="800"/>
              </a:spcAft>
              <a:buNone/>
              <a:tabLst>
                <a:tab pos="1701800" algn="l"/>
              </a:tabLst>
            </a:pPr>
            <a:r>
              <a:rPr lang="en-US" sz="3000" b="1" kern="100" dirty="0">
                <a:effectLst/>
                <a:latin typeface="Arial" panose="020B0604020202020204" pitchFamily="34" charset="0"/>
                <a:ea typeface="Aptos" panose="020B0004020202020204" pitchFamily="34" charset="0"/>
                <a:cs typeface="Arial" panose="020B0604020202020204" pitchFamily="34" charset="0"/>
              </a:rPr>
              <a:t>Moonshiner Cave:</a:t>
            </a:r>
          </a:p>
          <a:p>
            <a:pPr marL="1340785" lvl="1" indent="-342900">
              <a:lnSpc>
                <a:spcPct val="115000"/>
              </a:lnSpc>
              <a:buFont typeface="Symbol" panose="05050102010706020507" pitchFamily="18" charset="2"/>
              <a:buChar char=""/>
              <a:tabLst>
                <a:tab pos="1701800" algn="l"/>
              </a:tabLst>
            </a:pPr>
            <a:r>
              <a:rPr lang="en-US" sz="3000" kern="100" dirty="0">
                <a:effectLst/>
                <a:latin typeface="Arial" panose="020B0604020202020204" pitchFamily="34" charset="0"/>
                <a:ea typeface="Aptos" panose="020B0004020202020204" pitchFamily="34" charset="0"/>
                <a:cs typeface="Arial" panose="020B0604020202020204" pitchFamily="34" charset="0"/>
              </a:rPr>
              <a:t>Located In Rockcastle County, Kentucky</a:t>
            </a:r>
          </a:p>
          <a:p>
            <a:pPr marL="1340785" lvl="1" indent="-342900">
              <a:lnSpc>
                <a:spcPct val="115000"/>
              </a:lnSpc>
              <a:buFont typeface="Symbol" panose="05050102010706020507" pitchFamily="18" charset="2"/>
              <a:buChar char=""/>
              <a:tabLst>
                <a:tab pos="1701800" algn="l"/>
              </a:tabLst>
            </a:pPr>
            <a:r>
              <a:rPr lang="en-US" sz="3000" kern="100" dirty="0">
                <a:effectLst/>
                <a:latin typeface="Arial" panose="020B0604020202020204" pitchFamily="34" charset="0"/>
                <a:ea typeface="Aptos" panose="020B0004020202020204" pitchFamily="34" charset="0"/>
                <a:cs typeface="Arial" panose="020B0604020202020204" pitchFamily="34" charset="0"/>
              </a:rPr>
              <a:t>Comprised of a </a:t>
            </a:r>
            <a:r>
              <a:rPr lang="en-US" sz="3000" kern="100" dirty="0">
                <a:latin typeface="Arial" panose="020B0604020202020204" pitchFamily="34" charset="0"/>
                <a:ea typeface="Aptos" panose="020B0004020202020204" pitchFamily="34" charset="0"/>
                <a:cs typeface="Arial" panose="020B0604020202020204" pitchFamily="34" charset="0"/>
              </a:rPr>
              <a:t>s</a:t>
            </a:r>
            <a:r>
              <a:rPr lang="en-US" sz="3000" kern="100" dirty="0">
                <a:effectLst/>
                <a:latin typeface="Arial" panose="020B0604020202020204" pitchFamily="34" charset="0"/>
                <a:ea typeface="Aptos" panose="020B0004020202020204" pitchFamily="34" charset="0"/>
                <a:cs typeface="Arial" panose="020B0604020202020204" pitchFamily="34" charset="0"/>
              </a:rPr>
              <a:t>ingle canyon-like </a:t>
            </a:r>
            <a:r>
              <a:rPr lang="en-US" sz="3000" kern="100" dirty="0">
                <a:latin typeface="Arial" panose="020B0604020202020204" pitchFamily="34" charset="0"/>
                <a:ea typeface="Aptos" panose="020B0004020202020204" pitchFamily="34" charset="0"/>
                <a:cs typeface="Arial" panose="020B0604020202020204" pitchFamily="34" charset="0"/>
              </a:rPr>
              <a:t>p</a:t>
            </a:r>
            <a:r>
              <a:rPr lang="en-US" sz="3000" kern="100" dirty="0">
                <a:effectLst/>
                <a:latin typeface="Arial" panose="020B0604020202020204" pitchFamily="34" charset="0"/>
                <a:ea typeface="Aptos" panose="020B0004020202020204" pitchFamily="34" charset="0"/>
                <a:cs typeface="Arial" panose="020B0604020202020204" pitchFamily="34" charset="0"/>
              </a:rPr>
              <a:t>assage </a:t>
            </a:r>
          </a:p>
          <a:p>
            <a:pPr marL="1340785" lvl="1" indent="-342900">
              <a:lnSpc>
                <a:spcPct val="115000"/>
              </a:lnSpc>
              <a:buFont typeface="Symbol" panose="05050102010706020507" pitchFamily="18" charset="2"/>
              <a:buChar char=""/>
              <a:tabLst>
                <a:tab pos="1701800" algn="l"/>
              </a:tabLst>
            </a:pPr>
            <a:r>
              <a:rPr lang="en-US" sz="3000" kern="100" dirty="0">
                <a:latin typeface="Arial" panose="020B0604020202020204" pitchFamily="34" charset="0"/>
                <a:ea typeface="Aptos" panose="020B0004020202020204" pitchFamily="34" charset="0"/>
                <a:cs typeface="Arial" panose="020B0604020202020204" pitchFamily="34" charset="0"/>
              </a:rPr>
              <a:t>Status as a p</a:t>
            </a:r>
            <a:r>
              <a:rPr lang="en-US" sz="3000" kern="100" dirty="0">
                <a:effectLst/>
                <a:latin typeface="Arial" panose="020B0604020202020204" pitchFamily="34" charset="0"/>
                <a:ea typeface="Aptos" panose="020B0004020202020204" pitchFamily="34" charset="0"/>
                <a:cs typeface="Arial" panose="020B0604020202020204" pitchFamily="34" charset="0"/>
              </a:rPr>
              <a:t>rivate </a:t>
            </a:r>
            <a:r>
              <a:rPr lang="en-US" sz="3000" kern="100" dirty="0">
                <a:latin typeface="Arial" panose="020B0604020202020204" pitchFamily="34" charset="0"/>
                <a:ea typeface="Aptos" panose="020B0004020202020204" pitchFamily="34" charset="0"/>
                <a:cs typeface="Arial" panose="020B0604020202020204" pitchFamily="34" charset="0"/>
              </a:rPr>
              <a:t>r</a:t>
            </a:r>
            <a:r>
              <a:rPr lang="en-US" sz="3000" kern="100" dirty="0">
                <a:effectLst/>
                <a:latin typeface="Arial" panose="020B0604020202020204" pitchFamily="34" charset="0"/>
                <a:ea typeface="Aptos" panose="020B0004020202020204" pitchFamily="34" charset="0"/>
                <a:cs typeface="Arial" panose="020B0604020202020204" pitchFamily="34" charset="0"/>
              </a:rPr>
              <a:t>estricted </a:t>
            </a:r>
            <a:r>
              <a:rPr lang="en-US" sz="3000" kern="100" dirty="0">
                <a:latin typeface="Arial" panose="020B0604020202020204" pitchFamily="34" charset="0"/>
                <a:ea typeface="Aptos" panose="020B0004020202020204" pitchFamily="34" charset="0"/>
                <a:cs typeface="Arial" panose="020B0604020202020204" pitchFamily="34" charset="0"/>
              </a:rPr>
              <a:t>a</a:t>
            </a:r>
            <a:r>
              <a:rPr lang="en-US" sz="3000" kern="100" dirty="0">
                <a:effectLst/>
                <a:latin typeface="Arial" panose="020B0604020202020204" pitchFamily="34" charset="0"/>
                <a:ea typeface="Aptos" panose="020B0004020202020204" pitchFamily="34" charset="0"/>
                <a:cs typeface="Arial" panose="020B0604020202020204" pitchFamily="34" charset="0"/>
              </a:rPr>
              <a:t>ccess cave</a:t>
            </a:r>
          </a:p>
          <a:p>
            <a:pPr marL="342900" marR="0" lvl="0" indent="-342900">
              <a:lnSpc>
                <a:spcPct val="115000"/>
              </a:lnSpc>
              <a:buFont typeface="Symbol" panose="05050102010706020507" pitchFamily="18" charset="2"/>
              <a:buChar char=""/>
              <a:tabLst>
                <a:tab pos="1701800" algn="l"/>
              </a:tabLst>
            </a:pPr>
            <a:endParaRPr lang="en-US" sz="3000" kern="100" dirty="0">
              <a:effectLst/>
              <a:latin typeface="Arial" panose="020B0604020202020204" pitchFamily="34" charset="0"/>
              <a:ea typeface="Aptos" panose="020B0004020202020204" pitchFamily="34" charset="0"/>
              <a:cs typeface="Arial" panose="020B0604020202020204" pitchFamily="34" charset="0"/>
            </a:endParaRPr>
          </a:p>
          <a:p>
            <a:pPr marL="0" marR="0">
              <a:lnSpc>
                <a:spcPct val="115000"/>
              </a:lnSpc>
              <a:spcAft>
                <a:spcPts val="800"/>
              </a:spcAft>
              <a:buNone/>
              <a:tabLst>
                <a:tab pos="1701800" algn="l"/>
              </a:tabLst>
            </a:pPr>
            <a:r>
              <a:rPr lang="en-US" sz="3000" b="1" kern="100" dirty="0">
                <a:effectLst/>
                <a:latin typeface="Arial" panose="020B0604020202020204" pitchFamily="34" charset="0"/>
                <a:ea typeface="Aptos" panose="020B0004020202020204" pitchFamily="34" charset="0"/>
                <a:cs typeface="Arial" panose="020B0604020202020204" pitchFamily="34" charset="0"/>
              </a:rPr>
              <a:t>Sampling Strategy:</a:t>
            </a:r>
          </a:p>
          <a:p>
            <a:pPr marL="1340785" lvl="1" indent="-342900">
              <a:lnSpc>
                <a:spcPct val="115000"/>
              </a:lnSpc>
              <a:buFont typeface="Symbol" panose="05050102010706020507" pitchFamily="18" charset="2"/>
              <a:buChar char=""/>
              <a:tabLst>
                <a:tab pos="1701800" algn="l"/>
              </a:tabLst>
            </a:pPr>
            <a:r>
              <a:rPr lang="en-US" sz="3000" kern="100" dirty="0">
                <a:effectLst/>
                <a:latin typeface="Arial" panose="020B0604020202020204" pitchFamily="34" charset="0"/>
                <a:ea typeface="Aptos" panose="020B0004020202020204" pitchFamily="34" charset="0"/>
                <a:cs typeface="Arial" panose="020B0604020202020204" pitchFamily="34" charset="0"/>
              </a:rPr>
              <a:t>Cave sediment collected along passage floor at regular intervals</a:t>
            </a:r>
          </a:p>
          <a:p>
            <a:pPr marL="1340785" lvl="1" indent="-342900">
              <a:lnSpc>
                <a:spcPct val="115000"/>
              </a:lnSpc>
              <a:buFont typeface="Symbol" panose="05050102010706020507" pitchFamily="18" charset="2"/>
              <a:buChar char=""/>
              <a:tabLst>
                <a:tab pos="1701800" algn="l"/>
              </a:tabLst>
            </a:pPr>
            <a:r>
              <a:rPr lang="en-US" sz="3000" kern="100" dirty="0">
                <a:effectLst/>
                <a:latin typeface="Arial" panose="020B0604020202020204" pitchFamily="34" charset="0"/>
                <a:ea typeface="Aptos" panose="020B0004020202020204" pitchFamily="34" charset="0"/>
                <a:cs typeface="Arial" panose="020B0604020202020204" pitchFamily="34" charset="0"/>
              </a:rPr>
              <a:t>Cave drip pool and streams samples were collected</a:t>
            </a:r>
          </a:p>
          <a:p>
            <a:pPr marL="1340785" lvl="1" indent="-342900">
              <a:lnSpc>
                <a:spcPct val="115000"/>
              </a:lnSpc>
              <a:buFont typeface="Symbol" panose="05050102010706020507" pitchFamily="18" charset="2"/>
              <a:buChar char=""/>
              <a:tabLst>
                <a:tab pos="1701800" algn="l"/>
              </a:tabLst>
            </a:pPr>
            <a:r>
              <a:rPr lang="en-US" sz="3000" kern="100" dirty="0">
                <a:effectLst/>
                <a:latin typeface="Arial" panose="020B0604020202020204" pitchFamily="34" charset="0"/>
                <a:ea typeface="Aptos" panose="020B0004020202020204" pitchFamily="34" charset="0"/>
                <a:cs typeface="Arial" panose="020B0604020202020204" pitchFamily="34" charset="0"/>
              </a:rPr>
              <a:t>Overlaying forest soils collected at regular intervals</a:t>
            </a:r>
          </a:p>
        </p:txBody>
      </p:sp>
      <p:pic>
        <p:nvPicPr>
          <p:cNvPr id="96" name="Content Placeholder 44">
            <a:extLst>
              <a:ext uri="{FF2B5EF4-FFF2-40B4-BE49-F238E27FC236}">
                <a16:creationId xmlns:a16="http://schemas.microsoft.com/office/drawing/2014/main" id="{74F21050-1B93-7811-5D20-FD703C3E34A9}"/>
              </a:ext>
            </a:extLst>
          </p:cNvPr>
          <p:cNvPicPr>
            <a:picLocks noChangeAspect="1"/>
          </p:cNvPicPr>
          <p:nvPr/>
        </p:nvPicPr>
        <p:blipFill>
          <a:blip r:embed="rId4">
            <a:extLst>
              <a:ext uri="{28A0092B-C50C-407E-A947-70E740481C1C}">
                <a14:useLocalDpi xmlns:a14="http://schemas.microsoft.com/office/drawing/2010/main" val="0"/>
              </a:ext>
            </a:extLst>
          </a:blip>
          <a:srcRect l="19393" t="-3321" r="6554" b="3321"/>
          <a:stretch>
            <a:fillRect/>
          </a:stretch>
        </p:blipFill>
        <p:spPr>
          <a:xfrm>
            <a:off x="9280574" y="20758879"/>
            <a:ext cx="4323702" cy="7133236"/>
          </a:xfrm>
          <a:prstGeom prst="rect">
            <a:avLst/>
          </a:prstGeom>
          <a:ln w="38100">
            <a:solidFill>
              <a:schemeClr val="bg1">
                <a:lumMod val="50000"/>
              </a:schemeClr>
            </a:solidFill>
          </a:ln>
        </p:spPr>
      </p:pic>
      <p:pic>
        <p:nvPicPr>
          <p:cNvPr id="97" name="Picture 96">
            <a:extLst>
              <a:ext uri="{FF2B5EF4-FFF2-40B4-BE49-F238E27FC236}">
                <a16:creationId xmlns:a16="http://schemas.microsoft.com/office/drawing/2014/main" id="{9F95074B-347B-B10C-3C6B-839067A5CA78}"/>
              </a:ext>
            </a:extLst>
          </p:cNvPr>
          <p:cNvPicPr>
            <a:picLocks noChangeAspect="1"/>
          </p:cNvPicPr>
          <p:nvPr/>
        </p:nvPicPr>
        <p:blipFill>
          <a:blip r:embed="rId5">
            <a:extLst>
              <a:ext uri="{28A0092B-C50C-407E-A947-70E740481C1C}">
                <a14:useLocalDpi xmlns:a14="http://schemas.microsoft.com/office/drawing/2010/main" val="0"/>
              </a:ext>
            </a:extLst>
          </a:blip>
          <a:srcRect l="16993" t="-993" r="9097" b="993"/>
          <a:stretch>
            <a:fillRect/>
          </a:stretch>
        </p:blipFill>
        <p:spPr>
          <a:xfrm>
            <a:off x="5260456" y="20828813"/>
            <a:ext cx="3979284" cy="7063302"/>
          </a:xfrm>
          <a:prstGeom prst="rect">
            <a:avLst/>
          </a:prstGeom>
          <a:ln w="38100">
            <a:solidFill>
              <a:schemeClr val="bg1">
                <a:lumMod val="50000"/>
              </a:schemeClr>
            </a:solidFill>
          </a:ln>
        </p:spPr>
      </p:pic>
      <p:pic>
        <p:nvPicPr>
          <p:cNvPr id="100" name="Picture 99">
            <a:extLst>
              <a:ext uri="{FF2B5EF4-FFF2-40B4-BE49-F238E27FC236}">
                <a16:creationId xmlns:a16="http://schemas.microsoft.com/office/drawing/2014/main" id="{9DD339EE-5787-ADF0-F89A-BBFB52A43745}"/>
              </a:ext>
            </a:extLst>
          </p:cNvPr>
          <p:cNvPicPr>
            <a:picLocks noChangeAspect="1"/>
          </p:cNvPicPr>
          <p:nvPr/>
        </p:nvPicPr>
        <p:blipFill>
          <a:blip r:embed="rId6">
            <a:extLst>
              <a:ext uri="{28A0092B-C50C-407E-A947-70E740481C1C}">
                <a14:useLocalDpi xmlns:a14="http://schemas.microsoft.com/office/drawing/2010/main" val="0"/>
              </a:ext>
            </a:extLst>
          </a:blip>
          <a:srcRect l="24109" t="-522" r="3017" b="522"/>
          <a:stretch>
            <a:fillRect/>
          </a:stretch>
        </p:blipFill>
        <p:spPr>
          <a:xfrm>
            <a:off x="1255623" y="20978882"/>
            <a:ext cx="3979284" cy="6917094"/>
          </a:xfrm>
          <a:prstGeom prst="rect">
            <a:avLst/>
          </a:prstGeom>
          <a:ln w="38100">
            <a:solidFill>
              <a:schemeClr val="bg1">
                <a:lumMod val="50000"/>
              </a:schemeClr>
            </a:solidFill>
          </a:ln>
        </p:spPr>
      </p:pic>
      <p:pic>
        <p:nvPicPr>
          <p:cNvPr id="101" name="Content Placeholder 26">
            <a:extLst>
              <a:ext uri="{FF2B5EF4-FFF2-40B4-BE49-F238E27FC236}">
                <a16:creationId xmlns:a16="http://schemas.microsoft.com/office/drawing/2014/main" id="{691A343F-74AA-7562-5D7D-9DE48A888DEC}"/>
              </a:ext>
            </a:extLst>
          </p:cNvPr>
          <p:cNvPicPr>
            <a:picLocks noGrp="1" noChangeAspect="1"/>
          </p:cNvPicPr>
          <p:nvPr>
            <p:ph sz="half" idx="2"/>
          </p:nvPr>
        </p:nvPicPr>
        <p:blipFill>
          <a:blip r:embed="rId7">
            <a:extLst>
              <a:ext uri="{28A0092B-C50C-407E-A947-70E740481C1C}">
                <a14:useLocalDpi xmlns:a14="http://schemas.microsoft.com/office/drawing/2010/main" val="0"/>
              </a:ext>
            </a:extLst>
          </a:blip>
          <a:srcRect t="20013" r="28396" b="27787"/>
          <a:stretch>
            <a:fillRect/>
          </a:stretch>
        </p:blipFill>
        <p:spPr>
          <a:xfrm>
            <a:off x="1254730" y="17786885"/>
            <a:ext cx="12374539" cy="3284467"/>
          </a:xfrm>
          <a:solidFill>
            <a:srgbClr val="231F20">
              <a:alpha val="99000"/>
            </a:srgbClr>
          </a:solidFill>
          <a:ln w="38100">
            <a:solidFill>
              <a:schemeClr val="bg1">
                <a:lumMod val="50000"/>
              </a:schemeClr>
            </a:solidFill>
          </a:ln>
        </p:spPr>
      </p:pic>
      <p:pic>
        <p:nvPicPr>
          <p:cNvPr id="102" name="Content Placeholder 26">
            <a:extLst>
              <a:ext uri="{FF2B5EF4-FFF2-40B4-BE49-F238E27FC236}">
                <a16:creationId xmlns:a16="http://schemas.microsoft.com/office/drawing/2014/main" id="{F2188D06-2AF9-E270-8FDE-6CCDE768C865}"/>
              </a:ext>
            </a:extLst>
          </p:cNvPr>
          <p:cNvPicPr>
            <a:picLocks noChangeAspect="1"/>
          </p:cNvPicPr>
          <p:nvPr/>
        </p:nvPicPr>
        <p:blipFill>
          <a:blip r:embed="rId7">
            <a:extLst>
              <a:ext uri="{28A0092B-C50C-407E-A947-70E740481C1C}">
                <a14:useLocalDpi xmlns:a14="http://schemas.microsoft.com/office/drawing/2010/main" val="0"/>
              </a:ext>
            </a:extLst>
          </a:blip>
          <a:srcRect l="70963" t="20013" r="6259" b="40306"/>
          <a:stretch>
            <a:fillRect/>
          </a:stretch>
        </p:blipFill>
        <p:spPr>
          <a:xfrm>
            <a:off x="1316987" y="17818551"/>
            <a:ext cx="2742823" cy="1577446"/>
          </a:xfrm>
          <a:prstGeom prst="rect">
            <a:avLst/>
          </a:prstGeom>
          <a:solidFill>
            <a:srgbClr val="231F20">
              <a:alpha val="99000"/>
            </a:srgbClr>
          </a:solidFill>
        </p:spPr>
      </p:pic>
      <p:pic>
        <p:nvPicPr>
          <p:cNvPr id="103" name="Content Placeholder 26">
            <a:extLst>
              <a:ext uri="{FF2B5EF4-FFF2-40B4-BE49-F238E27FC236}">
                <a16:creationId xmlns:a16="http://schemas.microsoft.com/office/drawing/2014/main" id="{21329389-3670-0631-82D2-5937A2607F1A}"/>
              </a:ext>
            </a:extLst>
          </p:cNvPr>
          <p:cNvPicPr>
            <a:picLocks noChangeAspect="1"/>
          </p:cNvPicPr>
          <p:nvPr/>
        </p:nvPicPr>
        <p:blipFill>
          <a:blip r:embed="rId7">
            <a:extLst>
              <a:ext uri="{28A0092B-C50C-407E-A947-70E740481C1C}">
                <a14:useLocalDpi xmlns:a14="http://schemas.microsoft.com/office/drawing/2010/main" val="0"/>
              </a:ext>
            </a:extLst>
          </a:blip>
          <a:srcRect l="70963" t="62468" r="2782" b="24205"/>
          <a:stretch>
            <a:fillRect/>
          </a:stretch>
        </p:blipFill>
        <p:spPr>
          <a:xfrm>
            <a:off x="8853340" y="20076011"/>
            <a:ext cx="4520658" cy="838505"/>
          </a:xfrm>
          <a:prstGeom prst="rect">
            <a:avLst/>
          </a:prstGeom>
          <a:solidFill>
            <a:srgbClr val="231F20">
              <a:alpha val="99000"/>
            </a:srgbClr>
          </a:solidFill>
        </p:spPr>
      </p:pic>
      <p:sp>
        <p:nvSpPr>
          <p:cNvPr id="116" name="object 16">
            <a:extLst>
              <a:ext uri="{FF2B5EF4-FFF2-40B4-BE49-F238E27FC236}">
                <a16:creationId xmlns:a16="http://schemas.microsoft.com/office/drawing/2014/main" id="{976DDBA5-795B-3EFE-79C1-23C527C285DD}"/>
              </a:ext>
            </a:extLst>
          </p:cNvPr>
          <p:cNvSpPr txBox="1"/>
          <p:nvPr/>
        </p:nvSpPr>
        <p:spPr>
          <a:xfrm>
            <a:off x="1254730" y="17185043"/>
            <a:ext cx="10189362" cy="492443"/>
          </a:xfrm>
          <a:prstGeom prst="rect">
            <a:avLst/>
          </a:prstGeom>
        </p:spPr>
        <p:txBody>
          <a:bodyPr vert="horz" wrap="square" lIns="0" tIns="0" rIns="0" bIns="0" rtlCol="0">
            <a:spAutoFit/>
          </a:bodyPr>
          <a:lstStyle/>
          <a:p>
            <a:pPr marL="27719"/>
            <a:r>
              <a:rPr lang="en-US" sz="3200" b="1" spc="33" dirty="0">
                <a:solidFill>
                  <a:srgbClr val="1B3F5E"/>
                </a:solidFill>
                <a:latin typeface="Arial"/>
                <a:cs typeface="Arial"/>
              </a:rPr>
              <a:t>Cave Map</a:t>
            </a:r>
            <a:endParaRPr lang="en-US" sz="3200" dirty="0">
              <a:solidFill>
                <a:srgbClr val="1B3F5E"/>
              </a:solidFill>
              <a:latin typeface="Arial"/>
              <a:cs typeface="Arial"/>
            </a:endParaRPr>
          </a:p>
        </p:txBody>
      </p:sp>
      <p:sp>
        <p:nvSpPr>
          <p:cNvPr id="117" name="object 3">
            <a:extLst>
              <a:ext uri="{FF2B5EF4-FFF2-40B4-BE49-F238E27FC236}">
                <a16:creationId xmlns:a16="http://schemas.microsoft.com/office/drawing/2014/main" id="{4460C66D-C6FC-C04D-A8FC-36358620E777}"/>
              </a:ext>
            </a:extLst>
          </p:cNvPr>
          <p:cNvSpPr txBox="1"/>
          <p:nvPr/>
        </p:nvSpPr>
        <p:spPr>
          <a:xfrm>
            <a:off x="30829921" y="22785146"/>
            <a:ext cx="12249012" cy="6839373"/>
          </a:xfrm>
          <a:prstGeom prst="rect">
            <a:avLst/>
          </a:prstGeom>
        </p:spPr>
        <p:txBody>
          <a:bodyPr vert="horz" wrap="square" lIns="0" tIns="0" rIns="0" bIns="0" rtlCol="0">
            <a:spAutoFit/>
          </a:bodyPr>
          <a:lstStyle/>
          <a:p>
            <a:pPr>
              <a:lnSpc>
                <a:spcPct val="150000"/>
              </a:lnSpc>
            </a:pPr>
            <a:r>
              <a:rPr lang="en-US" sz="3000" b="1" dirty="0">
                <a:latin typeface="Arial" panose="020B0604020202020204" pitchFamily="34" charset="0"/>
                <a:cs typeface="Arial" panose="020B0604020202020204" pitchFamily="34" charset="0"/>
              </a:rPr>
              <a:t>- Distance Decay:</a:t>
            </a:r>
            <a:r>
              <a:rPr lang="en-US" sz="3000" dirty="0">
                <a:latin typeface="Arial" panose="020B0604020202020204" pitchFamily="34" charset="0"/>
                <a:cs typeface="Arial" panose="020B0604020202020204" pitchFamily="34" charset="0"/>
              </a:rPr>
              <a:t> The steep compositional gradient suggests the cave filters against surface-adapted taxa as  organic carbon inputs signature decrease with depth.</a:t>
            </a:r>
          </a:p>
          <a:p>
            <a:pPr marL="457200" indent="-457200">
              <a:lnSpc>
                <a:spcPct val="150000"/>
              </a:lnSpc>
              <a:buFontTx/>
              <a:buChar char="-"/>
            </a:pPr>
            <a:r>
              <a:rPr lang="en-US" sz="3000" b="1" dirty="0">
                <a:latin typeface="Arial" panose="020B0604020202020204" pitchFamily="34" charset="0"/>
                <a:cs typeface="Arial" panose="020B0604020202020204" pitchFamily="34" charset="0"/>
              </a:rPr>
              <a:t>Core Cave Community:</a:t>
            </a:r>
            <a:r>
              <a:rPr lang="en-US" sz="3000" dirty="0">
                <a:latin typeface="Arial" panose="020B0604020202020204" pitchFamily="34" charset="0"/>
                <a:cs typeface="Arial" panose="020B0604020202020204" pitchFamily="34" charset="0"/>
              </a:rPr>
              <a:t> The stable ~68% resident microbiome is a specialized oligotrophic assemblage. As surface-derived microbes and aerobic functions decline with depth, they are replaced by nitrification and predatory activity.</a:t>
            </a:r>
          </a:p>
          <a:p>
            <a:pPr>
              <a:lnSpc>
                <a:spcPct val="150000"/>
              </a:lnSpc>
            </a:pPr>
            <a:r>
              <a:rPr lang="en-US" sz="3000" b="1" dirty="0">
                <a:latin typeface="Arial" panose="020B0604020202020204" pitchFamily="34" charset="0"/>
                <a:cs typeface="Arial" panose="020B0604020202020204" pitchFamily="34" charset="0"/>
              </a:rPr>
              <a:t>- Karst Connectivity:</a:t>
            </a:r>
            <a:r>
              <a:rPr lang="en-US" sz="3000" dirty="0">
                <a:latin typeface="Arial" panose="020B0604020202020204" pitchFamily="34" charset="0"/>
                <a:cs typeface="Arial" panose="020B0604020202020204" pitchFamily="34" charset="0"/>
              </a:rPr>
              <a:t> Distance from the entrance acts as a composite proxy for surface connectivity, highlighting how karst hydrogeology mediates microbial exchange from surface to subsurface ecosystems.</a:t>
            </a:r>
          </a:p>
        </p:txBody>
      </p:sp>
      <p:sp>
        <p:nvSpPr>
          <p:cNvPr id="131" name="object 15">
            <a:extLst>
              <a:ext uri="{FF2B5EF4-FFF2-40B4-BE49-F238E27FC236}">
                <a16:creationId xmlns:a16="http://schemas.microsoft.com/office/drawing/2014/main" id="{F61D466A-E36C-87D9-93E2-540DFA42F1AA}"/>
              </a:ext>
            </a:extLst>
          </p:cNvPr>
          <p:cNvSpPr txBox="1"/>
          <p:nvPr/>
        </p:nvSpPr>
        <p:spPr>
          <a:xfrm>
            <a:off x="30632397" y="5538666"/>
            <a:ext cx="10475607" cy="492443"/>
          </a:xfrm>
          <a:prstGeom prst="rect">
            <a:avLst/>
          </a:prstGeom>
        </p:spPr>
        <p:txBody>
          <a:bodyPr vert="horz" wrap="square" lIns="0" tIns="0" rIns="0" bIns="0" rtlCol="0">
            <a:spAutoFit/>
          </a:bodyPr>
          <a:lstStyle/>
          <a:p>
            <a:pPr marL="27719"/>
            <a:r>
              <a:rPr lang="en-US" sz="3200" b="1" spc="33" dirty="0">
                <a:solidFill>
                  <a:srgbClr val="1B3F5E"/>
                </a:solidFill>
                <a:latin typeface="Arial"/>
                <a:cs typeface="Arial"/>
              </a:rPr>
              <a:t>Predicted Functional Profiles Across Samples</a:t>
            </a:r>
            <a:endParaRPr lang="en-US" sz="3200" dirty="0">
              <a:solidFill>
                <a:srgbClr val="1B3F5E"/>
              </a:solidFill>
              <a:latin typeface="Arial"/>
              <a:cs typeface="Arial"/>
            </a:endParaRPr>
          </a:p>
        </p:txBody>
      </p:sp>
      <p:pic>
        <p:nvPicPr>
          <p:cNvPr id="140" name="Graphic 139">
            <a:extLst>
              <a:ext uri="{FF2B5EF4-FFF2-40B4-BE49-F238E27FC236}">
                <a16:creationId xmlns:a16="http://schemas.microsoft.com/office/drawing/2014/main" id="{3CFF805F-B145-F904-4F10-9FBD21118FB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773400" y="1383393"/>
            <a:ext cx="13654855" cy="10241141"/>
          </a:xfrm>
          <a:prstGeom prst="rect">
            <a:avLst/>
          </a:prstGeom>
        </p:spPr>
      </p:pic>
      <p:sp>
        <p:nvSpPr>
          <p:cNvPr id="144" name="Rectangle 143">
            <a:extLst>
              <a:ext uri="{FF2B5EF4-FFF2-40B4-BE49-F238E27FC236}">
                <a16:creationId xmlns:a16="http://schemas.microsoft.com/office/drawing/2014/main" id="{B71D2F4B-13ED-1D92-B59B-1AA0AAAE98EB}"/>
              </a:ext>
            </a:extLst>
          </p:cNvPr>
          <p:cNvSpPr/>
          <p:nvPr/>
        </p:nvSpPr>
        <p:spPr>
          <a:xfrm>
            <a:off x="25755600" y="13782387"/>
            <a:ext cx="1940184" cy="12970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1" name="Picture 150">
            <a:extLst>
              <a:ext uri="{FF2B5EF4-FFF2-40B4-BE49-F238E27FC236}">
                <a16:creationId xmlns:a16="http://schemas.microsoft.com/office/drawing/2014/main" id="{8B15BCCC-AE4E-E6B6-3C27-AF2F02A51B14}"/>
              </a:ext>
            </a:extLst>
          </p:cNvPr>
          <p:cNvPicPr>
            <a:picLocks noChangeAspect="1"/>
          </p:cNvPicPr>
          <p:nvPr/>
        </p:nvPicPr>
        <p:blipFill>
          <a:blip r:embed="rId10" cstate="print">
            <a:extLst>
              <a:ext uri="{28A0092B-C50C-407E-A947-70E740481C1C}">
                <a14:useLocalDpi xmlns:a14="http://schemas.microsoft.com/office/drawing/2010/main" val="0"/>
              </a:ext>
            </a:extLst>
          </a:blip>
          <a:srcRect b="18779"/>
          <a:stretch>
            <a:fillRect/>
          </a:stretch>
        </p:blipFill>
        <p:spPr>
          <a:xfrm>
            <a:off x="16040082" y="23130058"/>
            <a:ext cx="11887200" cy="5596109"/>
          </a:xfrm>
          <a:prstGeom prst="rect">
            <a:avLst/>
          </a:prstGeom>
        </p:spPr>
      </p:pic>
      <p:pic>
        <p:nvPicPr>
          <p:cNvPr id="155" name="Picture 154">
            <a:extLst>
              <a:ext uri="{FF2B5EF4-FFF2-40B4-BE49-F238E27FC236}">
                <a16:creationId xmlns:a16="http://schemas.microsoft.com/office/drawing/2014/main" id="{FC67A6E9-8291-646E-7674-2570CF044EF6}"/>
              </a:ext>
            </a:extLst>
          </p:cNvPr>
          <p:cNvPicPr>
            <a:picLocks noChangeAspect="1"/>
          </p:cNvPicPr>
          <p:nvPr/>
        </p:nvPicPr>
        <p:blipFill>
          <a:blip r:embed="rId11">
            <a:extLst>
              <a:ext uri="{28A0092B-C50C-407E-A947-70E740481C1C}">
                <a14:useLocalDpi xmlns:a14="http://schemas.microsoft.com/office/drawing/2010/main" val="0"/>
              </a:ext>
            </a:extLst>
          </a:blip>
          <a:srcRect t="4843" r="11919"/>
          <a:stretch>
            <a:fillRect/>
          </a:stretch>
        </p:blipFill>
        <p:spPr>
          <a:xfrm>
            <a:off x="15883210" y="12423372"/>
            <a:ext cx="11887200" cy="7005746"/>
          </a:xfrm>
          <a:prstGeom prst="rect">
            <a:avLst/>
          </a:prstGeom>
          <a:ln>
            <a:solidFill>
              <a:schemeClr val="bg1">
                <a:lumMod val="50000"/>
              </a:schemeClr>
            </a:solidFill>
          </a:ln>
        </p:spPr>
      </p:pic>
      <p:pic>
        <p:nvPicPr>
          <p:cNvPr id="156" name="Picture 155">
            <a:extLst>
              <a:ext uri="{FF2B5EF4-FFF2-40B4-BE49-F238E27FC236}">
                <a16:creationId xmlns:a16="http://schemas.microsoft.com/office/drawing/2014/main" id="{9E639B5B-E49F-508E-0B47-0EE98D5C6B28}"/>
              </a:ext>
            </a:extLst>
          </p:cNvPr>
          <p:cNvPicPr>
            <a:picLocks noChangeAspect="1"/>
          </p:cNvPicPr>
          <p:nvPr/>
        </p:nvPicPr>
        <p:blipFill>
          <a:blip r:embed="rId11">
            <a:extLst>
              <a:ext uri="{28A0092B-C50C-407E-A947-70E740481C1C}">
                <a14:useLocalDpi xmlns:a14="http://schemas.microsoft.com/office/drawing/2010/main" val="0"/>
              </a:ext>
            </a:extLst>
          </a:blip>
          <a:srcRect l="89506" t="36635" r="1188" b="38024"/>
          <a:stretch>
            <a:fillRect/>
          </a:stretch>
        </p:blipFill>
        <p:spPr>
          <a:xfrm>
            <a:off x="25574077" y="12662765"/>
            <a:ext cx="1806089" cy="2683213"/>
          </a:xfrm>
          <a:prstGeom prst="rect">
            <a:avLst/>
          </a:prstGeom>
        </p:spPr>
      </p:pic>
      <p:pic>
        <p:nvPicPr>
          <p:cNvPr id="157" name="Picture 156">
            <a:extLst>
              <a:ext uri="{FF2B5EF4-FFF2-40B4-BE49-F238E27FC236}">
                <a16:creationId xmlns:a16="http://schemas.microsoft.com/office/drawing/2014/main" id="{D12DDB81-D25F-1350-C829-1C7C329BDA7B}"/>
              </a:ext>
            </a:extLst>
          </p:cNvPr>
          <p:cNvPicPr>
            <a:picLocks noChangeAspect="1"/>
          </p:cNvPicPr>
          <p:nvPr/>
        </p:nvPicPr>
        <p:blipFill>
          <a:blip r:embed="rId12" cstate="print">
            <a:extLst>
              <a:ext uri="{28A0092B-C50C-407E-A947-70E740481C1C}">
                <a14:useLocalDpi xmlns:a14="http://schemas.microsoft.com/office/drawing/2010/main" val="0"/>
              </a:ext>
            </a:extLst>
          </a:blip>
          <a:srcRect l="12096" t="90450" r="5903" b="2041"/>
          <a:stretch>
            <a:fillRect/>
          </a:stretch>
        </p:blipFill>
        <p:spPr>
          <a:xfrm>
            <a:off x="16003303" y="22707352"/>
            <a:ext cx="11887200" cy="630922"/>
          </a:xfrm>
          <a:prstGeom prst="rect">
            <a:avLst/>
          </a:prstGeom>
        </p:spPr>
      </p:pic>
      <p:sp>
        <p:nvSpPr>
          <p:cNvPr id="3" name="TextBox 2">
            <a:extLst>
              <a:ext uri="{FF2B5EF4-FFF2-40B4-BE49-F238E27FC236}">
                <a16:creationId xmlns:a16="http://schemas.microsoft.com/office/drawing/2014/main" id="{BB74C18C-DC67-0667-2EB9-531AD17A4FB5}"/>
              </a:ext>
            </a:extLst>
          </p:cNvPr>
          <p:cNvSpPr txBox="1"/>
          <p:nvPr/>
        </p:nvSpPr>
        <p:spPr>
          <a:xfrm>
            <a:off x="41643118" y="7601785"/>
            <a:ext cx="1208985" cy="707886"/>
          </a:xfrm>
          <a:prstGeom prst="rect">
            <a:avLst/>
          </a:prstGeom>
          <a:noFill/>
        </p:spPr>
        <p:txBody>
          <a:bodyPr wrap="none" rtlCol="0">
            <a:spAutoFit/>
          </a:bodyPr>
          <a:lstStyle/>
          <a:p>
            <a:r>
              <a:rPr lang="en-US" sz="2000" b="1" i="1" dirty="0"/>
              <a:t>Water</a:t>
            </a:r>
          </a:p>
          <a:p>
            <a:r>
              <a:rPr lang="en-US" sz="2000" b="1" i="1" dirty="0"/>
              <a:t>Signature</a:t>
            </a:r>
          </a:p>
        </p:txBody>
      </p:sp>
      <p:sp>
        <p:nvSpPr>
          <p:cNvPr id="5" name="TextBox 4">
            <a:extLst>
              <a:ext uri="{FF2B5EF4-FFF2-40B4-BE49-F238E27FC236}">
                <a16:creationId xmlns:a16="http://schemas.microsoft.com/office/drawing/2014/main" id="{F9B2232C-F885-B810-DD81-DFDD0F595F2F}"/>
              </a:ext>
            </a:extLst>
          </p:cNvPr>
          <p:cNvSpPr txBox="1"/>
          <p:nvPr/>
        </p:nvSpPr>
        <p:spPr>
          <a:xfrm>
            <a:off x="41643118" y="10023652"/>
            <a:ext cx="1208985" cy="707886"/>
          </a:xfrm>
          <a:prstGeom prst="rect">
            <a:avLst/>
          </a:prstGeom>
          <a:noFill/>
        </p:spPr>
        <p:txBody>
          <a:bodyPr wrap="none" rtlCol="0">
            <a:spAutoFit/>
          </a:bodyPr>
          <a:lstStyle/>
          <a:p>
            <a:r>
              <a:rPr lang="en-US" sz="2000" b="1" i="1" dirty="0"/>
              <a:t>Surface</a:t>
            </a:r>
          </a:p>
          <a:p>
            <a:r>
              <a:rPr lang="en-US" sz="2000" b="1" i="1" dirty="0"/>
              <a:t>Signature</a:t>
            </a:r>
          </a:p>
        </p:txBody>
      </p:sp>
      <p:sp>
        <p:nvSpPr>
          <p:cNvPr id="6" name="TextBox 5">
            <a:extLst>
              <a:ext uri="{FF2B5EF4-FFF2-40B4-BE49-F238E27FC236}">
                <a16:creationId xmlns:a16="http://schemas.microsoft.com/office/drawing/2014/main" id="{D80E030A-D3C3-D864-C4EB-74CD11113BC4}"/>
              </a:ext>
            </a:extLst>
          </p:cNvPr>
          <p:cNvSpPr txBox="1"/>
          <p:nvPr/>
        </p:nvSpPr>
        <p:spPr>
          <a:xfrm>
            <a:off x="41746186" y="11499133"/>
            <a:ext cx="986360" cy="707886"/>
          </a:xfrm>
          <a:prstGeom prst="rect">
            <a:avLst/>
          </a:prstGeom>
          <a:noFill/>
        </p:spPr>
        <p:txBody>
          <a:bodyPr wrap="none" rtlCol="0">
            <a:spAutoFit/>
          </a:bodyPr>
          <a:lstStyle/>
          <a:p>
            <a:r>
              <a:rPr lang="en-US" sz="2000" b="1" i="1" dirty="0"/>
              <a:t>Cave </a:t>
            </a:r>
          </a:p>
          <a:p>
            <a:r>
              <a:rPr lang="en-US" sz="2000" b="1" i="1" dirty="0"/>
              <a:t>Distinct</a:t>
            </a:r>
          </a:p>
        </p:txBody>
      </p:sp>
      <p:pic>
        <p:nvPicPr>
          <p:cNvPr id="10" name="Picture 9">
            <a:extLst>
              <a:ext uri="{FF2B5EF4-FFF2-40B4-BE49-F238E27FC236}">
                <a16:creationId xmlns:a16="http://schemas.microsoft.com/office/drawing/2014/main" id="{0B9E7866-ED57-CE70-3C2A-09569FCF681A}"/>
              </a:ext>
            </a:extLst>
          </p:cNvPr>
          <p:cNvPicPr>
            <a:picLocks noChangeAspect="1"/>
          </p:cNvPicPr>
          <p:nvPr/>
        </p:nvPicPr>
        <p:blipFill>
          <a:blip r:embed="rId13">
            <a:extLst>
              <a:ext uri="{28A0092B-C50C-407E-A947-70E740481C1C}">
                <a14:useLocalDpi xmlns:a14="http://schemas.microsoft.com/office/drawing/2010/main" val="0"/>
              </a:ext>
            </a:extLst>
          </a:blip>
          <a:srcRect l="-205" b="29609"/>
          <a:stretch>
            <a:fillRect/>
          </a:stretch>
        </p:blipFill>
        <p:spPr>
          <a:xfrm>
            <a:off x="30348860" y="15874072"/>
            <a:ext cx="12282104" cy="3674504"/>
          </a:xfrm>
          <a:prstGeom prst="rect">
            <a:avLst/>
          </a:prstGeom>
        </p:spPr>
      </p:pic>
      <p:sp>
        <p:nvSpPr>
          <p:cNvPr id="11" name="object 15">
            <a:extLst>
              <a:ext uri="{FF2B5EF4-FFF2-40B4-BE49-F238E27FC236}">
                <a16:creationId xmlns:a16="http://schemas.microsoft.com/office/drawing/2014/main" id="{997CB9E5-C350-3C8A-E89B-9950433B46CC}"/>
              </a:ext>
            </a:extLst>
          </p:cNvPr>
          <p:cNvSpPr txBox="1"/>
          <p:nvPr/>
        </p:nvSpPr>
        <p:spPr>
          <a:xfrm>
            <a:off x="30594297" y="15352063"/>
            <a:ext cx="10475607" cy="492443"/>
          </a:xfrm>
          <a:prstGeom prst="rect">
            <a:avLst/>
          </a:prstGeom>
        </p:spPr>
        <p:txBody>
          <a:bodyPr vert="horz" wrap="square" lIns="0" tIns="0" rIns="0" bIns="0" rtlCol="0">
            <a:spAutoFit/>
          </a:bodyPr>
          <a:lstStyle/>
          <a:p>
            <a:pPr marL="27719"/>
            <a:r>
              <a:rPr lang="en-US" sz="3200" b="1" spc="33" dirty="0">
                <a:solidFill>
                  <a:srgbClr val="1B3F5E"/>
                </a:solidFill>
                <a:latin typeface="Arial"/>
                <a:cs typeface="Arial"/>
              </a:rPr>
              <a:t>Enzyme Activity</a:t>
            </a:r>
            <a:endParaRPr lang="en-US" sz="3200" dirty="0">
              <a:solidFill>
                <a:srgbClr val="1B3F5E"/>
              </a:solidFill>
              <a:latin typeface="Arial"/>
              <a:cs typeface="Arial"/>
            </a:endParaRPr>
          </a:p>
        </p:txBody>
      </p:sp>
      <p:sp>
        <p:nvSpPr>
          <p:cNvPr id="12" name="TextBox 11">
            <a:extLst>
              <a:ext uri="{FF2B5EF4-FFF2-40B4-BE49-F238E27FC236}">
                <a16:creationId xmlns:a16="http://schemas.microsoft.com/office/drawing/2014/main" id="{D2ADA434-1576-AA1A-CBC4-56D5C2CA6A10}"/>
              </a:ext>
            </a:extLst>
          </p:cNvPr>
          <p:cNvSpPr txBox="1"/>
          <p:nvPr/>
        </p:nvSpPr>
        <p:spPr>
          <a:xfrm>
            <a:off x="35137644" y="19599772"/>
            <a:ext cx="3505200" cy="477054"/>
          </a:xfrm>
          <a:prstGeom prst="rect">
            <a:avLst/>
          </a:prstGeom>
          <a:noFill/>
        </p:spPr>
        <p:txBody>
          <a:bodyPr wrap="square" rtlCol="0">
            <a:spAutoFit/>
          </a:bodyPr>
          <a:lstStyle/>
          <a:p>
            <a:r>
              <a:rPr lang="en-US" sz="2500" b="1" dirty="0">
                <a:latin typeface="Helvetica" panose="020B0604020202020204" pitchFamily="34" charset="0"/>
                <a:cs typeface="Helvetica" panose="020B0604020202020204" pitchFamily="34" charset="0"/>
              </a:rPr>
              <a:t>Activity (nmol/g/hour)</a:t>
            </a:r>
          </a:p>
        </p:txBody>
      </p:sp>
      <p:sp>
        <p:nvSpPr>
          <p:cNvPr id="13" name="object 3">
            <a:extLst>
              <a:ext uri="{FF2B5EF4-FFF2-40B4-BE49-F238E27FC236}">
                <a16:creationId xmlns:a16="http://schemas.microsoft.com/office/drawing/2014/main" id="{A6F06289-3370-6072-14B7-A6219581F2B5}"/>
              </a:ext>
            </a:extLst>
          </p:cNvPr>
          <p:cNvSpPr txBox="1"/>
          <p:nvPr/>
        </p:nvSpPr>
        <p:spPr>
          <a:xfrm>
            <a:off x="16207719" y="19589532"/>
            <a:ext cx="11887200" cy="2148730"/>
          </a:xfrm>
          <a:prstGeom prst="rect">
            <a:avLst/>
          </a:prstGeom>
        </p:spPr>
        <p:txBody>
          <a:bodyPr vert="horz" wrap="square" lIns="0" tIns="0" rIns="0" bIns="0" rtlCol="0">
            <a:spAutoFit/>
          </a:bodyPr>
          <a:lstStyle/>
          <a:p>
            <a:pPr marR="0">
              <a:lnSpc>
                <a:spcPct val="115000"/>
              </a:lnSpc>
              <a:spcAft>
                <a:spcPts val="800"/>
              </a:spcAft>
              <a:tabLst>
                <a:tab pos="1701800" algn="l"/>
              </a:tabLst>
            </a:pPr>
            <a:r>
              <a:rPr lang="en-US" sz="3000" b="1" dirty="0">
                <a:latin typeface="Arial" panose="020B0604020202020204" pitchFamily="34" charset="0"/>
                <a:cs typeface="Arial" panose="020B0604020202020204" pitchFamily="34" charset="0"/>
              </a:rPr>
              <a:t>Samples from different environments have drastically different microbial communities, and within the cave, distance from the entrance explains 78.5% of community variation.</a:t>
            </a:r>
            <a:endParaRPr lang="en-US" sz="3000" b="1" kern="100" dirty="0">
              <a:effectLst/>
              <a:latin typeface="Arial" panose="020B0604020202020204" pitchFamily="34" charset="0"/>
              <a:ea typeface="Aptos" panose="020B0004020202020204" pitchFamily="34" charset="0"/>
              <a:cs typeface="Arial" panose="020B0604020202020204" pitchFamily="34" charset="0"/>
            </a:endParaRPr>
          </a:p>
          <a:p>
            <a:pPr marL="457200" marR="0" indent="-457200">
              <a:lnSpc>
                <a:spcPct val="115000"/>
              </a:lnSpc>
              <a:spcAft>
                <a:spcPts val="800"/>
              </a:spcAft>
              <a:buFontTx/>
              <a:buChar char="-"/>
              <a:tabLst>
                <a:tab pos="1701800" algn="l"/>
              </a:tabLst>
            </a:pPr>
            <a:endParaRPr lang="en-US" sz="2800" kern="100" dirty="0">
              <a:effectLst/>
              <a:latin typeface="Arial" panose="020B0604020202020204" pitchFamily="34" charset="0"/>
              <a:ea typeface="Aptos" panose="020B0004020202020204" pitchFamily="34" charset="0"/>
              <a:cs typeface="Arial" panose="020B0604020202020204" pitchFamily="34" charset="0"/>
            </a:endParaRPr>
          </a:p>
        </p:txBody>
      </p:sp>
      <p:sp>
        <p:nvSpPr>
          <p:cNvPr id="14" name="object 3">
            <a:extLst>
              <a:ext uri="{FF2B5EF4-FFF2-40B4-BE49-F238E27FC236}">
                <a16:creationId xmlns:a16="http://schemas.microsoft.com/office/drawing/2014/main" id="{AE3BB68E-B693-C7FA-F71A-7E7DF066B682}"/>
              </a:ext>
            </a:extLst>
          </p:cNvPr>
          <p:cNvSpPr txBox="1"/>
          <p:nvPr/>
        </p:nvSpPr>
        <p:spPr>
          <a:xfrm>
            <a:off x="16193864" y="28525337"/>
            <a:ext cx="11887200" cy="2148730"/>
          </a:xfrm>
          <a:prstGeom prst="rect">
            <a:avLst/>
          </a:prstGeom>
        </p:spPr>
        <p:txBody>
          <a:bodyPr vert="horz" wrap="square" lIns="0" tIns="0" rIns="0" bIns="0" rtlCol="0">
            <a:spAutoFit/>
          </a:bodyPr>
          <a:lstStyle/>
          <a:p>
            <a:pPr marR="0">
              <a:lnSpc>
                <a:spcPct val="115000"/>
              </a:lnSpc>
              <a:spcAft>
                <a:spcPts val="800"/>
              </a:spcAft>
              <a:tabLst>
                <a:tab pos="1701800" algn="l"/>
              </a:tabLst>
            </a:pPr>
            <a:r>
              <a:rPr lang="en-US" sz="3000" b="1" dirty="0">
                <a:latin typeface="Arial" panose="020B0604020202020204" pitchFamily="34" charset="0"/>
                <a:cs typeface="Arial" panose="020B0604020202020204" pitchFamily="34" charset="0"/>
              </a:rPr>
              <a:t>Cave conditions sustain a relatively stable endemic microbiome (~68%), supplemented by groundwater inputs (~26%) and a relatively small surface soil contribution (~6%).</a:t>
            </a:r>
            <a:endParaRPr lang="en-US" sz="3000" b="1" kern="100" dirty="0">
              <a:effectLst/>
              <a:latin typeface="Arial" panose="020B0604020202020204" pitchFamily="34" charset="0"/>
              <a:ea typeface="Aptos" panose="020B0004020202020204" pitchFamily="34" charset="0"/>
              <a:cs typeface="Arial" panose="020B0604020202020204" pitchFamily="34" charset="0"/>
            </a:endParaRPr>
          </a:p>
          <a:p>
            <a:pPr marL="457200" marR="0" indent="-457200">
              <a:lnSpc>
                <a:spcPct val="115000"/>
              </a:lnSpc>
              <a:spcAft>
                <a:spcPts val="800"/>
              </a:spcAft>
              <a:buFontTx/>
              <a:buChar char="-"/>
              <a:tabLst>
                <a:tab pos="1701800" algn="l"/>
              </a:tabLst>
            </a:pPr>
            <a:endParaRPr lang="en-US" sz="2800" kern="100" dirty="0">
              <a:effectLst/>
              <a:latin typeface="Arial" panose="020B0604020202020204" pitchFamily="34" charset="0"/>
              <a:ea typeface="Aptos" panose="020B0004020202020204" pitchFamily="34" charset="0"/>
              <a:cs typeface="Arial" panose="020B0604020202020204" pitchFamily="34" charset="0"/>
            </a:endParaRPr>
          </a:p>
        </p:txBody>
      </p:sp>
      <p:sp>
        <p:nvSpPr>
          <p:cNvPr id="16" name="object 3">
            <a:extLst>
              <a:ext uri="{FF2B5EF4-FFF2-40B4-BE49-F238E27FC236}">
                <a16:creationId xmlns:a16="http://schemas.microsoft.com/office/drawing/2014/main" id="{3ED52C47-64CA-543C-7582-79F516B0D2BE}"/>
              </a:ext>
            </a:extLst>
          </p:cNvPr>
          <p:cNvSpPr txBox="1"/>
          <p:nvPr/>
        </p:nvSpPr>
        <p:spPr>
          <a:xfrm>
            <a:off x="30829921" y="12995526"/>
            <a:ext cx="11887200" cy="2078454"/>
          </a:xfrm>
          <a:prstGeom prst="rect">
            <a:avLst/>
          </a:prstGeom>
        </p:spPr>
        <p:txBody>
          <a:bodyPr vert="horz" wrap="square" lIns="0" tIns="0" rIns="0" bIns="0" rtlCol="0">
            <a:spAutoFit/>
          </a:bodyPr>
          <a:lstStyle/>
          <a:p>
            <a:pPr marR="0">
              <a:lnSpc>
                <a:spcPct val="115000"/>
              </a:lnSpc>
              <a:spcAft>
                <a:spcPts val="800"/>
              </a:spcAft>
              <a:tabLst>
                <a:tab pos="1701800" algn="l"/>
              </a:tabLst>
            </a:pPr>
            <a:r>
              <a:rPr lang="en-US" sz="3000" b="1" dirty="0">
                <a:latin typeface="Arial" panose="020B0604020202020204" pitchFamily="34" charset="0"/>
                <a:cs typeface="Arial" panose="020B0604020202020204" pitchFamily="34" charset="0"/>
              </a:rPr>
              <a:t>Surface soils are dominated by aerobic heterotrophs, water by anaerobic functions, and caves are enriched in nitrification and ammonia oxidation. Function Z-Score enrichment denoted by red coloring.</a:t>
            </a:r>
            <a:endParaRPr lang="en-US" sz="3000" b="1" kern="100" dirty="0">
              <a:effectLst/>
              <a:latin typeface="Arial" panose="020B0604020202020204" pitchFamily="34" charset="0"/>
              <a:ea typeface="Aptos" panose="020B0004020202020204" pitchFamily="34" charset="0"/>
              <a:cs typeface="Arial" panose="020B0604020202020204" pitchFamily="34" charset="0"/>
            </a:endParaRPr>
          </a:p>
        </p:txBody>
      </p:sp>
      <p:sp>
        <p:nvSpPr>
          <p:cNvPr id="17" name="object 3">
            <a:extLst>
              <a:ext uri="{FF2B5EF4-FFF2-40B4-BE49-F238E27FC236}">
                <a16:creationId xmlns:a16="http://schemas.microsoft.com/office/drawing/2014/main" id="{8CBF116C-616B-E43B-E632-0B20169EBDCE}"/>
              </a:ext>
            </a:extLst>
          </p:cNvPr>
          <p:cNvSpPr txBox="1"/>
          <p:nvPr/>
        </p:nvSpPr>
        <p:spPr>
          <a:xfrm>
            <a:off x="30698362" y="20216630"/>
            <a:ext cx="12374539" cy="1016625"/>
          </a:xfrm>
          <a:prstGeom prst="rect">
            <a:avLst/>
          </a:prstGeom>
        </p:spPr>
        <p:txBody>
          <a:bodyPr vert="horz" wrap="square" lIns="0" tIns="0" rIns="0" bIns="0" rtlCol="0">
            <a:spAutoFit/>
          </a:bodyPr>
          <a:lstStyle/>
          <a:p>
            <a:pPr marR="0">
              <a:lnSpc>
                <a:spcPct val="115000"/>
              </a:lnSpc>
              <a:spcAft>
                <a:spcPts val="800"/>
              </a:spcAft>
              <a:tabLst>
                <a:tab pos="1701800" algn="l"/>
              </a:tabLst>
            </a:pPr>
            <a:r>
              <a:rPr lang="en-US" sz="3000" b="1" dirty="0">
                <a:latin typeface="Arial" panose="020B0604020202020204" pitchFamily="34" charset="0"/>
                <a:cs typeface="Arial" panose="020B0604020202020204" pitchFamily="34" charset="0"/>
              </a:rPr>
              <a:t>Preliminary </a:t>
            </a:r>
            <a:r>
              <a:rPr lang="el-GR" sz="3000" b="1" dirty="0">
                <a:latin typeface="Arial" panose="020B0604020202020204" pitchFamily="34" charset="0"/>
                <a:cs typeface="Arial" panose="020B0604020202020204" pitchFamily="34" charset="0"/>
              </a:rPr>
              <a:t>β-</a:t>
            </a:r>
            <a:r>
              <a:rPr lang="en-US" sz="3000" b="1" dirty="0">
                <a:latin typeface="Arial" panose="020B0604020202020204" pitchFamily="34" charset="0"/>
                <a:cs typeface="Arial" panose="020B0604020202020204" pitchFamily="34" charset="0"/>
              </a:rPr>
              <a:t>galactosidase assay results indicate greater labile carbon degradation in surface soils compared to cave sediments.</a:t>
            </a:r>
            <a:endParaRPr lang="en-US" sz="3000" b="1" kern="100" dirty="0">
              <a:effectLst/>
              <a:latin typeface="Arial" panose="020B0604020202020204" pitchFamily="34" charset="0"/>
              <a:ea typeface="Aptos" panose="020B0004020202020204" pitchFamily="34" charset="0"/>
              <a:cs typeface="Arial" panose="020B0604020202020204" pitchFamily="34" charset="0"/>
            </a:endParaRPr>
          </a:p>
        </p:txBody>
      </p:sp>
      <p:sp>
        <p:nvSpPr>
          <p:cNvPr id="25" name="object 3">
            <a:extLst>
              <a:ext uri="{FF2B5EF4-FFF2-40B4-BE49-F238E27FC236}">
                <a16:creationId xmlns:a16="http://schemas.microsoft.com/office/drawing/2014/main" id="{F403D46A-D0EC-E984-074F-B7A93032E854}"/>
              </a:ext>
            </a:extLst>
          </p:cNvPr>
          <p:cNvSpPr txBox="1"/>
          <p:nvPr/>
        </p:nvSpPr>
        <p:spPr>
          <a:xfrm>
            <a:off x="1302029" y="28159407"/>
            <a:ext cx="12374539" cy="1547540"/>
          </a:xfrm>
          <a:prstGeom prst="rect">
            <a:avLst/>
          </a:prstGeom>
        </p:spPr>
        <p:txBody>
          <a:bodyPr vert="horz" wrap="square" lIns="0" tIns="0" rIns="0" bIns="0" rtlCol="0">
            <a:spAutoFit/>
          </a:bodyPr>
          <a:lstStyle/>
          <a:p>
            <a:pPr marR="0">
              <a:lnSpc>
                <a:spcPct val="115000"/>
              </a:lnSpc>
              <a:spcAft>
                <a:spcPts val="800"/>
              </a:spcAft>
              <a:tabLst>
                <a:tab pos="1701800" algn="l"/>
              </a:tabLst>
            </a:pPr>
            <a:r>
              <a:rPr lang="en-US" sz="3000" b="1" dirty="0">
                <a:latin typeface="Arial" panose="020B0604020202020204" pitchFamily="34" charset="0"/>
                <a:cs typeface="Arial" panose="020B0604020202020204" pitchFamily="34" charset="0"/>
              </a:rPr>
              <a:t>Moonshiner Cave features a narrow entrance, variable sediment types, and several groundwater pools and streams throughout the passage.</a:t>
            </a:r>
            <a:endParaRPr lang="en-US" sz="3000" b="1" kern="100" dirty="0">
              <a:effectLst/>
              <a:latin typeface="Arial" panose="020B0604020202020204" pitchFamily="34" charset="0"/>
              <a:ea typeface="Aptos" panose="020B0004020202020204" pitchFamily="34" charset="0"/>
              <a:cs typeface="Arial" panose="020B0604020202020204" pitchFamily="34" charset="0"/>
            </a:endParaRPr>
          </a:p>
        </p:txBody>
      </p:sp>
      <p:sp>
        <p:nvSpPr>
          <p:cNvPr id="32" name="Rectangle 31">
            <a:extLst>
              <a:ext uri="{FF2B5EF4-FFF2-40B4-BE49-F238E27FC236}">
                <a16:creationId xmlns:a16="http://schemas.microsoft.com/office/drawing/2014/main" id="{132280C9-315F-B928-335A-1A1447E79F40}"/>
              </a:ext>
            </a:extLst>
          </p:cNvPr>
          <p:cNvSpPr/>
          <p:nvPr/>
        </p:nvSpPr>
        <p:spPr>
          <a:xfrm>
            <a:off x="15544800" y="4572000"/>
            <a:ext cx="12801600" cy="72960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0" dirty="0">
                <a:latin typeface="Arial" panose="020B0604020202020204" pitchFamily="34" charset="0"/>
                <a:cs typeface="Arial" panose="020B0604020202020204" pitchFamily="34" charset="0"/>
              </a:rPr>
              <a:t>Methods</a:t>
            </a:r>
          </a:p>
        </p:txBody>
      </p:sp>
      <p:sp>
        <p:nvSpPr>
          <p:cNvPr id="33" name="Rectangle 32">
            <a:extLst>
              <a:ext uri="{FF2B5EF4-FFF2-40B4-BE49-F238E27FC236}">
                <a16:creationId xmlns:a16="http://schemas.microsoft.com/office/drawing/2014/main" id="{5A8E43BD-87EF-82B7-61E0-34F0DCA9AA6A}"/>
              </a:ext>
            </a:extLst>
          </p:cNvPr>
          <p:cNvSpPr/>
          <p:nvPr/>
        </p:nvSpPr>
        <p:spPr>
          <a:xfrm>
            <a:off x="30175200" y="4572000"/>
            <a:ext cx="12801600" cy="72960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0" dirty="0">
                <a:latin typeface="Arial" panose="020B0604020202020204" pitchFamily="34" charset="0"/>
                <a:cs typeface="Arial" panose="020B0604020202020204" pitchFamily="34" charset="0"/>
              </a:rPr>
              <a:t>Results</a:t>
            </a:r>
          </a:p>
        </p:txBody>
      </p:sp>
      <p:sp>
        <p:nvSpPr>
          <p:cNvPr id="36" name="Rectangle 35">
            <a:extLst>
              <a:ext uri="{FF2B5EF4-FFF2-40B4-BE49-F238E27FC236}">
                <a16:creationId xmlns:a16="http://schemas.microsoft.com/office/drawing/2014/main" id="{1CAC73DE-8177-4945-9A3C-CD21C3073988}"/>
              </a:ext>
            </a:extLst>
          </p:cNvPr>
          <p:cNvSpPr/>
          <p:nvPr/>
        </p:nvSpPr>
        <p:spPr>
          <a:xfrm>
            <a:off x="1143000" y="10843088"/>
            <a:ext cx="12801600" cy="72960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0" dirty="0">
                <a:latin typeface="Arial" panose="020B0604020202020204" pitchFamily="34" charset="0"/>
                <a:cs typeface="Arial" panose="020B0604020202020204" pitchFamily="34" charset="0"/>
              </a:rPr>
              <a:t>Field Site</a:t>
            </a:r>
          </a:p>
        </p:txBody>
      </p:sp>
      <p:sp>
        <p:nvSpPr>
          <p:cNvPr id="37" name="Rectangle 36">
            <a:extLst>
              <a:ext uri="{FF2B5EF4-FFF2-40B4-BE49-F238E27FC236}">
                <a16:creationId xmlns:a16="http://schemas.microsoft.com/office/drawing/2014/main" id="{176C347F-D6AA-6586-4A9A-B0AF50BD8802}"/>
              </a:ext>
            </a:extLst>
          </p:cNvPr>
          <p:cNvSpPr/>
          <p:nvPr/>
        </p:nvSpPr>
        <p:spPr>
          <a:xfrm>
            <a:off x="15544800" y="10844784"/>
            <a:ext cx="12801600" cy="72960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0" dirty="0">
                <a:latin typeface="Arial" panose="020B0604020202020204" pitchFamily="34" charset="0"/>
                <a:cs typeface="Arial" panose="020B0604020202020204" pitchFamily="34" charset="0"/>
              </a:rPr>
              <a:t>Results</a:t>
            </a:r>
          </a:p>
        </p:txBody>
      </p:sp>
      <p:sp>
        <p:nvSpPr>
          <p:cNvPr id="38" name="Rectangle 37">
            <a:extLst>
              <a:ext uri="{FF2B5EF4-FFF2-40B4-BE49-F238E27FC236}">
                <a16:creationId xmlns:a16="http://schemas.microsoft.com/office/drawing/2014/main" id="{83B0961C-7EF1-4CE1-4568-85FD66C0CD33}"/>
              </a:ext>
            </a:extLst>
          </p:cNvPr>
          <p:cNvSpPr/>
          <p:nvPr/>
        </p:nvSpPr>
        <p:spPr>
          <a:xfrm>
            <a:off x="30175200" y="21812564"/>
            <a:ext cx="12801600" cy="72960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0" dirty="0">
                <a:latin typeface="Arial" panose="020B0604020202020204" pitchFamily="34" charset="0"/>
                <a:cs typeface="Arial" panose="020B0604020202020204" pitchFamily="34" charset="0"/>
              </a:rPr>
              <a:t>Conclusion</a:t>
            </a:r>
          </a:p>
        </p:txBody>
      </p:sp>
      <p:sp>
        <p:nvSpPr>
          <p:cNvPr id="41" name="Rectangle 40">
            <a:extLst>
              <a:ext uri="{FF2B5EF4-FFF2-40B4-BE49-F238E27FC236}">
                <a16:creationId xmlns:a16="http://schemas.microsoft.com/office/drawing/2014/main" id="{CA219E80-1D06-DF39-5B0D-0740A96BE9E6}"/>
              </a:ext>
            </a:extLst>
          </p:cNvPr>
          <p:cNvSpPr/>
          <p:nvPr/>
        </p:nvSpPr>
        <p:spPr>
          <a:xfrm>
            <a:off x="16089451" y="22785146"/>
            <a:ext cx="11887199" cy="5596109"/>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8385D520-7D1B-F844-55A7-001D19EDF9A8}"/>
              </a:ext>
            </a:extLst>
          </p:cNvPr>
          <p:cNvSpPr/>
          <p:nvPr/>
        </p:nvSpPr>
        <p:spPr>
          <a:xfrm>
            <a:off x="30540775" y="15844506"/>
            <a:ext cx="12374539" cy="4231505"/>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bject 2">
            <a:extLst>
              <a:ext uri="{FF2B5EF4-FFF2-40B4-BE49-F238E27FC236}">
                <a16:creationId xmlns:a16="http://schemas.microsoft.com/office/drawing/2014/main" id="{BD92E72C-C60C-F6FF-1632-83474B621CB0}"/>
              </a:ext>
            </a:extLst>
          </p:cNvPr>
          <p:cNvSpPr txBox="1">
            <a:spLocks/>
          </p:cNvSpPr>
          <p:nvPr/>
        </p:nvSpPr>
        <p:spPr>
          <a:xfrm>
            <a:off x="1523593" y="1994284"/>
            <a:ext cx="40746253" cy="1448858"/>
          </a:xfrm>
          <a:prstGeom prst="rect">
            <a:avLst/>
          </a:prstGeom>
        </p:spPr>
        <p:txBody>
          <a:bodyPr vert="horz" wrap="square" lIns="0" tIns="0" rIns="0" bIns="0" rtlCol="0">
            <a:spAutoFit/>
          </a:bodyPr>
          <a:lstStyle>
            <a:lvl1pPr>
              <a:defRPr sz="14500" b="1">
                <a:solidFill>
                  <a:srgbClr val="414042"/>
                </a:solidFill>
                <a:latin typeface="Arial"/>
                <a:ea typeface="+mj-ea"/>
                <a:cs typeface="Arial"/>
              </a:defRPr>
            </a:lvl1pPr>
          </a:lstStyle>
          <a:p>
            <a:pPr marL="27719" algn="ctr" defTabSz="914400">
              <a:lnSpc>
                <a:spcPct val="150000"/>
              </a:lnSpc>
              <a:spcAft>
                <a:spcPts val="1310"/>
              </a:spcAft>
            </a:pPr>
            <a:r>
              <a:rPr lang="en-US" sz="7000" b="0" kern="0" spc="-513" dirty="0">
                <a:solidFill>
                  <a:schemeClr val="tx1"/>
                </a:solidFill>
                <a:latin typeface="Arial" panose="020B0604020202020204" pitchFamily="34" charset="0"/>
                <a:cs typeface="Arial" panose="020B0604020202020204" pitchFamily="34" charset="0"/>
              </a:rPr>
              <a:t>Diego Dilley, School of Environment and Natural Resources, The Ohio State University</a:t>
            </a:r>
            <a:endParaRPr lang="en-US" sz="7000" b="0" kern="0" spc="-87" dirty="0">
              <a:solidFill>
                <a:schemeClr val="tx1"/>
              </a:solidFill>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ADA7134E-F648-0422-17D1-1A1AFD5B8022}"/>
              </a:ext>
            </a:extLst>
          </p:cNvPr>
          <p:cNvSpPr txBox="1"/>
          <p:nvPr/>
        </p:nvSpPr>
        <p:spPr>
          <a:xfrm>
            <a:off x="369276" y="30737754"/>
            <a:ext cx="15838443" cy="1938992"/>
          </a:xfrm>
          <a:prstGeom prst="rect">
            <a:avLst/>
          </a:prstGeom>
          <a:noFill/>
        </p:spPr>
        <p:txBody>
          <a:bodyPr wrap="square" rtlCol="0">
            <a:spAutoFit/>
          </a:bodyPr>
          <a:lstStyle/>
          <a:p>
            <a:r>
              <a:rPr lang="en-US" sz="3000" b="1" dirty="0">
                <a:latin typeface="Arial" panose="020B0604020202020204" pitchFamily="34" charset="0"/>
                <a:cs typeface="Arial" panose="020B0604020202020204" pitchFamily="34" charset="0"/>
              </a:rPr>
              <a:t>Acknowledgments</a:t>
            </a:r>
            <a:r>
              <a:rPr lang="en-US" sz="3000" dirty="0">
                <a:latin typeface="Arial" panose="020B0604020202020204" pitchFamily="34" charset="0"/>
                <a:cs typeface="Arial" panose="020B0604020202020204" pitchFamily="34" charset="0"/>
              </a:rPr>
              <a:t>: </a:t>
            </a:r>
          </a:p>
          <a:p>
            <a:r>
              <a:rPr lang="en-US" sz="3000" dirty="0">
                <a:latin typeface="Arial" panose="020B0604020202020204" pitchFamily="34" charset="0"/>
                <a:cs typeface="Arial" panose="020B0604020202020204" pitchFamily="34" charset="0"/>
              </a:rPr>
              <a:t>Special Thanks to Dr. Alex Michaud for his support and advisership. Funding provided by URAP and the McKenzie Brecher Undergraduate Scholarship Fund. Thanks to  the Polar Geomicrobiology Lab for support, and huge thanks to Joe Trusski for providing cave access.</a:t>
            </a:r>
          </a:p>
        </p:txBody>
      </p:sp>
    </p:spTree>
    <p:extLst>
      <p:ext uri="{BB962C8B-B14F-4D97-AF65-F5344CB8AC3E}">
        <p14:creationId xmlns:p14="http://schemas.microsoft.com/office/powerpoint/2010/main" val="3728198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31F2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1839</TotalTime>
  <Words>425</Words>
  <Application>Microsoft Office PowerPoint</Application>
  <PresentationFormat>Custom</PresentationFormat>
  <Paragraphs>44</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Calibri</vt:lpstr>
      <vt:lpstr>Helvetica</vt:lpstr>
      <vt:lpstr>Symbol</vt:lpstr>
      <vt:lpstr>Office Theme</vt:lpstr>
      <vt:lpstr>Cave-Surface Connectivity Influences Cave Microbiome Ecology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Research Study Presenter name, Associates and Collaborators</dc:title>
  <dc:creator>Diego Dilley</dc:creator>
  <cp:lastModifiedBy>Dilley, Diego</cp:lastModifiedBy>
  <cp:revision>68</cp:revision>
  <dcterms:created xsi:type="dcterms:W3CDTF">2013-07-30T11:46:00Z</dcterms:created>
  <dcterms:modified xsi:type="dcterms:W3CDTF">2026-03-10T00:24:41Z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2013-07-30T00:00:00Z</vt:filetime>
  </property>
  <property fmtid="{D5CDD505-2E9C-101B-9397-08002B2CF9AE}" pid="3" name="LastSaved">
    <vt:filetime>2013-07-30T00:00:00Z</vt:filetime>
  </property>
</Properties>
</file>